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9" r:id="rId18"/>
    <p:sldId id="272" r:id="rId19"/>
    <p:sldId id="273" r:id="rId20"/>
    <p:sldId id="274" r:id="rId21"/>
    <p:sldId id="281" r:id="rId22"/>
    <p:sldId id="280" r:id="rId23"/>
    <p:sldId id="275" r:id="rId24"/>
    <p:sldId id="276" r:id="rId25"/>
    <p:sldId id="277" r:id="rId26"/>
    <p:sldId id="278" r:id="rId2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18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9-23T15:46:23.047"/>
    </inkml:context>
    <inkml:brush xml:id="br0">
      <inkml:brushProperty name="width" value="0.05292" units="cm"/>
      <inkml:brushProperty name="height" value="0.05292" units="cm"/>
      <inkml:brushProperty name="color" value="#FF0000"/>
    </inkml:brush>
  </inkml:definitions>
  <inkml:trace contextRef="#ctx0" brushRef="#br0">3921 3349 16 0,'0'5'448'0,"2"1"115"16,0 0 154-16,2 1 137 0,-4 1-51 0,3-1-72 16,-1 1-67-16,-2-3-52 0,2 3-89 0,-2 0-88 15,0-1-55-15,3 3-45 0,-2-3-38 16,-1 0-46-16,3 1-50 0,-1 0-49 16,0 0-41-16,1 0-34 0,-3 1-56 15,1 0-21-15,2 1 0 0,1 0 0 0,-1 3 0 16,-1-1 0-16,0 1 0 0,2 2 0 15,-1 2 0-15,-1 1 0 0,0 1 0 0,0 5 0 16,3 0 0-16,-5 3 0 0,2 2 0 16,0 3 0-16,-2 0 0 0,0 6 0 15,0 0 0-15,0 4 0 0,0 2 0 16,0 1 0-16,0 5 0 0,0-1 0 16,0 4 0-16,0 2 0 0,2 4 0 15,-2 2 0-15,0 4 0 0,3 0 0 0,-3 3 0 16,2 4 0-16,-2 3 0 15,0 2 0-15,2-1 0 0,0 5 0 0,3 2 0 16,-1-1 0-16,3 1 0 0,-1 0 0 16,3 3 0-16,-2-2 0 0,2 0 0 15,-2 2 0-15,-1-2 0 0,3 0 0 16,0-2 0-16,0 1 0 0,-3 0 0 0,1 2 0 16,4 0 0-16,-2 2 0 0,0 1 0 15,0 0 0-15,-3 1 0 0,5-1 0 16,-4 0 0-16,4-1 0 0,0-1 0 15,-1-1 0-15,1-1 0 0,0-2 0 0,0 0 0 16,-3-3 0-16,3-2 0 0,0-1 0 16,0-2 0-16,3-3 0 0,-3-1 0 15,0-3 0-15,0-2 0 0,0-2 0 16,0-5 0-16,2-1 0 0,-5-4 0 16,3-1 0-16,-3-3 0 0,2-3 0 0,-3 0 0 15,0-4 0-15,-3-1 0 0,4-5 0 16,-2-2 0-16,-1-4 0 0,-2-1 0 15,1-4 0-15,0-3 0 0,-1-2 0 16,0-3 0-16,-2-2 0 0,2-4 0 16,-3-1 0-16,1-2 0 0,2-3 0 0,-3 0 0 15,0-2 0-15,0 0 0 0,0-2 0 16,3 0 0-16,-3-1 0 0,0 0 0 16,0-1 0-16,0 0 0 0,0-2 0 15,-3 0 0-15,3 1 0 0,0-1 0 16,-3-2 0-16,2 3 0 0,1-3 0 0,0 2 0 15,0 0 0-15,0 0 0 0,0 1 0 16,0 0 0-16,0 1 0 0,0-1 0 16,0-1 0-16,1 1 0 0,5 2 0 15,1-1 0-15,4 0 0 0,5-1 0 0,9 0 0 16,4-1 0-16,4 1 0 16,6-2 0-16,5 0-49 0,3-1-80 0,6 0-5 15,2-2-3-15,7 0 2 0,3-1 6 16,1-1 12-16,3 2 16 0,3-4 20 15,1 1 17-15,3 1 15 0,4-3 12 16,2 1 5-16,2 1 7 0,5-1 3 16,4 1 4-16,8-2 4 0,2 1 7 0,9-1 9 15,6 0 7-15,8 0 10 0,8-1 13 16,7-2 10-16,8 1 9 0,3 1 11 16,1-1 5-16,3 1 2 0,-3 1-6 15,1 0-8-15,-4-1-12 0,-2 4-13 16,-4-4-13-16,-5 3-13 0,-2-1-4 0,-6 2-4 15,-4 0-3-15,-3 0-4 16,0-1-2-16,1 1 3 0,0-3-2 0,2 1 0 16,6-1 5-16,-1-1 8 0,1 0 8 15,3 2 6-15,0-2 3 0,-2 3 4 16,-6 0-1-16,-1 1-4 0,-5 0-6 16,-5 1-12-16,-8 1 1 0,-4 1 1 0,-10 0 1 15,-5 1 1-15,-6-1 1 0,-6 2 8 16,-3-1 0-16,-4 0 1 0,-2 0 2 15,-3-1 7-15,-1 0 6 0,1 0 8 16,-1 0 5-16,0-1 3 0,1 0 5 16,-4 1-2-16,3-1 0 0,0 1-5 15,-5-2-7-15,-1 2-6 0,-1 2-6 0,-7-1-6 16,0 1-5-16,-4-1-4 0,-3 1-4 16,-4 1 1-16,-5 0-3 0,-5 0 2 15,-5-1 1-15,-3 2 1 0,-4 0 1 16,-4 1 9-16,-3-1 10 0,-3 1 7 15,-4 1-5-15,-4-2-28 0,-1 2 0 16,-6 0 0-16,-7 0 0 0,0 0 0 0,-5 0 0 16,-2 2 0-16,2-2 0 0,-3 3 0 15,1-2 0-15,-1 1 0 0,3-1-68 16,-2 0-140-16,2-2-130 0,-2 0-233 16,2-2-330-16,-2 0-217 0,-1-2-76 15,0-2 13-15,0-2 92 0,1-3 222 16,3 1 340-16</inkml:trace>
  <inkml:trace contextRef="#ctx0" brushRef="#br0" timeOffset="2631.94">5847 6660 96 0,'-4'-2'404'0,"-3"1"88"0,-3 1 81 0,-1 0-4 0,0 3-44 0,-4-2-37 15,1 3-25-15,-1 1-20 16,2 1-33-16,-3 3-39 0,5-1-57 16,3 3-61-16,3 0-65 0,3 1-59 0,4 0-45 15,4 0-28-15,5-2-19 0,3 0-20 16,6-2-14-16,4-3-16 0,4-1-15 15,-2-4-11-15,3-2-14 0,0-3 2 16,-4-1 5-16,-6-1 20 0,-1-1 38 16,-3-2 35-16,-8-1 40 0,-3 1 29 0,-8-2 15 15,-3 1-4-15,-8 1-20 0,-6 2-16 16,-1 1-26-16,-4 2-29 0,-3 2-33 16,4 3-46-16,3 0-116 0,4 0-166 15,7 2-169-15,4 1-191 0,10-2-207 16,8-1-83-16,10-1 48 0,2-2 126 15,6-4 150-15,3 0 183 0</inkml:trace>
  <inkml:trace contextRef="#ctx0" brushRef="#br0" timeOffset="3070.89">6072 6244 99 0,'-4'-9'410'16,"-2"0"89"-16,2 3 82 0,0 1 5 15,0 0-48-15,1 2-66 0,-1 0-72 16,0 3-73-16,-2 1-70 0,1 1-67 0,-5 4-64 16,3-1-43-16,0 2-17 0,2 1-6 15,-2-1 7-15,3 0 1 0,-2 0-2 16,2 1 2-16,4-2-2 0,0 0-10 15,4-1-14-15,-1-2-10 0,1 1-19 16,3-2-20-16,0-1-26 0,1-2-21 0,3-2-25 16,-1 0-25-16,-2-2-8 0,-1-1-9 15,0-1-7-15,-3-4 6 0,0 1 14 16,-4-4 23-16,-4 2 26 0,0-1 38 16,-4 1 49-16,-2-1 41 0,-4 2 20 15,-1 2 23-15,-3 3 5 0,-1 3-8 16,-3 1-23-16,1 4-29 0,-1-2-19 15,4 5-59-15,3 3-78 0,4 0-80 16,4 0-82-16,4 2-93 0,10 0-95 16,4-1-88-16,4-2-79 0,3-2-9 0,3-2 38 15,4-1 71-15,-2-2 93 0</inkml:trace>
  <inkml:trace contextRef="#ctx0" brushRef="#br0" timeOffset="3476.59">6660 6117 53 0,'0'-3'380'0,"-4"1"75"0,-4 2 63 0,-2 2-1 0,-5 2-59 0,-3 2-56 16,0 2-51-16,0 2-50 15,0 2-46-15,0 0-50 0,6 1-56 0,1 1-40 16,4 0-32-16,4-1-19 0,7 0-17 16,3-3-9-16,4 0-3 0,7-2-14 15,3-2-19-15,2-3-7 0,5-3-6 16,-2-2 2-16,0-1-6 0,2 0 4 16,-6-1 17-16,0-1 26 0,-7 1 63 15,-1 1 59-15,-6 1 48 0,-2 1 21 0,-5 1 1 16,-5 0-18-16,-7 3-56 0,-3 1-56 15,-1 2-37-15,0 2-28 0,-2-1-11 16,5 2-26-16,2-1-24 0,3-1-35 16,7 1-52-16,6-2-61 0,2-2-74 15,7-2-63-15,6-4-71 0,4-1-81 16,1-4-83-16,3-2-86 0,0-5-20 16,0 1 29-16,2-4 69 0,-3 2 95 15</inkml:trace>
  <inkml:trace contextRef="#ctx0" brushRef="#br0" timeOffset="3664.47">7221 6009 315 0,'-7'-2'471'0,"-2"4"59"16,-7 2 47-16,-2 3-88 0,-4 1-116 16,0 3-101-16,-2 5-77 0,2-1-57 15,1 3-53-15,6 0-61 0,4 2-65 0,2-1-65 16,4 2-80-16,8-3-90 15,1 0-101-15,5-2-112 0,4 0-33 0,3-3 13 16,4-1 52-16,2-3 76 16</inkml:trace>
  <inkml:trace contextRef="#ctx0" brushRef="#br0" timeOffset="3886.62">7389 6286 288 0,'-18'2'384'0,"3"-1"53"0,-3 2 1 16,3 2-72-16,1-2-85 0,1 3-63 0,4-1-63 15,5 2-58-15,1-2-60 0,7 1-51 16,3-1-36-16,4-3-54 0,7 0-50 16,4-4-55-16,6-1-72 0,1-5-50 15,1-1-37-15,-1-1-9 0,-3-1 22 16,-1-2 47-16</inkml:trace>
  <inkml:trace contextRef="#ctx0" brushRef="#br0" timeOffset="4258.45">7600 5765 474 0,'-15'-8'575'15,"-3"0"88"-15,-1 1 104 0,-6 1-23 16,-4 1-122-16,0 1-95 0,-4 4-73 0,1 0-70 16,2 4-104-16,-2 1-113 15,6 2-91-15,1 2-76 0,5 0-65 0,4 3-65 16,5-3-40-16,7 3-38 0,4-2-21 15,4-2 5-15,7 0 24 0,0-4 33 16,7-2 45-16,0-4 32 0,0-1 36 16,1-1 28-16,-2-4 25 0,-2-1 31 15,-4 0 28-15,-4-3 29 0,-3 0 30 16,-4 0 4-16,-11 2-6 0,0 1-37 16,-10 0-50-16,-1 3-61 0,-4 1-83 0,1 0-81 15,2 4-105-15,0 0-109 0,3-1-151 16,7 2-91-16,2-2-17 0,4 1 37 15,5 0 81-15,2-2 114 0</inkml:trace>
  <inkml:trace contextRef="#ctx0" brushRef="#br0" timeOffset="6969.98">9878 3054 78 0,'-1'-5'224'0,"-5"2"2"0,2 0-21 0,1 2-36 0,-1-4-29 0,3 2-33 0,-5 0-31 15,2 0-24-15,0 0-15 0,0-1-8 0,0 1-7 16,-2-1 0-16,-1 1 4 15,3-1 1-15,0 1-2 0,1 0-2 0,-1 0 5 16,-3 1-1-16,3 0-10 0,-3 1-4 16,0 1-4-16,3 0-2 0,-3 0-20 15,-1 0-30-15,-2 1-50 0,2-1-72 16,0 1-83-16,-3 0-44 0,-2 1-10 0,2 0 17 16</inkml:trace>
  <inkml:trace contextRef="#ctx0" brushRef="#br0" timeOffset="9350.89">9805 3006 104 0,'-7'3'232'0,"0"1"4"0,-1 1-24 0,-3-2-29 0,0 1-30 0,0 2-24 15,-3 0-13-15,3 2-11 0,-3-1 8 0,-1 1 7 16,1-1 8-16,-4 4 12 0,3-2 8 16,-3 0 2-16,0 4-5 0,-4-2-9 15,4 1-14-15,-4-1 6 0,3 2-8 16,-4 0-10-16,-1 2-9 0,-1-1-7 15,1 2-4-15,0 1-12 0,-1-2 0 0,-2 3 9 16,1 0 12-16,0 0 11 0,-3 0 12 16,0 1 1-16,0 1 4 0,-3-1-3 15,3 1-1-15,0 1-1 0,0 0-6 16,-1-2 5-16,1 2-4 0,1 0-10 0,-2 0-2 16,4 2 1-16,-2-2-3 0,-1 0-9 15,0 1-10-15,3 1-4 0,-3-1-10 16,3 2-7-16,-1 0-2 0,-2 0-6 15,0 2-5-15,0-2-4 0,0 1-3 16,0-1-2-16,3 2-8 0,-3-1-3 0,3 1 3 16,-2-1 2-16,2 4-2 0,0-2-4 15,-2-1-3-15,2 2-1 0,1 0-3 16,-1 1-3-16,-3 1-1 0,4-2-4 16,-1 1 0-16,-3-2-5 0,0 1 0 15,0-1-9-15,0 2 0 0,-3-2-2 0,5-2-2 16,-5 4 1-16,3-4-6 0,0 4 9 15,-2-2 1-15,2 1 0 0,-2 1-1 16,-2 1 1-16,-3-1 6 0,1 2-5 16,-1 2-7-16,-4 1 5 0,3-1 0 15,-3 2 2-15,-3-1 2 0,3 2-3 16,-1 0 6-16,-2 2-1 0,0-2-2 0,2 4-2 16,1-2-1-16,-3 2 1 0,0-1-1 15,-1 1 1-15,2 1 1 0,0-2 3 16,0 0-1-16,0 1 3 0,0-3 1 15,2 0-2-15,-3-1-1 0,6 0-2 16,-2 2 1-16,2-2-3 0,1 1-1 16,0 1-1-16,-1-1 1 0,1 1 2 15,3-2-1-15,-3-1 0 0,3 1 0 0,1-1 2 16,-1-2 1-16,4 0-1 0,-1 0-1 16,-2-1-1-16,4 1 3 0,-1-2 1 15,2 2-3-15,3-1 1 0,-5 1 0 0,4 0 0 16,1-2 0-16,0 1-4 15,2-1 2-15,1 2-2 0,-1-1 0 0,0 1 2 16,1-2-1-16,5 3 1 0,-2-2-3 16,1 1 1-16,1-2 0 0,2 1-6 15,0 0-1-15,0-3 3 0,3 2 0 16,3 0 1-16,-3-1 4 0,7 0 6 16,-3 0 0-16,3 0-1 0,1 0 2 15,3-1 3-15,3-1-3 0,-2-2 2 0,3 1-1 16,3 0 2-16,0-2 0 0,3 1-4 15,1-1 1-15,1-1-3 0,6 0-2 16,0-1-1-16,3 1 0 0,1-2-4 16,0 0-1-16,4 1-3 0,-1-2 2 15,1-1-2-15,1-1-1 0,0-2-4 16,2 1 3-16,0-2 3 0,2-1 0 16,0-3 1-16,-3-1-2 0,6-2 6 0,-1-4 0 15,2-1-1-15,1-3 1 0,4-2 4 16,0-3-1-16,4-1 2 0,6-3 0 15,1 0-2-15,4-5-1 0,2 0-3 16,-1-3-9-16,5 0 3 0,-3 1-1 16,-1-1-10-16,-1-1 6 0,-5 1 4 15,0-1 12-15,0 1-4 0,-5-1 2 0,1 1 10 16,0 0-7-16,0 0-3 0,-3-2-2 16,0 2 0-16,2-1-2 0,-2-1-1 15,3 0-1-15,1 0 3 0,-1-1 1 0,4 1 1 16,0 0 1-16,0-2 1 15,0 1 4-15,1 1-1 0,-1-2-2 0,0 1 4 16,0 1 0-16,-3-3 3 0,3 3-15 16,-1-2 7-16,-2 1 7 0,-1-1 3 15,2-1 1-15,-2 0 4 0,-1 1 19 16,-3 0-6-16,1-1-8 0,-2-2 0 16,2 2-3-16,-4 0-9 0,3-2-3 15,-3 2 3-15,0 1 0 0,0-1-3 0,-3 0 5 16,3 0 12-16,-4 1-2 0,4 1 2 15,-4 0 1-15,1-1 8 0,2 0-4 16,-4 1-1-16,0-1-2 0,1-1-6 16,-3 1-4-16,3 1-5 0,-1-2-5 0,-1 0-5 15,1-1-2-15,3 1 2 16,-3-2-1-16,1 0-3 0,1 1 3 0,-1-1 1 16,-3 0 1-16,2 0 1 0,-2-1 3 15,-3-1 7-15,2-1 8 0,0 1 3 16,-2-2 5-16,-1 1-5 0,3-2 4 15,-4 0-1-15,1 2-4 0,0-3-4 16,-1 2-1-16,1 0 3 0,0-1-5 0,-2 2-4 16,0-2 2-16,-1 1 6 15,-1-2 4-15,-3 2 7 0,0-1 1 0,1-1 1 16,-4-3-1-16,2 0-4 0,-4 0-4 16,0-2-6-16,1 1 7 0,-4 0 4 15,1-2 4-15,-4 2 3 0,-4 0 1 16,3 0 5-16,-5 1-5 0,-2 1 1 0,1 0-2 15,-4-1-3-15,0 1-4 0,-4-1-2 16,1-1-5-16,-2 2-4 0,-1 1-5 16,-2-3-4-16,-3 1-4 0,-3 1-5 15,2 0 3-15,-2-2-2 0,3 1 0 16,0 3 3-16,0-1 3 0,-3 2 3 16,7-1-2-16,-1 2-1 0,-2 0 0 0,-1 0 1 15,-1 2-1-15,-2-3 1 16,0 2-1-16,1 0-2 0,-2-1-6 0,2 0 0 15,-5-1 0-15,2 1 0 0,-2-2 0 16,1 4 0-16,1-2 0 0,-2 0 0 16,0 1 0-16,-1 2 0 0,-2 0 0 15,2 2 0-15,-2-2 0 0,-1 3 0 0,0-2 0 16,0 3 0-16,-3-2 0 0,-1 1 0 16,1 2 0-16,-1-2 0 0,-2 3 0 15,2 0 0-15,0 0 0 0,-2 1 0 16,2 3 0-16,1-1 0 0,-4 3 0 0,3-1 0 15,-5 3 0-15,0 0 0 0,-5 3 0 16,-1 0 0-16,-1 2 0 0,-4 1 0 16,0 1 0-16,-1 0 0 0,-1 1 0 15,4-1 0-15,0 2 0 0,3-1 0 0,-2 2 0 16,6-1 0-16,-3 2 0 0,3-1-5 16,0 2-9-16,-3-1-2 0,3 2-4 0,-3-1-7 15,-1 2-1-15,-3 1-5 0,-3 1-4 16,1 1-1-16,-3 0-2 0,6 3-1 15,-4-2-4-15,3 3-10 0,0 1-16 16,3 0-29-16,-3 2-21 0,-3 2-40 16,3 2-112-16,-1 2-171 0,-2 1-178 15,-1 3-187-15,-3 1-197 0,-3 2-74 0,-1 2 61 16,0 2 154-16,5 2 182 0,1 1 211 16</inkml:trace>
  <inkml:trace contextRef="#ctx0" brushRef="#br0" timeOffset="11486.38">5694 9354 3 0,'4'6'302'0,"0"0"49"0,3-2 26 0,0 2-24 0,1 0-54 0,2 2-57 15,-2-1-49-15,6 1-32 0,0-1-24 16,-2 2-16-16,2 0-10 0,1-1-6 16,-1 1 1-16,1 0 5 0,3 0 9 0,3 0 7 15,-2 0 4-15,2-2 3 0,1 1 0 16,0-1 0-16,3-2 1 0,1-1-3 16,6-1-6-16,2-3-5 0,2-1-11 15,8-4-18-15,1-1-18 0,4-1-29 16,0-4-8-16,2 0-8 0,2 0-7 0,0-4-4 15,3 0 2-15,-3-1 20 16,5-2 4-16,-3 0 9 0,3-1 18 0,3-2 11 16,-2-1 4-16,3-2-2 0,-1-2-15 15,-3-1-14-15,4 0-15 0,0-1-13 16,2-3-12-16,1 2-9 0,1-3-6 16,3 0-20-16,0 1-22 0,3-3-17 0,-2-1-20 15,2-1-1-15,1-1 2 0,3 1 19 16,-3-1 17-16,2 0 18 0,-2 1 17 15,0 2-1-15,2 1-4 0,-2-1 3 16,-3 3 5-16,-1 1 0 0,3 3 0 16,-6 0 3-16,-1 3 6 0,-1 1 0 15,-4 3-3-15,-7 2 6 0,1 1 11 0,-7 4 23 16,-6 1 21-16,-5 3 29 16,-4 0 33-16,-10 4 31 0,-3 1 20 0,-2-1 9 15,-5 4 4-15,-5-2-11 0,-3 1-18 16,-1 1-27-16,-3-1-27 0,0 2-51 15,-3 0-15-15,-1-1-13 0,0-1-11 16,1 1-10-16,3-1-11 0,-4 2 13 0,4 0-23 16,4 0-11-16,-1 0-7 15,5 0 2-15,2 2 0 0,4-1 6 0,2 1 7 16,5-1 1-16,4-1-3 0,1 2-5 16,3-2-2-16,0 1 3 0,4 1-7 15,3-2-5-15,-1 2-2 0,-1-2-4 16,-1 1-2-16,0-1-6 0,2 0 7 15,5-1 5-15,-1-1 6 0,2-1 7 0,-1 0 7 16,6-2 13-16,-5-2 1 0,6 1 0 16,0-2 4-16,0-1 6 0,1 0-6 15,-1-1-4-15,4 0 6 0,0 0 5 16,-2 1-1-16,2 0-1 0,3-2-3 16,-6 1 2-16,1-3 1 0,0 0 1 15,-2 2-2-15,-3-4 12 0,3 1 13 16,-4-1 4-16,-2 0 5 0,-1-1 8 0,-1 2 2 15,-2 0-6-15,-1 0-3 0,-3 0-4 16,0 3-9-16,-4 0-13 0,0 0-14 16,-2 2-20-16,-7 2-35 0,-3 1-87 15,-3 0-136-15,-5 2-150 0,-5 2-161 16,-6-2-164-16,-5 4-139 0,-6 0-2 0,-5 4 86 16,-4 0 130-16,-3 3 155 15</inkml:trace>
  <inkml:trace contextRef="#ctx0" brushRef="#br0" timeOffset="16008.68">17276 2993 137 0,'0'-2'523'0,"0"0"96"0,2 1 86 0,-2 1 62 15,0-2-93-15,0 1-120 0,0-1-92 16,0 2-70-16,0-1-77 0,0 1-75 0,0 0-92 15,0 0-67-15,0 0-40 0,0 0-23 16,0 1-4-16,0-1 5 0,0 2 29 16,0 1 1-16,3 2 3 0,-2 0 5 15,-1 3-1-15,3 2-1 0,-1 1-31 0,0 4 0 16,-2 0-5-16,3 3-6 0,-2 3-3 16,-1 1-6-16,0 3 1 0,0 3 0 15,3 3-3-15,-3 1-2 0,0 2-3 16,0 4-1-16,0-1 0 0,-3 2-3 0,-1 2 1 15,0 0-2-15,0 3 0 0,-3-1 5 16,2 2 8-16,-4 4 20 0,3 0 14 16,4 2 17-16,-5 3 12 0,3 3 2 0,-1 1-2 15,0 3-13-15,3 2-10 16,0 3-12-16,0 1-5 0,2 1-4 0,2 2-3 16,0 0-2-16,3 1-4 0,2 1 0 15,-3 2 3-15,3 1-1 0,-1 0-3 16,-1 0 0-16,1 1-1 0,1-1 1 15,-1 2 0-15,1-2-2 0,0 0 0 16,-3 0-2-16,1 0-1 0,0 0-5 0,-4 0-5 16,4 0 0-16,-3 1-4 0,1 1 3 15,-3-2 3-15,0 2 2 0,1 0 2 16,2 1-1-16,-1-1 2 0,0 1-4 16,2-2-3-16,1 1-2 0,1 1-2 15,4-2-1-15,-2-1 3 0,3 0 3 0,-1-1 4 16,2-3-1-16,-1-1 5 0,2 0 3 15,-2-4-4-15,0 0-3 0,1-3-2 16,-1-1-1-16,0-1-3 0,2-2-1 16,-5-1 3-16,0-2 0 0,-1-2 0 15,0-2 2-15,0-2 3 0,-3-2 0 16,-1-5-4-16,-2-1 2 0,-1-4 2 16,0-2-2-16,0-3-2 0,0-5 0 0,-4 0 3 15,4-5-3-15,0 0-3 0,-1-4 0 16,-2-2 0-16,0-2 3 0,2-2-2 15,-2-2 0-15,3-2 3 0,0-4 0 16,-3 3 0-16,3-5 2 0,0 1 1 16,0-3 4-16,3 1 3 0,-3-2 1 15,3 2-2-15,-2-4-2 0,-1 1 3 0,6 0-7 16,-5-4-4-16,3 2-5 16,3-3-3-16,0 2-3 0,3-2-2 0,1 0 0 15,1 0 1-15,5 0 1 0,2 0 2 16,3 0-1-16,3 1-5 0,1 1-3 15,3 0-4-15,0 0-5 0,7 0-9 16,1 2-7-16,3-1-7 0,3 0-6 0,6 1-9 16,-1 0-7-16,8-1 2 0,-3 0 6 15,8 1 6-15,-2-1 8 0,6 2 6 16,1-3 4-16,3 3 6 0,3-1 2 16,-2-2-5-16,6 1 0 0,2 0 6 15,-2 0 5-15,-1 0 0 0,0 1-3 16,1-2 0-16,-3 1-1 0,3 1-4 15,-3-2 1-15,-1 1-3 0,-3-1 7 0,-1 0 6 16,-1 2 6-16,-3 1 2 0,1-3 2 16,0 3 6-16,-6-1 0 0,2 0 2 15,-3 1 2-15,-3 0-1 0,0-1 8 16,-1 2 4-16,-3 0 7 0,0 0 5 16,0 0 6-16,0 0 9 0,2 0 5 15,1 0 3-15,1 0 3 0,4 0 13 0,6 0 8 16,8-2 5-16,10 2 1 0,12-1 3 15,10 0-2-15,8-2-10 0,14 3-1 16,6-2-5-16,5 1-1 0,10-1-2 16,2 0-6-16,-1 1-6 0,-2-2-5 15,-5 2-7-15,-7-2-10 0,-8 0-6 0,-7 1-2 16,-11-1-5-16,-7 0-7 0,-10-1-10 16,-12-2-5-16,-7 1-8 0,-7-2-9 15,2 1 1-15,0-2 0 0,1 1 6 16,6-1 4-16,10 0 9 0,3 0 9 15,7 0 10-15,9 1 17 0,-1-1 24 16,5 1 21-16,2 2 12 0,-1 1 6 16,1-1-1-16,-7 2-9 0,-5 2-13 0,-7-1-14 15,-5 2-11-15,-12 0-7 0,-5 2-7 16,-11-2-9-16,-7 1-11 0,-8-1-9 16,-8 1-8-16,-8-1-10 0,-5 0-4 15,-6 0 1-15,-5 0 3 0,-3 0 9 0,-5 0 11 16,-3 0 7-16,-4-1 7 15,-6 0 0-15,2-1 2 0,-3 0-2 0,-3 1-1 16,1 0-2-16,0-2-6 16,2 1-1-16,-3 2-4 0,3-1-4 0,2-1-6 15,0 0-9-15,3 1-16 0,-1 1-35 16,5 0-46-16,-3-1-67 0,1 1-129 16,2 0-200-16,2-2-263 0,-3 0-202 15,1 0-76-15,2-3 2 0,-2-2 99 0,2-4 189 16,0 1 276-16</inkml:trace>
  <inkml:trace contextRef="#ctx0" brushRef="#br0" timeOffset="20273.27">18921 5287 136 0,'-3'-3'311'0,"0"0"54"0,-1 3 13 0,3 3-30 0,-5 2-33 0,0 1-23 0,1 3-20 16,-3 0-19-16,1 4-24 0,0 1-17 15,3 2 6-15,0-1 15 0,1 5 17 16,3 0 34-16,3 1 31 0,4 4 9 16,1-1-22-16,6 3-39 0,5 1-40 15,3 2-56-15,7 1-45 0,4 3-35 0,3 2-16 16,4 0-12-16,0 3-10 0,6 1-8 15,-2 2-13-15,3 2-6 0,1-1-4 16,1 4-3-16,0-2-3 0,2 1-3 16,2 1-9-16,1-1 5 0,-1 0-3 15,-2-1-2-15,5-1 5 0,-1-3-2 16,0 2-11-16,3-4 1 0,0-3-1 0,7-4 4 16,-3-1-3-16,3-4 2 0,1-4 13 15,-4-2-3-15,1-6-6 0,-1-2-3 16,-4-4-3-16,0-3-6 0,-6-3 1 15,-1-4-2-15,-4-4 3 0,0-2 3 16,-3-6 7-16,-4-1 12 0,0-8 10 16,-6-3 6-16,-3-5 4 0,-2-3 4 0,-7-4-2 15,-2-2 1-15,-2-5-4 0,-7-2 2 16,-2 0 5-16,-7-3 7 0,-4-3 5 16,-5-1-2-16,-8-1 3 0,-12 0-1 15,-11 0-16-15,-13-3-2 0,-8 2-3 16,-20-1-4-16,-8 4 4 0,-11 1 31 15,-8 2 32-15,-5 5 20 0,-2 2 19 0,1 3 18 16,3 3 5-16,6 6-26 0,-1 1-20 16,12 5-27-16,2 3-25 0,9 4-24 15,3 4-17-15,7 3-15 0,4 4-15 16,8 3-16-16,1 3-20 0,8 4-26 0,3 3-26 16,6 1-27-16,2 4-29 0,6 2-34 15,4 2-67-15,4 1-105 0,6 1-119 16,4 3-122-16,5 0-124 0,10 0-177 15,7-3-41-15,7 0 68 0,5-3 113 16,9-2 134-16,6-2 155 0</inkml:trace>
  <inkml:trace contextRef="#ctx0" brushRef="#br0" timeOffset="21184.54">20046 4774 69 0,'-12'-1'305'0,"3"-1"51"0,2 2 9 0,3 0-31 16,-3 0-46-16,3 0-45 0,-3 0-36 15,4 2-19-15,-1-1-8 0,3 2 3 16,-5 0 7-16,5 2 12 0,-2 2 21 16,2 3 19-16,1 1 23 0,1 3 34 15,3 6 27-15,6 3-1 0,5 3-22 16,6 3-32-16,8 3-45 0,1 1-64 16,8 3-58-16,4 2-34 0,5 2-26 0,4 1-13 15,6 0-10-15,1 2-5 0,4-1-2 16,-1 2-5-16,4 0 3 0,4 2-12 15,-2 1-11-15,2 0-21 0,0 1-53 16,0-2-55-16,-2-3-46 0,0 0-27 16,-7-6-7-16,0-3 11 0,-7-3 42 0,-2-6 52 15,-1-4 43-15,-9-3 42 0,3-6 37 16,-4-4 40-16,2-5 45 0,-2-5 49 16,-3-7 44-16,0-3 21 0,-3-7 5 15,-5-7-14-15,-7-6-28 0,-4-4-63 0,-9-4-24 16,-7-6-21-16,-11-3-16 15,-5-3-15-15,-9-2-2 0,-9-1 25 0,-8-2-10 16,-7-2 3-16,-5 2 13 0,-13 0 20 16,-4 3 16-16,-4 2 21 0,-3 4 23 15,-2 3 13-15,3 6-2 0,-6 3-9 16,4 10-19-16,0 4-19 0,-2 5-28 0,6 7-28 16,0 5-18-16,1 7-15 15,7 2-6-15,6 4-12 0,5 4-10 0,8 3-16 16,4 1-23-16,6 4-33 0,7 1-43 15,2 1-48-15,10 1-99 0,1 2-167 16,9-1-189-16,6 0-222 0,5-1-153 16,7-1-51-16,4-1 52 0,8-3 155 15,6-2 197-15</inkml:trace>
  <inkml:trace contextRef="#ctx0" brushRef="#br0" timeOffset="21977.55">22311 4531 264 0,'-19'-21'397'0,"-6"0"61"0,-1 0 13 0,-6 2-49 0,-1-1-88 0,-4 2-64 15,-6 2-55-15,-7 0-53 0,-1 0-42 16,-6 1-29-16,0 1-4 0,-4 1 16 16,4 1 36-16,-1-1 48 0,3 5 46 15,1-1 45-15,6 5 23 0,-2-1 1 0,3 3-21 16,3 1-35-16,1 4-39 0,9 0-48 15,-2 2-37-15,4 2-31 0,9 4-24 16,-2 4-12-16,4 3-5 0,9 5-1 16,1 0-4-16,1 6-2 0,10 2 2 15,7 3-5-15,4 3-5 0,9 0-7 0,4 4-1 16,5 0-7-16,7 2-8 0,4 0-4 16,4 1 0-16,3 1 0 0,7-2-8 15,1-1-6-15,3 0-3 0,4-3-6 16,7-3-7-16,0-3-5 0,0-4-2 0,2-1-3 15,-5-4-1-15,2-4 7 16,-6-6 2-16,-3-1 3 0,-2-4 6 0,-5-6 16 16,-2-2 20-16,-6-4 15 0,-4-4 17 15,-7-4 19-15,-4-4 14 0,-4-4 4 16,-10-4-9-16,-2-4 0 0,-8-3-7 16,-10-4-12-16,-6-2-10 0,-9-3-3 15,-9-2 2-15,-11-1-3 0,-11-3-5 0,-14 0 5 16,-8-3-1-16,-14 0-3 0,-11-1-8 15,-4 2-8-15,-6 4-4 0,3 3-2 16,1 3-5-16,8 4-2 0,9 6-2 16,14 4-7-16,8 5-17 0,13 4-35 0,9 5-41 15,7 5-54-15,13 6-105 16,6 7-175-16,11 6-178 0,8 3-179 0,7 5-192 16,7 2-69-16,6 2 40 0,4-1 146 15,7 1 176-15,6 1 198 0</inkml:trace>
  <inkml:trace contextRef="#ctx0" brushRef="#br0" timeOffset="22754.58">23885 4507 308 0,'3'-15'442'0,"-9"-3"65"0,1-3 59 0,-5-1-83 0,-8-4-58 15,-4 0-15-15,-4-5 13 0,-7 0 23 16,-6-2-1-16,-2-1-23 0,-12 0-42 16,-3-2-60-16,-9-1-74 0,-8 1-81 0,-10-2-48 15,-8 1-33-15,-6 1-24 0,-5 1-23 16,-6 3-15-16,-1-1-4 0,0 4-13 15,7 2 7-15,2 1 2 0,5 4 16 0,7 2 17 16,2 4 10-16,12 2 14 0,6 4 0 16,10 2 0-16,6 7-10 0,6 5-14 15,11 5-7-15,4 8-6 0,9 4-1 16,6 7 2-16,12 7-3 0,4 3-3 16,9 6-24-16,6 4 3 0,5 2-3 0,9 4-7 15,5 0-6-15,1 0-7 0,7 1 14 16,8 1-13-16,2-1-14 0,6-1 0 15,10 0-12-15,1-1-9 0,4-2-12 16,6-3-17-16,6 0-8 0,4-4-21 16,2-6-12-16,1-2-20 0,1-5-13 0,-8-8 2 15,2-3 10-15,-8-7 20 0,-4-4 28 16,-9-6 51-16,-3-5 51 0,-6-5 35 16,-7-6 26-16,-9-4 12 0,-8-8 4 15,-4-4-13-15,-4-7-22 0,-14-5-11 0,-8-5-13 16,-13-5-4-16,-12-3-2 0,-14-3 6 15,-15-1 14-15,-12-2 10 0,-18 3 5 16,-16 0 4-16,-13 6 2 0,-11 4 4 16,-9 7 1-16,3 7-4 0,1 8-5 15,13 7-7-15,8 11-3 0,17 7-43 16,9 11-53-16,13 10-106 0,12 4-186 0,14 8-205 16,17 2-230-16,9 5-180 0,14-1-72 15,11 0 40-15,11-2 148 0,10-2 188 16,5-3 216-16</inkml:trace>
  <inkml:trace contextRef="#ctx0" brushRef="#br0" timeOffset="25524.7">22498 3381 233 0,'-4'1'337'0,"-5"1"31"0,0-1 2 0,0 2-19 16,-2 0-35-16,0-1-43 0,0 1-41 0,-3 0-28 15,2-2-34-15,-2 2-26 0,-1 1-26 16,-2 1-20-16,1 0-12 0,-2-1-14 16,-4 0-6-16,-2 3-2 0,1-1 2 15,1-1 1-15,-6 2 7 0,3 0 5 0,2 2 3 16,-5-1 7-16,-1-1 4 0,0 2 1 15,-4-1-3-15,0 1 1 0,-3 0-6 16,1 1 1-16,0-1-2 0,-3 2 1 0,-2-1 4 16,2 1 0-16,0-1 10 0,3 2 9 15,-3 0 38-15,1 0-6 0,1 0-12 16,0 2-12-16,0-1-13 0,2-1-17 16,-5 3-46-16,3-1 4 0,2 2 0 0,-5-1 4 15,3 0-6-15,2 2 0 0,-5-1-2 16,3 2-10-16,-1-1-2 0,-1 1-1 15,-4 1 0-15,0-1-5 0,0 2-3 16,-3-1 3-16,1 1 1 0,-3-1-3 16,0 1 1-16,-1 1 2 0,-2 1 6 15,2 2-5-15,-2-1-2 0,2 1-3 0,1-2 0 16,0 2 1-16,1-1-5 0,1-2 8 16,3 1 6-16,-2-1 6 0,2-1 3 15,2-1 2-15,0-1 2 0,0 2-4 16,2-2-3-16,1 1-4 0,-2-1-5 0,3 0-6 15,-1 0-8-15,1 2-3 16,3-1-13-16,-3-1 2 0,3 2 0 0,4-1 0 16,-1 1 1-16,1-2 3 0,0 2 10 15,0-2-3-15,1 1 0 0,5 0-1 16,-5 1 1-16,4 0-2 0,2 0-2 16,-2 1-3-16,-3 0-2 0,5 0-6 15,-3 0 2-15,-1 2 4 0,1-1-1 0,1 2-2 16,1 0 2-16,-3 1 4 0,6-2-4 15,-4 0-1-15,2 1-1 0,0-2 3 16,1 2 4-16,-1-1 3 0,0-1-2 16,0 1 3-16,0-1 2 0,-3 0-1 15,3 1-2-15,-3-1 3 0,3 0 2 16,-3-1 1-16,6-2-1 0,-5 2 2 0,8 1-1 16,-5-2 1-16,7 1 0 0,-1-1 6 15,2 1 1-15,2 0 1 0,-1-2 1 16,6 1 3-16,0-1-4 0,-1 0-1 15,3 0-2-15,1 0-3 0,-1 1-1 16,1-1-5-16,2 2 0 0,-2 0-5 16,1 0 2-16,0 2-4 0,-1 1-3 15,3 0 0-15,0 1 2 0,-2-1 0 0,2 0-5 16,0 2 2-16,2-2-2 16,-2 0 1-16,3-2-2 0,-1 2-1 0,0-1 1 15,-2-1-1-15,3 1 0 0,-3-1 0 16,1-1 0-16,9 2 0 0,-2-2 1 15,1 1 2-15,3-1 0 0,-4 1 1 16,3-1-2-16,4-1 3 0,-1 1 2 0,1-3-4 16,3 0 1-16,0 0 1 0,3-2-1 15,-3 1 0-15,4 0-1 0,-3-2 3 16,3 0 1-16,3 0-1 0,0-1 3 16,-2 2-4-16,6-1 0 0,0 0 1 15,0 0 0-15,6-2 3 0,-2 1 2 16,2 1 4-16,3-2 3 0,2 0 3 0,2-2 4 15,2 1 2-15,1-1 1 0,1-1 1 16,1-2-4-16,-3 1-2 0,3-3-5 16,-3 4-2-16,3-4-3 0,0 1-3 15,-3-1 2-15,0 1 1 0,-1-2 6 16,0 0 2-16,-2-2 9 0,4 0 6 16,1-1 8-16,1 0 2 0,0-4 0 15,6 0 0-15,1-1-5 0,-2-1 0 0,6-1-7 16,3-1 0-16,-2 0 2 0,3 0 1 15,-4 0 2-15,3-1 3 0,-6-2-2 16,3 1-36-16,-3-1 0 0,-1 0 0 16,2-1 0-16,-3 0 0 0,0 0 0 15,1 1 0-15,-3 0 0 0,-3 0 0 0,3-1 0 16,0 0 0-16,0-1 0 0,-1 0 0 16,-2 1 0-16,3-2 0 0,-4 0 0 15,2 0 0-15,0 0 0 0,-2-2 0 16,2 1 0-16,-3-1 0 0,1 1 0 0,-1 0 0 15,-2 1 0-15,2-3 0 16,-2 2 0-16,0 1 0 0,0-3 0 0,-2 2 0 16,-1-1 0-16,2-2 0 0,-2-1 0 15,4 1 0-15,-3-3 0 0,3-1 0 16,1 0 0-16,-1-2 0 0,2-1 0 0,-1 1 0 16,-6-1 0-16,2 1 0 15,-2 1 0-15,0-1 0 0,0 0 0 0,-1 3 0 16,1-2 0-16,0 1 0 0,-3-1 0 15,0 2 0-15,2-2 0 0,-2 0 0 16,-1 0 0-16,0-3 0 0,-1 0 0 16,-2-2 0-16,3-1 0 0,-5-3 0 0,2-1 0 15,-4 0 0-15,2-2 0 0,-5 1 0 16,3 2 0-16,-1-2 0 0,-5 2 0 16,2 0 0-16,-3 4 0 0,0-2 0 15,-1 1 0-15,-2 0 0 0,-1 2 0 16,0-2 0-16,3 0 0 0,-3-2 0 15,-3-1 0-15,0 0 0 0,0-1 0 0,2-3 0 16,-2 3 0-16,-1-2 0 0,-2 2 0 16,2-1 0-16,-3 4 0 0,3-2 0 15,-2 1 0-15,-2 1 0 0,-2-1 0 16,2-1 0-16,-2 0 0 0,-4 0 0 0,3 1 0 16,-2-2 0-16,-3 1 0 15,1 1 0-15,-3 1 0 0,0-1 0 0,0 3 0 16,-3-2 0-16,1 1 0 0,-3 4 0 15,-2-3 0-15,3 2 0 0,-3 0 0 16,-4 0 0-16,3 0 0 0,-6 0 0 16,3 2 0-16,-2-1 0 0,-3 0 0 0,4 2 0 15,-5-2 0-15,-1 2 0 16,3 0 0-16,-3 3 0 0,0-2 0 0,0 2 0 16,0 2 0-16,2-1 0 0,-8 2 0 15,8 0 0-15,-8 2 0 0,8-1 0 16,-9 1 0-16,3 1 0 0,-3 0 0 15,0 1 0-15,-4 1 0 0,0 0 0 0,-1 2 0 16,-2 0 0-16,2 3 0 0,-4-2 0 16,1 3 0-16,0 0 0 0,-3 0 0 15,0 3 0-15,1-1 0 0,-5 1 0 0,2 1 0 16,-2 1 0-16,3 1 0 0,-6 2 0 16,0-1 0-16,2 2 0 0,-2-1 0 15,-1 1 0-15,0 1 0 0,-6 0 0 16,2 0 0-16,-3 1 0 0,-1-1 0 15,4 0 0-15,-1 2 0 0,2-2 0 0,1-2 0 16,2 2 0-16,-2-1 0 0,5 1 0 16,1 0 0-16,-3-2 0 0,6 2 0 15,-3 0 0-15,1 0 0 0,2 0 0 16,-2 0 0-16,5 2 0 0,-5-2 0 16,6 1 0-16,-2 1 0 0,4 0 0 15,-5-1 0-15,3 0-114 0,-1 0-241 0,1 0-150 16,0 0-191-16,0-1-238 15,-6 0-163-15,5-1-51 0,-6-2 27 0,0 1 156 16,0-2 220-16,5 1 286 0</inkml:trace>
  <inkml:trace contextRef="#ctx0" brushRef="#br0" timeOffset="27303.21">18939 7147 240 0,'0'2'388'0,"1"-2"83"0,-1 2 28 0,4-1-7 15,2-1-3-15,-5 0 2 0,6 0 23 16,0-1-8-16,1-1-31 0,2-1-43 15,-2 0-53-15,2 0-72 0,-2-1-90 16,6 1-64-16,-3-2-41 0,3 2-24 16,-3-2-12-16,1-1-12 0,5 2 0 15,-5-2-8-15,5-2 1 0,-5 1 1 16,6-1-4-16,-3 1 0 0,6-4-7 16,-2 1 4-16,5-3 4 0,-1 0-4 0,-1-2-5 15,6-1-1-15,-2-2-1 0,0 0-3 16,3-2-2-16,0-2 2 0,0 4 1 15,0-3 3-15,0 0 1 0,2-1 6 16,-2 1-4-16,2-1 3 0,3 0 0 16,-4 1 2-16,-1-2-3 0,4 0-4 0,-1 2 1 15,-2-1-2-15,6 0-1 16,-3 1-3-16,3-2-1 0,0 0 2 0,1 1-2 16,-1 0-3-16,0 1 1 0,-3-2 2 15,0 0 3-15,-1 1 1 0,-1 0-34 16,-2-2-10-16,2-1 0 0,-2 0 0 15,2-2 0-15,0 0 0 0,-2-1 0 16,4-2 0-16,1-1 0 0,-1-1 0 16,3 0 0-16,-2-1 0 0,2 0 0 0,3 2 0 15,-2-1 0-15,0 1 0 0,-1-1 0 16,-3 1 0-16,2 0 0 0,-5-1 0 16,2 2 0-16,-2 0 0 0,-1-3 0 15,0 1 0-15,0-1 0 0,0 2 0 16,0-2 0-16,0 2 0 0,2-1 0 0,-2-1 0 15,2 4 0-15,0 1 0 0,0-2 0 16,3 3 0-16,-5-2 0 0,1 1 0 16,3-1 0-16,-4 2 0 0,4 0 0 15,-4 1 0-15,0-2 0 0,0 3 0 16,0-2 0-16,-4 2 0 0,0-1 0 0,-2 0 0 16,5-1 0-16,-4 0 0 0,0 0 0 15,3 2 0-15,0-1 0 0,-1 0 0 16,3 1 0-16,0 1 0 0,2-1 0 15,0 2 0-15,0-1 0 0,3 1 0 16,1 0 0-16,1 0 0 0,0-1 0 16,1 0 0-16,0-1 0 0,3 1 0 0,-4-2 0 15,3 1 0-15,-5-1 0 0,2 0 0 16,3 0 0-16,-5-2 0 0,5-1 0 16,-2 3 0-16,-1 1 0 0,2-1 0 15,-5 2 0-15,0-3 0 0,1 0 0 16,-3 0 0-16,0-1 0 0,0-1 0 0,0 2 0 15,-2 0 0-15,2 2 0 0,1-1 0 16,-6 1 0-16,0 1 0 0,3-1 0 16,0 3 0-16,-3-2 0 0,3 3 0 15,0-1 0-15,0 1 0 0,-1-2 0 16,1-1 0-16,0 2 0 0,0-1 0 0,-3 1 0 16,0-1 0-16,1 3 0 0,0-3 0 15,-3 2 0-15,1 2 0 0,-1-1 0 16,-2-1 0-16,0 3 0 0,1-2 0 15,-3 2 0-15,0 0 0 0,-2 1 0 0,1-1 0 16,-1-2 0-16,2 2 0 0,-2 0 0 16,-1 0 0-16,1-2 0 0,4 1 0 15,-4-2 0-15,0 1 0 0,3 1 0 0,-3 1 0 16,-3 0 0-16,3 1 0 0,-3 1 0 16,0-1 0-16,2 3 0 0,-5-1 0 15,5 3 0-15,-5-3 0 0,-1 3 0 0,0 1 0 16,0-1 0-16,0 1 0 0,2 1 0 15,-5 1 0-15,0 0 0 0,2 1 0 16,-2 1 0-16,-1-1 0 0,0 2 0 0,-3 1 0 16,3-2 0-16,-3 3 0 0,1-3 0 15,0 3 0-15,-1 1 0 0,0-1 0 16,-1 1 0-16,-2-1 0 0,2 2 0 0,0 0 0 16,-2 0 0-16,-1 1 0 0,0 1 0 15,3-1 0-15,-2 1 0 0,-1 0 0 16,0 0-35-16,-1 0-247 0,-2 1-106 0,2 0-139 15,-5 4-207-15,1 0-255 0,-9 1-118 16,-1 0-24-16,-9 1 71 0,1 1 142 16,-5-1 235-16</inkml:trace>
  <inkml:trace contextRef="#ctx0" brushRef="#br0" timeOffset="30194.67">18364 5075 111 0,'0'4'367'0,"0"-1"59"0,-1 1 58 0,1-3-28 0,0 1-61 16,0 1-38-16,0-2-20 0,0 1-7 16,1-2-5-16,2 0 2 0,1 2 49 15,2-1 12-15,-1 1-33 0,6 1-39 0,2-2-37 16,-1 2-51-16,3 1-68 0,2 1-72 15,1 1-24-15,0 0-12 0,1 2-15 16,3 1-4-16,3 1-33 0,-1 1 11 16,3 2 8-16,2 1 4 0,2 1 10 15,4 1 12-15,1 2 6 0,8 1 3 16,5 1 1-16,5 1-4 0,4 0-12 16,1 2-11-16,3 1-8 0,6-1-3 0,-2 2-3 15,0 0-1-15,6 0 1 0,-1 1-3 16,0 1-5-16,0 2-1 0,0-2-5 15,-3 3-3-15,1-2-3 0,-4 2-2 16,1 0 0-16,-2-2 0 0,-2 3 4 16,0-3 2-16,-3 4 2 0,-1-3 1 0,0 1 2 15,-2 1-4-15,-3-3-2 0,-4 2-2 16,-1-3-1-16,-2 2 6 0,-5-4 0 16,-1-1 3-16,0 0 2 0,-4-3 2 15,-3 0 0-15,0-1-3 0,-4-2 0 16,0-1 0-16,0-1 0 0,-1-2 1 0,0 1 0 15,-4-2 1-15,3 0-2 16,2 0-1-16,-5 0 1 0,3-1-2 0,0 0 2 16,-1 0 3-16,1-2 1 0,-1 2-1 15,1-3 1-15,-4-1 1 0,1 0-2 16,-2 0-5-16,-5 1-1 0,0-1-1 16,-5-2 3-16,-2-3 1 0,-2-1 4 15,-4 2-2-15,2-3-3 0,-5 1-14 16,2-2-15-16,0 1-23 0,-3-1-36 0,-3-1-43 15,0 1-89-15,2-2-120 0,-2-3-138 16,-1 1-156-16,-3-3-192 0,-1-2-106 16,-3-2 11-16,-3-4 92 0,-4-1 127 15,-2-5 167-15</inkml:trace>
  <inkml:trace contextRef="#ctx0" brushRef="#br0" timeOffset="31086.33">19259 4548 303 0,'1'2'375'0,"6"0"61"0,-3 0-5 15,2 1-41-15,-1-2-39 0,2 1-27 16,0-1-25-16,-3 2-22 0,3-1-14 0,0 0-7 15,1 2 9-15,-1-1 23 0,3 1 20 16,1 1 2-16,0-1-12 0,2 1-28 16,0 1-37-16,5 1-50 0,0 1-49 15,6 1-28-15,3 3-17 0,4 0-8 16,5 0-6-16,5 3 3 0,4 0-4 16,6 0 3-16,1 1-6 0,6 2-11 15,-2 0-8-15,8 0-16 0,-2 1-4 0,2 1-11 16,3 1-4-16,-3-1-1 0,0 2 0 15,-1-1-2-15,-4 2-3 0,3-2-2 16,0 1-10-16,2-1 2 0,-5 2-1 16,2-1 1-16,-2 1-3 0,-1 0-3 15,0 2 9-15,-3-3-8 0,1 3-1 16,-5 0-2-16,0-1 4 0,-2-2-25 16,-3 1 10-16,1-1 11 0,0 1 5 0,-3-2 4 15,0 0 2-15,2 0 29 0,-5 0-9 16,-1 0-10-16,0-1-1 0,0 0-4 15,-1-1-1-15,-4 1-5 0,0-2-3 16,-1 0 5-16,-1-3-2 0,-2 2 0 16,3-1-2-16,-3 0 2 0,0-2 0 15,0-1-1-15,-2 1 0 0,-1 0-4 0,1-1 0 16,-4 1 1-16,0-4 2 0,-6-1-3 16,2 2 1-16,-3-2 5 0,-6-2-3 15,2 0 1-15,-3-1-3 0,-3-1 0 16,-1 0-5-16,0-3-3 0,3 2-4 15,-5-2-5-15,1 1-4 0,-1 1-8 16,2-1-7-16,-3-2-13 0,2 1-14 0,-2 1-20 16,0-3-27-16,-4 2-66 0,4-2-140 15,-4-2-176-15,-1-1-204 0,-3-3-197 16,-9-3-82-16,-3-5 12 0,-8-1 119 16,-2-6 173-16,-4-2 216 0</inkml:trace>
  <inkml:trace contextRef="#ctx0" brushRef="#br0" timeOffset="31970.16">20396 4264 48 0,'0'-3'345'0,"2"0"59"0,1-1 49 0,-2 0-23 0,4 0-55 0,0 0-45 0,-1-1-30 0,0 2-15 15,0-2-12-15,2 1-9 0,2 1-5 16,-1 2 7-16,1-2 19 0,-1 3 18 16,3-2 6-16,-2 2-6 0,0-2-29 15,-1 2-40-15,3 2-57 0,-2-2-49 0,6 2-36 16,0 1-19-16,2 1-12 0,8 3-2 16,-1 1-3-16,6 1-6 0,4 3 0 15,7 0-4-15,2 3-3 0,-1 0-4 16,6 1-2-16,1 2-2 0,-1 2-7 15,2 3-4-15,2-1-4 0,-2 2-2 16,2 0-4-16,1 1 3 0,-1 0 1 16,-3 0-2-16,3 0 5 0,-1 1 2 0,-2-2 2 15,2 3-3-15,-2-2 3 0,2-2 0 16,-5 2-3-16,7 0-3 0,-3-1-4 16,0 0-3-16,-1 1-5 0,1-2-2 15,-2 1-1-15,-1-1-1 0,-1 0-2 16,-3 0 0-16,2-2-2 0,-1-1-1 0,-3 0-3 15,0 0-2-15,-3-1 1 16,2-1 0-16,-2-1 5 0,-1-2 2 0,0 3-1 16,-1-3 1-16,-1-2 1 0,-4 1 0 15,-1-2-2-15,0-1-2 0,-2 0 2 16,-3-1 0-16,1 1 0 0,-3 1-1 16,0-1-2-16,1-1-1 0,-1-1 0 15,-4 2 1-15,-1-1 0 0,0 1 0 16,0-3 1-16,-5 1-1 0,-1-4-4 0,-1 1-8 15,-3-1-11-15,0-2-14 0,-6 0-18 16,2-2-22-16,-2 1-33 0,-1-2-80 16,0 0-150-16,-1-3-166 0,-3-2-185 15,-3-3-207-15,-3-1-87 0,-2-6 22 16,1 1 125-16,-6-6 163 0,2-1 192 16</inkml:trace>
  <inkml:trace contextRef="#ctx0" brushRef="#br0" timeOffset="32922.05">20765 3745 32 0,'3'-7'308'0,"-2"1"46"0,3-2 42 0,2 3-39 0,1 0-60 0,-3 0-41 0,3 1-25 0,-3 0-21 16,0 3-18-16,3 0-16 0,-5-2-8 0,4 3-3 16,1 3 10-16,4-2 25 0,5 0 38 15,0 3 43-15,-1 0 39 0,0 1 17 16,3 0-15-16,3 1-30 0,-4 1-49 16,3-1-59-16,2-1-54 0,0 3-44 0,3-2-21 15,-1 3-14-15,3 0-6 0,6 2 7 16,1-1-3-16,3 4 4 0,7-2 3 15,2 3 8-15,2 1 1 0,6 0-5 16,1 4-3-16,3 0-1 0,4 0-4 16,5 3-8-16,-3 0-7 0,5 1-1 0,0 0-3 15,-2 1-4-15,2 1-4 0,-6-1 2 16,1-1 1-16,-2 2-2 0,-3-4 4 16,3 3 2-16,-4-2 3 0,3 1 2 15,-3-1 1-15,-1 1 4 0,1-2-3 16,0 1-2-16,0-1-2 0,-1 2 1 15,6-1-8-15,-4 1-6 0,3-2-1 16,-1 2-3-16,-2-1-5 0,-1-1-7 16,0 1 4-16,-4-1-2 0,-3-1-1 0,-3 2-3 15,-3-2 1-15,-3 2-5 0,3-3-1 16,-5 1 2-16,-5-1 5 0,3-1 3 16,-2 2 1-16,-2-1 7 0,1-1 4 15,-2 2 0-15,3 0 0 0,-6-1 0 0,6-1 5 16,-3 1 3-16,0-1 1 0,2 1 1 15,-2-2 1-15,-3 0 1 0,4-2-4 16,-6 0-2-16,1-2-2 0,-4 0 5 16,-1-2 5-16,-4-3 2 0,-2 1 7 15,-2-5 6-15,-5 2 6 0,-2-3 0 16,0 0-24-16,-3-1-32 0,-1 0 0 0,-1-2 0 16,-2 0 0-16,0-1 0 0,1 0 0 15,-3 0 0-15,0 0 0 0,-3-1 0 16,-3-3-157-16,-3-1-219 0,-6-2-266 15,-3-5-329-15,-5-2-190 0,-5-2-62 16,-1-4 20-16,-2-1 130 0,-1-3 253 16,6 0 335-16</inkml:trace>
  <inkml:trace contextRef="#ctx0" brushRef="#br0" timeOffset="116661.94">11913 10725 53 0,'-4'10'427'0,"2"-1"132"0,-3 3 143 0,1 0 91 0,0 0-12 0,0 4-64 0,-1 0-78 0,-2 2-89 0,2 1-102 16,1 4-110-16,-3 1-73 0,1 3-38 15,1 1-30-15,1 4-25 0,-3 2-26 16,5 4-20-16,-2 3-21 0,-1-1-10 16,3 4-9-16,0 2-1 0,0 4-4 15,0 2 0-15,2 0-5 0,-3 2-8 0,1 2-10 16,-3 1-13-16,3 1-3 0,-2 4 8 15,4 1 14-15,0 1 6 0,4 4-25 16,-2 4-45-16,3 3 0 0,0 1 0 16,1 3 0-16,-1 3 0 0,1-1 0 15,3 3 0-15,0-1 0 0,2 3 0 16,2 1 0-16,3 1 0 0,0-2 0 0,2 3 0 16,-3-4 0-16,0 2 0 0,3 2 0 15,-3-2 0-15,2 0 0 0,-5 1 0 16,2 0 0-16,-3 1 0 0,0-1 0 15,-1-2 0-15,-6 0 0 0,0-1 0 16,0-1 0-16,0-2 0 0,-4 0 0 0,0-4 0 16,0-2 0-16,0-2 0 0,0-2 0 15,0-2 0-15,-1 0 0 0,-2-6 0 16,3-2 0-16,0 0 0 0,3-5 0 16,-2-2 0-16,-1-3 0 0,0-3 0 0,0-1 0 15,0-4 0-15,0-1 0 0,0-4 0 16,0-3 0-16,0-1 0 0,0-6 0 15,0-1 0-15,0-3 0 0,0-3 0 16,0-2 0-16,0-3 0 0,0-4 0 16,-1-1 0-16,-2-1 0 0,3-5 0 0,0 0 0 15,-1-2 0-15,-5-1 0 0,2-1 0 16,0-2 0-16,-6-2 0 0,2 1 0 16,-6-4 0-16,3 1 0 0,-1-1 0 15,-2 1 0-15,0-2 0 0,2 0 0 16,1 0 0-16,-1 0 0 0,3 0 0 15,2 1 0-15,3-1 0 0,0 2 0 0,1-3 0 16,3 4 0-16,7-2 0 0,2 1 0 16,4 0 0-16,8 1 0 0,2 1 0 15,9 0 0-15,4 0 0 0,8-1 0 0,4 2 0 16,13-2 0-16,8 1 0 0,8-1 0 16,13 0 0-16,7 0 0 0,12-1 0 15,7-1 0-15,8 0 0 0,7 0 0 16,7-1 0-16,13 0 0 0,6 0 0 15,10 0 0-15,10-2 0 0,2 2 0 0,5 0 0 16,9 0 0-16,3 2 0 0,0-2 0 16,4 1 0-16,-1 2 0 0,3-1 0 15,-1-1 0-15,1 1 0 0,2-1 0 16,-3 2 0-16,1 1 0 0,-2-3 0 0,1 0 0 16,0 0 0-16,-1 1 0 0,-2 1 0 15,-1-1 0-15,-2 1 0 0,0 0 0 16,-5 1 0-16,-5-1 0 0,-3 0 0 15,-4 3 0-15,-9-2 0 0,-5 2 0 0,-4 2 0 16,-11-2 0-16,-6 2 0 0,-16-1 0 16,-14 2 0-16,-14-1 0 0,-13-1 0 15,-17 1 0-15,-12 0 0 0,-15-1 0 16,-4 0 0-16,-11 2 0 0,-8-1 0 16,-5 0 0-16,-5 1 0 0,-7 1 0 0,-2-1 0 15,-2 1 0-15,-3 0 0 0,-2-2 0 16,-1-1 0-16,-3 1-123 0,-3-4-460 15,1 0-185-15,-4-3-228 0,-1-2-145 16,-3-2-28-16,-2-5 44 0,-2 1 143 16,-3-5 221-16,1 1 287 0</inkml:trace>
  <inkml:trace contextRef="#ctx0" brushRef="#br0" timeOffset="118553.7">17965 10542 18 0,'-49'6'286'0,"-2"-2"59"0,-2 2 34 0,-5 0-12 0,-3 0-30 15,-1 0-31-15,-1 2-21 0,-6-1-22 16,0 3-19-16,-6 0-15 0,5 0 3 16,-1 2 19-16,0 1 21 0,2 1 27 0,-2 1-10 15,5 2-13-15,-2-1-32 0,3 2-49 16,-1 2-51-16,0 2-62 0,-2 1-20 16,5 1-17-16,-6 0-14 0,2 3-6 15,0 1-4-15,0 1 2 0,1 1 6 16,1 1 2-16,-1 2 4 0,1 0 3 0,0 2 3 15,2-1 1-15,1 2 3 0,-1 0-2 16,1 2 0-16,2-1 0 0,0 2-4 16,2 2-2-16,3-1-3 0,-3 0-6 15,0 1-1-15,0 1-2 0,0-2 0 16,-1 3-5-16,-2 0-6 0,2-2 0 0,-2 4-6 16,1-2-1-16,3-1-5 0,-3 1-2 15,-1-1-4-15,2 2 1 0,-2-3 3 16,3 4 3-16,-1-4 4 0,-2 3 5 15,3-1 10-15,2-1 6 0,-5 2 0 16,6-2 1-16,-1 0 0 0,5-1-1 16,-2-1-6-16,4 1-2 0,2-2-2 0,0 0-2 15,3 1 1-15,1-1-2 0,3 2 0 16,-1-2-4-16,2-1-4 0,2 3 1 16,1 0-1-16,0-2-1 0,2 1-2 15,-1 0 2-15,7 1 7 0,-1-2-1 16,5 0 1-16,-1-2 0 0,5 1 2 15,0-2-1-15,2 0-3 0,5-1-2 0,4-2-4 16,3 0-3-16,4-2 2 16,4-1-1-16,4-2 1 0,3-1-4 0,4 0 0 15,5-2 1-15,4-1-1 0,5-2-4 16,4 1-2-16,2-3 1 0,6 0 1 16,2-1-4-16,6-2 0 0,4-1-1 15,6-3 2-15,-1-1-1 0,5-3-1 0,1 0 0 16,5-3-1-16,2-3 0 15,2 1-2-15,2-4 2 0,2 0 2 0,1-3 1 16,1 0 3-16,3-3 0 0,2 0 2 16,-5-4-1-16,7 1 5 0,-2-3-2 15,3-3 1-15,-1 0-1 0,2-3 2 16,5-3 2-16,-4 0 3 0,4-3 7 0,1 0 2 16,-1-2 6-16,2-1-2 15,3-2 0-15,-1 0-5 0,3-1-6 0,0-2-6 16,0 0-5-16,0-2 0 0,0 1-2 15,-3-1 4-15,-4-1 4 0,2 2 4 16,-2-3 9-16,-1 0 8 0,-2-2 11 16,-4 2 6-16,2-1 7 0,-7 0 4 15,-1-3 2-15,-3 1-2 0,-2 1-9 16,-1-3-10-16,-3 1-11 0,-3 0-8 0,-4-3-7 16,2 1-6-16,-5-1-3 0,-4 1 2 15,1-3 3-15,0 0 4 0,-5-1 6 16,0 0 7-16,-2 1 8 0,-2 1 3 15,-2-1 4-15,-2 1 3 0,1 1 0 0,-4-2-1 16,0 0 0-16,-4 2 1 0,3 0 2 16,-5-1 3-16,1-1 3 0,-5 0 2 15,2 1 0-15,-3 0-2 0,-3 0-3 16,-4 0-6-16,-2-3-5 0,-2 3-7 16,-3-1-8-16,-6 0-9 0,0 2-6 15,-4-1-8-15,-3 1-5 0,-7-2-3 0,-1 1 4 16,-3 2 0-16,-7 3 1 0,-4 2-1 15,-2 1 3-15,-7 1 1 0,-2 1 0 16,-3 2-1-16,-6 2-1 0,0 0 4 16,-7 3-1-16,2 2-2 0,-9 1 0 15,-4 3-3-15,-2 0 3 0,-3 7-2 0,-5-1 0 16,-1 3-3-16,-7 2-3 0,-4 1 0 16,-4 0 0-16,-3 3-2 0,-4 3-1 15,0-1-1-15,0 4-4 0,-2 4-9 16,-1 2-16-16,3 4-22 0,4 2-29 0,2 3-48 15,-5 5-59-15,7 0-112 0,3 8-177 16,3 2-219-16,1 3-236 16,3 4-95-16,4 3-6 0,7 3 84 15,9 0 172-15,10 1 231 0</inkml:trace>
  <inkml:trace contextRef="#ctx0" brushRef="#br0" timeOffset="120244.41">12445 14619 300 0,'-2'1'432'0,"-1"2"58"0,2 0 30 0,-2-2-71 0,3-1-86 16,0 2-66-16,0-2-41 0,4-2-29 15,-1 2-17-15,1-1-6 0,0-4 2 16,8 0 12-16,-3-2 14 0,4-1 2 15,0-1-7-15,3-2-26 0,2-1-36 16,-3-1-43-16,5-2-58 0,4 0-22 16,3-2-20-16,0 1-12 0,4-2-2 0,4-2-6 15,1 1 15-15,1-2-5 0,6 0-1 16,1-2 11-16,2 0 6 0,-1 0 14 16,6-1 7-16,-1-3 8 0,-2 1 5 15,2 1-2-15,-4-3-6 0,1 2-12 16,-1-3-7-16,-3 1-10 0,1-1-9 15,-2-1-7-15,1 0-5 0,-3-2-1 0,0 1 2 16,0-2 1-16,0 2-1 0,-3-2 5 16,2 0 10-16,-2-2 8 0,0 3 13 15,-1-4 8-15,3 4 16 0,-2-4 5 16,0 1 4-16,3-1 0 0,-1 0-3 16,0 0-6-16,4 0-4 0,-3-1-6 0,2-1-8 15,2 1-7-15,1-1-5 0,-1 1-7 16,4-1-10-16,5-1-4 0,-2 0-2 15,4 0-4-15,0-1-2 0,3-2-1 16,4 0 3-16,0 0 0 0,3 0-1 16,4-2-1-16,-2-1 0 0,3 0-1 0,-1 0 4 15,0-1 4-15,3 0 6 0,-6-1 5 16,3 1 5-16,-2 0 1 0,-3 3 0 16,-2-2 2-16,-2 1-1 0,1 0-2 15,-4 3-3-15,1 0-3 0,-1 1-4 16,1 1-7-16,0 0-4 0,0 1-7 15,4 1 1-15,0-2-2 0,3 1-1 0,4-1-3 16,0 0-3-16,4 0 2 0,2 0 3 16,1-1 2-16,1-1 6 0,3 1 11 15,2-1 13-15,-2 2 10 0,-3 0 11 16,3-2 12-16,0 3 10 0,0-1 6 16,-1 0 1-16,1 1 0 0,-1 1 2 15,-2-1-6-15,-1 3-5 0,-3-2-9 0,3 0-7 16,0 0-48-16,-3 0-7 15,5-1 0-15,-3 0 0 0,3-1 0 0,-2 0 0 16,1-1 0-16,-1 2 0 0,1-3 0 16,-3 2 0-16,1 0 0 0,-1 2 0 15,-3-1 0-15,0 4 0 0,-5-1 0 16,-4 4 0-16,-1 2 0 0,-6 1 0 16,-4 2 0-16,-4 4 0 0,-3 0 0 0,-5 3 0 15,-6 3 0-15,-4-1 0 0,-7 5 0 16,-2 2 0-16,-4-1 0 0,-3 5 0 15,-4 0 0-15,-2 0 0 0,-1 3 0 16,-4 0 0-16,2 0 0 0,-4 1 0 16,3 1 0-16,-3 0 0 0,0 0 0 15,-3-1 0-15,3 0 0 0,-1 1 0 0,-2-1 0 16,3-2 0-16,-2-1 0 0,-3-1 0 16,1-3-376-16,0-2-697 0,-3-1-203 15,5-1-57-15,-7 0 40 0,2 1 114 16,-4 3 241-16,-3 4 380 0</inkml:trace>
  <inkml:trace contextRef="#ctx0" brushRef="#br0" timeOffset="126325.4">13891 12364 84 0,'-4'-9'333'0,"-3"4"54"0,3-4 24 0,2 2-31 0,-3 3-50 0,4-3-48 16,-2 3-35-16,3 0-28 0,-3 1-22 0,3 0-25 15,0 1-23-15,0 2-9 16,0 3 13-16,-1 3 34 0,1 5 65 0,1 2 66 15,2 7 33-15,0 2 4 0,3 5-22 16,-4 6-40-16,7 5-74 0,0 2-67 16,2 5-43-16,3 2-25 0,1 0-15 15,7 2-20-15,3-2-14 0,4-1-12 0,1-1-5 16,4-3-1-16,1-3-2 16,5-2 7-16,1-4 4 0,0-6 1 0,2-3 5 15,1-3 4-15,-1-5 6 0,-2-3 3 16,-1-4 10-16,-1-7 13 0,-2 0 1 15,-4-4 2-15,2-5 2 0,-8-2-2 16,-2-4-5-16,-3-5-4 0,0-3-5 16,-4-4-7-16,-4-1-9 0,-3-6-10 15,-4-5-11-15,-5-4-12 0,-9-4-8 0,-4-5-3 16,-5 1 3-16,-6 0 9 0,-2-1 10 16,-7 5 5-16,-6 1 5 0,-6 6 0 15,-4 3-4-15,0 4-10 0,-1 5-6 16,2 5-4-16,6 4-16 0,3 7-28 15,1 4-48-15,7 4-76 0,1 7-175 16,4 7-216-16,1 5-234 0,3 3-220 0,5 6-84 16,4 3 6-16,4 1 136 0,2 3 198 15,8-2 238-15</inkml:trace>
  <inkml:trace contextRef="#ctx0" brushRef="#br0" timeOffset="127048.36">15185 12194 36 0,'-36'-14'460'0,"-1"-2"92"0,1 1 81 0,-2 1 79 0,0 0-62 0,3 2-63 0,-1 1-39 15,1 1-39-15,1 2-46 0,1 3-54 16,4 0-115-16,3 2-84 0,1 3-64 15,5 3-63-15,3 4-12 0,1 3-7 16,3 6 24-16,2 8-18 0,4 6-5 0,4 4 14 16,6 5-20-16,8 2-16 0,9 0-14 15,4 6-7-15,9-4-18 0,10 2-10 16,8-2-9-16,5-1-7 0,8-3-4 16,0-5-2-16,9-5 4 0,0-4 2 15,3-9 7-15,0-6 4 0,0-7 6 0,-5-4 5 16,-2-8 9-16,-5-5 10 0,-6-4 6 15,-7-5 9-15,-6-2 7 0,-8-3 5 16,-11-4-3-16,-8-2-4 0,-11-4-3 16,-7-2-5-16,-14-2-10 0,-8-2 1 15,-8-2 6-15,-13 2 10 0,-5 3 8 0,-12 3 4 16,-5 3 6-16,-8 5-5 0,0 4-13 16,-6 6-11-16,5 1-10 0,-1 4-10 15,13 4-16-15,10 1-31 0,11 4-52 16,7 1-70-16,12 5-103 0,16 0-145 0,12 4-160 15,16 2-173-15,7 0-197 16,10 0-65-16,8 1 31 0,-2 2 111 0,6-1 148 16,6 3 192-16</inkml:trace>
  <inkml:trace contextRef="#ctx0" brushRef="#br0" timeOffset="127990.66">15998 11197 240 0,'-7'-3'350'0,"0"0"51"0,3 0 7 15,0 2-39-15,0-1-42 0,1 2-35 16,3 0-29-16,-1 0-21 0,1 3-17 15,1 3 1-15,-1 5 32 0,3 2 42 16,1 6 44-16,0 9 13 0,0 5-8 16,9 6-32-16,-2 7-87 0,1 7-57 0,5 5-59 15,2 3-47-15,3 6-34 16,6 2-25-16,-5 0 9 0,6-3-26 0,4 2-14 16,1-3-3-16,1-3 9 0,4-4 8 15,2-4 5-15,2-5 15 0,3-6 12 16,1-4 13-16,0-9 8 0,1-2 5 15,-1-9 5-15,1-5-4 0,2-7-14 16,-3-7 0-16,-3-3-2 0,-1-10 4 0,-3-3 7 16,-3-7 5-16,1-2 15 0,-7-5 2 15,-2-3-5-15,-3-6-13 0,-3-6-8 16,-6-6-3-16,-5-7 1 0,-8-4 5 16,-4-6 8-16,-6-4 13 0,-8-1 15 15,-6-4 16-15,-4 1 10 0,-8 1 4 16,-1 3 0-16,-4 6-3 0,-6 6-9 0,3 8-13 15,-1 8-22-15,-2 8-19 0,0 9-19 16,-1 7-25-16,-3 13-31 0,-1 10-45 16,-3 10-40-16,-1 12-55 0,-3 12-82 15,4 4-138-15,2 10-133 0,4 1-145 16,5 3-155-16,7 1-150 0,3-2-22 0,2 3 92 16,10-3 125-16,7-4 163 0,10-3 185 15</inkml:trace>
  <inkml:trace contextRef="#ctx0" brushRef="#br0" timeOffset="129923.45">18076 10805 236 0,'-29'-2'409'0,"-7"2"67"0,-4 2 71 0,-6 3-40 16,-1 4-46-16,-4 5 32 0,-4 4 46 15,-6 4 12-15,-2 5-16 0,-5 6-32 16,2 8-53-16,-2 4-100 0,5 4-97 16,2 2-67-16,6 2-46 0,6 1-40 15,9 0-25-15,7-2-25 0,6 1-18 16,10-4-10-16,3 2-10 0,10-3-9 0,6-3-7 15,4-4-4-15,8-4-15 16,8-4 6-16,7-6 8 0,7-6 2 0,8-4 5 16,9-9 2-16,8-4 13 0,-2-9-9 15,7-4-6-15,3-4-2 0,3-5 2 16,1-4 1-16,0-3-1 0,-1-1 2 0,-3-5 5 16,-3 0 3-16,-1-4 1 0,-3-1 4 15,1-1 5-15,-8-2 5 0,-1-2 3 16,-3-2 13-16,-6-1 18 0,-3-1 17 15,-5 2 21-15,-7-1 31 0,-5 1 22 16,-7 3 12-16,-3 2 3 0,-5 5-11 16,-9 1-18-16,-2 3-59 0,-9 2-75 15,-5 4 0-15,-3 0 0 0,-11 4 0 0,-4 1 0 16,-10 3 0-16,-5 2 0 0,-13 3 0 16,-12 6-46-16,-11 2-48 0,-11 6-21 15,-14 3-29-15,-9 6-27 0,-2 4-30 16,-3 7-51-16,10 6-139 0,8 6-191 15,15 4-237-15,12 5-187 0,14 5-74 16,17-1 9-16,18-1 129 0,14 0 203 16,17-3 267-16</inkml:trace>
  <inkml:trace contextRef="#ctx0" brushRef="#br0" timeOffset="135894.67">12925 11959 3 0,'-4'24'353'0,"0"2"54"0,1-1 44 15,0 3 5-15,3 1-98 0,3 1-86 16,1-2-46-16,7 1-29 0,0-2-31 0,6-2-29 16,-2 0-25-16,4-4-26 0,-1-3-23 15,4 0-17-15,-1 0-9 0,-2-4-6 16,-1-3-6-16,-4 0-3 0,1-4-8 16,-4 0-17-16,-1 0-32 0,-2-1-44 15,-4-2-69-15,-1-1-98 0,-3 0-161 16,-4-1-106-16,-6-2-36 0,-1-3 9 15,-1 1 50-15,-2-2 90 0</inkml:trace>
  <inkml:trace contextRef="#ctx0" brushRef="#br0" timeOffset="136351.98">13163 11952 338 0,'-7'-9'500'16,"2"3"72"-16,-3-1 60 0,4 2-60 16,-3 0-100-16,0 2-66 0,4 0-34 15,-1 1-20-15,0 1-26 0,-3 2-30 16,0 3-34-16,1 0-40 0,0 5-43 0,-4 2-44 15,3 1-24-15,3 2-23 0,0 0-19 16,1 0-18-16,3 4-15 0,6-4-10 16,-2 0-10-16,3-2-5 0,1 0-9 15,3-3-3-15,3-2-1 0,1 1-2 16,7-3-1-16,0-4-5 0,0-1 2 16,3-4 1-16,-3-2 3 0,-2-1 7 0,0-4-5 15,-2-3 2-15,-5-1 2 0,-4-1 2 16,-2-2-3-16,-3-2-5 0,-6 2 7 15,-5 0 3-15,-1 1-2 0,-8 3 1 16,-6 2-2-16,-3 4-2 0,-4 3-5 16,0 5-3-16,-1 5-4 0,-2 1-13 15,3 6-26-15,3 2-68 0,5-1-100 16,5 4-112-16,5 1-124 0,11 0-128 0,0 0-138 16,11-2-77-16,1-1 25 0,6 1 72 15,7-5 107-15,0 1 126 0</inkml:trace>
  <inkml:trace contextRef="#ctx0" brushRef="#br0" timeOffset="136659.85">13365 12026 153 0,'-24'4'453'16,"-3"0"77"-16,-2 3 32 0,0 3 2 15,0 0-122-15,0 2-98 0,7 3-76 16,2 0-55-16,4 0-22 0,5 3-53 15,7-1-46-15,7-3-49 0,3 2-40 16,7-5-32-16,5-1-26 0,8-3-17 16,1-4-4-16,4-5-1 0,1 0 1 0,1-6 3 15,-4 0 8-15,2-3 12 0,-5-1 13 16,-4-2 14-16,-6-1 12 0,-3 0 18 16,-8 0 10-16,-3 1-4 0,-9 3-19 15,-6 2-35-15,-7 3-48 0,-6 4-58 16,-8 7-72-16,-1 2-81 0,-3 2-110 15,0 5-65-15,3 1-7 0,-1 1 23 0,10-1 53 16</inkml:trace>
  <inkml:trace contextRef="#ctx0" brushRef="#br0" timeOffset="136972.1">13527 11864 13 0,'-3'-7'527'0,"3"1"161"16,0 2 145-16,0-1 101 0,0 0-74 15,6 0-170-15,-1-3-159 0,6-1-147 16,7-3-138-16,3-1-95 0,5-1-64 0,3-1-36 15,0 0-33-15,3 1-31 0,-2-2-34 16,-1 3-61-16,-4 1-67 0,-4 3-73 16,-5 1-76-16,-5 1-92 0,-4 2-97 15,-4 2-78-15,-10 0-97 0,-4 5-29 16,-4-1 28-16,-6 4 77 0,3 1 112 16</inkml:trace>
  <inkml:trace contextRef="#ctx0" brushRef="#br0" timeOffset="137796.46">13767 11488 291 0,'0'-3'386'0,"0"0"43"0,0-1-5 0,3-1-67 0,-2 1-70 0,5 1-48 16,-1-2-28-16,2 3-20 0,3-3-18 16,-2 2-16-16,-1 0-22 0,-3-1-22 15,3 3-17-15,-4 0-12 0,-2 1-3 0,3-1-8 16,-4 2-1-16,0 1 3 0,-4 3-2 16,0 5 0-16,-3 1-3 0,-4 4 9 15,0 0 16-15,3-1 31 0,-2-2 36 16,-1 3 25-16,4-5 28 0,0 1 18 15,3-4-7-15,0-1-25 0,1-1-26 16,3-2-19-16,0 0-26 0,0-3-32 16,7-2-23-16,3 0-18 0,5-7-18 0,4 1-19 15,5-3-16-15,5-1-5 0,-1-4-6 16,3 4-2-16,5-2-4 0,-3-1 0 16,0 3-1-16,-2 1 0 0,-4 1 7 15,0 2-5-15,-10 3-10 0,1 0 0 16,-5 4-2-16,-2 2 0 0,0 4-4 15,-4 2 7-15,-2 7 14 0,-5 1 8 0,2 1 5 16,-2 2 3-16,0-1 2 0,0 1 4 16,0 2 8-16,2-2-16 0,0 1 12 15,1-1 9-15,-1-2 10 0,3-3 5 16,1 1 3-16,-1-3 21 0,-1-4-8 16,3 0-6-16,-1-2-9 0,3-3-12 0,0-2-32 15,2-2-29-15,0-3-47 0,2 0-92 16,-3-4-155-16,-2-2-169 0,2 1-166 15,-5-2-207-15,-2 0-92 0,0 0 17 16,-3 0 113-16,0 0 152 0,1 0 177 16</inkml:trace>
  <inkml:trace contextRef="#ctx0" brushRef="#br0" timeOffset="138131.85">14449 11287 26 0,'0'-9'371'0,"3"0"92"0,-2 4 84 0,-1-2 9 0,-1 1-57 0,-2 3-73 0,-5 1-69 16,-6 2-62-16,-4 2-57 0,-4 4-49 0,3 4-37 16,-9 1-26-16,6 1-26 0,4 3-27 15,0-1-23-15,7 0-11 0,10 0-18 16,2 1-19-16,9-1-28 0,8-2-28 15,5-3-31-15,9 0-38 0,1-2-9 16,0-1 2-16,3-1 19 0,-7-1 24 16,-3 1 37-16,-4-2 53 0,-4 1 65 15,-7 2 85-15,-4 0 91 0,-7 4 56 0,-7-2 27 16,-4 1-6-16,-1 0-39 16,-2 0-79-16,0 0-119 0,2-1-130 0,1-2-153 15,1-2-149-15,6 1-158 0,0-2-166 16,1-2-147-16,6-1-18 0,1 0 68 15,0-1 102-15,3-2 136 0</inkml:trace>
  <inkml:trace contextRef="#ctx0" brushRef="#br0" timeOffset="139600.73">14034 11809 227 0,'2'7'431'0,"0"3"83"0,3 0 76 16,4 2-39-16,0 4-57 0,-1 0-26 0,3 2-17 15,3 1-28-15,-3 5-40 0,0 1-39 16,0 1-48-16,-4 4-57 0,2 0-50 15,-3 3-38-15,-4 2-12 0,3-2-19 16,0 0-8-16,-4 0-5 0,2-2-1 0,-6-1-1 16,3-1-6-16,-1-4 3 15,-2 0-21-15,3-5 7 0,0-2-4 0,0-3-10 16,0 0-7-16,3-4-11 0,-3-2 10 16,1-2-14-16,-1-2-10 0,0-2-9 15,3-3-10-15,-1 3-5 0,0-3-5 16,-2 0-6-16,5-3-6 0,-5 1-1 0,4-3-8 15,-2 3-6-15,-2-4-12 16,0 1-13-16,-2 1-14 0,0-2-12 0,0 0-12 16,2 1-12-16,-5 0-10 0,5 3-17 15,0-1-34-15,0 0-90 0,0 1-127 16,0 2-141-16,-2-1-163 0,0 1-208 16,-1-2-78-16,3 1 39 0,3-4 107 15,-1 1 140-15,5-2 176 0</inkml:trace>
  <inkml:trace contextRef="#ctx0" brushRef="#br0" timeOffset="140383.57">15462 12438 373 0,'0'3'567'0,"-1"0"113"0,1 1 147 0,1 1 31 16,2-1-125-16,1 1-93 0,3 5-64 16,7 0-74-16,3 1-118 0,7 3-94 15,3 1-63-15,9 3-37 0,8 1-26 0,7 2-17 16,10 2-4-16,2-1-2 0,6 3 0 16,7-2-7-16,3 2-2 0,-2 1-3 15,0-2-6-15,-1 1-33 0,-3 0-90 16,-1-1 0-16,-6 0 0 0,-3-4 0 0,-11 2 0 15,-2-5 0-15,-9 1 0 0,-5-1 0 16,-3-3 0-16,-5-2 0 0,-6-1 0 16,-4-4 0-16,-6 0 0 0,-1-2 0 15,-1-1 0-15,-6 1 0 0,0-4-16 16,-4 1-223-16,-4-2-138 0,-3-2-213 16,-1 1-238-16,-6-1-245 0,-4-1-98 15,0 1-1-15,2 2 112 0,-1 2 206 0,-1 1 254 16</inkml:trace>
  <inkml:trace contextRef="#ctx0" brushRef="#br0" timeOffset="141139.65">16897 13251 330 0,'-6'-1'461'0,"6"-1"89"0,-1-1 45 0,1 1 15 0,0 0 5 0,0 1-34 0,4-2-57 0,4 0-65 16,3-1-70-16,7 1-108 0,5-3-115 0,5 0-71 16,4 0-43-16,4 0-25 0,1 1-13 15,-1 2-6-15,1 2-7 0,-3 1-2 16,-3 1-3-16,-4 5-1 0,-8 2 3 16,-5 4 7-16,-6 1 1 0,-8 5 2 15,-8 3 12-15,-8 3 12 0,1 0 14 16,-8 2 10-16,1 0 17 0,0 1 15 15,2-4 11-15,5 1 7 0,1-1-1 16,3-1-5-16,4-2-1 0,5-2-6 0,4 2-14 16,5-4-18-16,4 0-19 0,3-2-22 15,3-4-28-15,3 0-28 0,3-3-29 16,1-4-35-16,0-3-42 0,3-3-60 16,2-4-104-16,-5-1-119 0,3-4-137 15,-3-4-133-15,-2 0-128 0,-1-3-57 16,-3-3 53-16,-3 0 100 0,3-3 147 15,-3 1 154-15</inkml:trace>
  <inkml:trace contextRef="#ctx0" brushRef="#br0" timeOffset="141688.64">17631 13177 53 0,'3'-12'341'0,"0"0"67"0,-2 2 68 15,3-1-6-15,-1 1-34 0,1 0-30 16,-1 0-36-16,-2 3-47 0,-1-1-62 0,0 1-76 15,0 0-79-15,0 3-73 0,-4 0-58 16,0 1-38-16,1 0-29 0,-1 1-14 16,3 1-4-16,-2 1 0 0,0 0 3 15,-1 0 9-15,3 0 16 0,1 0 18 16,0 0 21-16,0 1 21 0,0 1 25 16,0-2 23-16,0 1 17 0,0 1 15 15,0-2 9-15,0 0 8 0,0 0 7 0,0 0 5 16,0 3 9-16,1-3 9 0,-1 0 8 15,0 0 6-15,0 1 6 0,0-1 3 16,0 0-3-16,0 2-1 0,0-1 9 0,0 1 7 16,0-1 8-16,-1 4 0 0,-5-2 1 15,-1 7-4-15,-4 0-14 0,0 1-19 16,0 5-20-16,0-2-11 0,0 4-8 16,3 2-8-16,1-1-4 0,4 2-8 15,3-1-7-15,4-1-12 0,3 0-4 16,4-1-15-16,6-4-11 0,1 1-5 15,1 0-6-15,3-3-7 0,0-1-8 16,0-2 0-16,3-3-2 0,-3-3-3 0,0 0-2 16,1-3 5-16,-3-3-1 0,0 1 6 15,-4-3 7-15,-1-2 11 0,-4 0 13 16,-4-1 13-16,1-1 11 0,-5 0 2 16,-6 0 4-16,-1 0-4 0,-7 2-9 15,-7 1-10-15,-6 1-9 0,-3 4-10 0,-3 1-8 16,-2 1-19-16,3 4-28 0,4-1-56 15,3 2-96-15,4 2-121 0,6-1-172 16,2 0-223-16,9 0-128 0,2-3-24 16,6-2 53-16,7-2 105 0,1-2 162 15</inkml:trace>
  <inkml:trace contextRef="#ctx0" brushRef="#br0" timeOffset="142001.92">18101 13093 249 0,'0'-4'737'0,"1"-2"139"0,-1 3 73 0,5-2 38 0,-3 1-195 0,5-1-259 0,0 1-233 15,1-2-141-15,3 1-96 0,0-2-123 16,6 1-161-16,-2-2-181 0,0 2-194 16,0 0-202-16,2 0-88 0,-5 2 25 15,-1-1 103-15,-1 0 151 0,-3 3 176 0</inkml:trace>
  <inkml:trace contextRef="#ctx0" brushRef="#br0" timeOffset="143039.54">18250 12702 110 0,'-3'0'324'0,"0"-2"65"0,-1 2 23 0,4-2-7 0,0 2-18 15,3 0-14-15,1-1 0 0,0 0 24 16,7 1 54-16,3-2 23 0,4-1-8 16,4 0-16-16,4-1-38 0,3-1-72 0,6-1-103 15,-1 0-80-15,-1 1-44 0,2 2-42 16,-5-2-32-16,-1 3-18 0,-2 1-12 15,-7 1-1-15,-5 3-1 0,-1 2 7 16,-5 3 10-16,-9 3 4 0,-2 2 9 16,-8 4 5-16,-3-1 0 0,0 1 1 15,-2 1-2-15,1-4-3 0,0 2-4 0,6-3-3 16,1-1-4-16,5 1-3 16,2-3-7-16,6 0-8 0,5-1-12 0,6 0-16 15,2 0-20-15,3-1-22 0,5-1 15 16,0 1-25-16,-1-1-9 0,-1 1 0 15,-1 3 12-15,-4 0 19 0,-2 3-8 16,-7 0 43-16,-4 2 27 0,-5 2 34 0,-6 1 21 16,-7-1 14-16,-5 2 9 0,-2-2-5 15,-4-2 1-15,-3-1-16 0,-1 1-9 16,-3-4-13-16,2 1-19 0,0-3-22 16,1-1-36-16,1-1-40 0,3-2-59 15,0 0-112-15,8-4-145 0,3 2-133 16,3-3-137-16,4-1-174 0,1-1-107 15,6-5 23-15,4-3 102 0,4 0 123 16,1-3 147-16</inkml:trace>
  <inkml:trace contextRef="#ctx0" brushRef="#br0" timeOffset="143961.13">19227 12402 23 0,'0'0'217'0,"-1"-2"11"0,1 2-9 0,-6-2-13 0,5 2-8 15,-2 0-12-15,0 0-6 0,-1 0 10 16,-3 0 18-16,2 4 22 0,-6-1 23 16,-3 3 31-16,-1 3 43 0,-6 1 46 15,2 4 39-15,-5 4 9 0,5 2-15 0,-3 0-32 16,1 5-48-16,3 0-67 0,3 0-68 15,7 2-46-15,-2 1-31 0,9-3-24 16,1-2-25-16,5 2-20 0,5-4-14 16,4-3-12-16,1 0-9 0,3-2-4 15,1-4 0-15,3-4 1 0,0-4-2 16,2-2 1-16,-5-4 2 0,3 0 4 16,-1-4 1-16,-3-3 9 0,0 1 9 15,-6-3 10-15,-1 0 7 0,-4 0 6 0,0 1 1 16,-4-1-5-16,-10 2-10 0,-3-2-11 15,-5 4-16-15,-10-1-20 0,-5 5-16 16,-5 2-11-16,-5 1-13 0,3 1-21 0,0 2-30 16,-2 2-58-16,6 2-117 15,4 1-160-15,3 2-204 0,4-1-217 16,4 2-92-16,4-2 1 0,6-2 90 16,3-1 149-16,0-4 208 0</inkml:trace>
  <inkml:trace contextRef="#ctx0" brushRef="#br0" timeOffset="146439.89">16432 11446 49 0,'6'3'322'0,"-4"0"63"0,5-3 40 0,-5 2-2 16,0-2-23-16,3 1-26 0,-3-1-9 15,1 2 18-15,-3-2 52 0,0 0 17 16,-3 0 5-16,1 0-17 0,2 0-36 16,0-2-63-16,-2 1-95 0,-1-2-60 15,1-2-38-15,0 0-24 0,-2-3-13 16,-1-3-5-16,1-2-4 0,-3-2 0 0,1-5-3 16,-3-1-2-16,0-4-2 0,-5-4 1 15,1-5 3-15,0-5 1 0,-7 1-1 16,2-4 7-16,-4-3 3 0,0 0-4 15,-3 0-7-15,-1-2-10 0,-2 0-4 16,5 0-7-16,1 3-18 0,-2 5-59 0,5 2 0 16,1 4 0-16,0 3 0 0,0 5 0 15,6 2 0-15,1 2 0 0,-2 4 0 16,5 1 0-16,0 4 0 0,1 3 0 16,3 2 0-16,1-1 0 0,0 3 0 15,2 3 0-15,1-1 0 0,1 0 0 16,-1 1 0-16,6 2-167 0,-5 0-77 0,3 0-57 15,3 2-132-15,-3 1-172 0,-1 0-174 16,1 3-204-16,-1-2-94 0,-6-1 3 16,2 0 118-16,-2-1 179 0,0-2 204 15</inkml:trace>
  <inkml:trace contextRef="#ctx0" brushRef="#br0" timeOffset="147489.6">14798 10132 154 0,'-11'2'412'0,"-2"-2"54"0,4-2 45 16,2 1-38-16,5-4-123 0,4-1-100 16,5-2-62-16,8-2-47 0,8-3-38 0,8 0-30 15,9 0-22-15,4-2-17 0,8-1-13 16,0 2 0-16,5-1 1 0,-1 0 6 16,-2 2 3-16,-7 2 3 0,-3 1-3 15,-5 4-8-15,-9 0-10 0,-2 3-7 16,-11 4 3-16,-4 3 4 0,-9 3 9 15,-8 2 11-15,-3 1 6 0,-4 4 3 0,-4 1-6 16,1-2-3-16,3 3-4 0,0-2-5 16,4 0 2-16,6-1 11 0,2 1 12 15,6-1 23-15,4-2 19 0,6 2 21 16,2-2 29-16,2 1 14 0,2 0 15 16,-1 0 1-16,1 0 6 0,-3 1 13 15,-5 1-8-15,-4 1-1 0,-6 1-3 0,-7 2-1 16,-5 0-6-16,-6-1-20 0,-5 1-15 15,-2 2-18-15,-2-4-17 0,-3-2-23 16,1 1-18-16,1-4-17 0,1-1-22 16,0-2-33-16,3 0-47 0,1-4-75 15,1-1-119-15,2 0-128 0,1-3-105 16,2 0-87-16,2-3-63 0,6 0-33 16,4-3-9-16,4 0 1 0,7-3 46 15,7-3 72-15,4 0 82 0,3-2 93 0</inkml:trace>
  <inkml:trace contextRef="#ctx0" brushRef="#br0" timeOffset="147835.56">15819 9999 347 0,'12'-17'539'0,"-1"2"73"0,-8 3 56 0,-6 1-34 0,-4 4-99 16,-4 3-46-16,-6 2-43 0,0 4-32 15,-8 5-30-15,0 5-52 0,3 2-77 16,-2 1-86-16,4-1-60 0,2 3-37 0,5 1-19 15,6 0-14-15,3 0-9 0,10 2-12 16,5-2-14-16,5 0-14 0,8-2-15 16,3-3-15-16,7-1-12 0,-1-2-11 15,3-3-9-15,1-4-10 0,0 0-14 16,-1-4 0-16,-3-3 3 0,-4 1 10 16,-11-6 16-16,-3 1 15 0,-12-2 20 0,-10-1 11 15,-5 2 8-15,-16-2 3 16,-5 3 3-16,-7 4 5 0,-7 1 1 0,-4 5 4 15,3 3 5-15,-4 3-2 0,3 3-26 16,7 1-64-16,5 1-82 0,8 2-92 16,8 1-96-16,13 0-101 0,8 0-90 15,8-1-96-15,8-1-24 0,7-4 32 0,3-1 64 16,3-4 87-16,2-2 106 16</inkml:trace>
  <inkml:trace contextRef="#ctx0" brushRef="#br0" timeOffset="148147.26">16077 9985 340 0,'1'-3'575'0,"3"-1"142"0,-1 2 133 0,1-1-6 0,0 2-131 0,3-2-136 16,-1 0-116-16,2-2-140 0,0-1-128 16,3 0-98-16,3-1-104 0,1 1-114 15,2-2-103-15,1 3-89 0,-3-2-103 16,0 1-95-16,-4 2-63 0,3-2-90 15,-6 1-21-15,-1 0 30 0,-3 0 65 0,-4 0 92 16,0-1 109-16</inkml:trace>
  <inkml:trace contextRef="#ctx0" brushRef="#br0" timeOffset="149284.51">16489 9499 46 0,'0'0'381'0,"0"2"68"0,-4-1 60 0,-3 4 5 0,-2 1-83 16,-6 3-85-16,-1 1-63 0,-1 2-51 0,-4 4-53 15,4-2-48-15,-1 1-41 0,7 2-30 16,0-2-19-16,4 0-8 0,3-2 1 16,4 0 5-16,4 0 4 0,3-3 1 15,6-1 1-15,3 0-5 0,4-2-9 16,2-2-10-16,0-1-6 0,3-1-5 16,-1-1-7-16,-2-2-3 0,2 0-1 0,-2 0-2 15,1-2 2-15,0-1 1 0,-7-1 1 16,2 1 0-16,0-3 1 0,-4 1 1 15,0-1 5-15,-2-1 10 0,-1 0 19 16,-1-4 23-16,-2 1 25 0,-1-2 22 16,-3-3 26-16,0 0 22 0,-4-2 22 15,0 1 6-15,0-2 1 0,0 1-1 0,0 0-8 16,0 4-19-16,-1 0-27 0,-2 4-19 16,-1 0-24-16,4 3-22 0,-3 1-24 15,3 3-10-15,0 4 21 0,6 6-2 16,-1 4 8-16,5 6 22 0,4 4 13 15,4 5 7-15,-2 3-21 0,9 1 10 16,-3 1 4-16,3 0-14 0,1 2-2 0,-1 0-4 16,1-2-12-16,-1 0-11 0,-4-3-5 15,-2 0-15-15,-3-6-8 0,-3-2-6 16,-2-3-8-16,-2-3-14 0,-2-2-28 16,-3-1-22-16,3-4-39 0,-5 1-58 15,-2-5-128-15,0-1-170 0,0-3-181 16,-2-3-186-16,-3-5-159 0,1-3-47 15,0-4 75-15,-1-3 154 0,0-3 181 0</inkml:trace>
  <inkml:trace contextRef="#ctx0" brushRef="#br0" timeOffset="149599.67">17254 9444 242 0,'-7'-6'470'0,"1"1"75"0,-6 2 63 0,-3 3-35 0,-3 2-86 16,-6 4-56-16,-3 4-2 0,-4 4-3 15,0 5-19-15,-1 5-30 0,4 2-48 16,1 1-65-16,5 2-87 0,7-1-66 16,4-1-36-16,4 0-25 0,7-2-6 15,4-1-12-15,5-3-7 0,4-2-8 16,5-3-13-16,7-3-11 0,1-2-13 15,1-5-7-15,1-3-9 0,-3-2-7 16,2-2-7-16,-7-2 1 0,0-2-12 0,-9-2-17 16,-4-2-14-16,-7 0-23 0,-9-2-25 15,-9 1-34-15,-7 2-34 0,-4 3-40 16,-6 2-64-16,-3 3-94 0,1 3-133 16,1 2-130-16,3 3-42 0,5 1 17 15,12 2 64-15,2-1 113 0</inkml:trace>
  <inkml:trace contextRef="#ctx0" brushRef="#br0" timeOffset="150584.37">18323 11185 4 0,'-3'3'382'0,"-1"-3"80"0,1 2 70 0,-1-1 25 0,3-1-36 15,1 2-16-15,-3-2 28 0,3 0 11 16,3 0 0-16,1 1-17 0,4-1-31 15,9 0-73-15,-2 0-92 0,10 0-57 0,5 0-25 16,6 0-10-16,8 0-10 0,7 0-10 16,7-1-21-16,11-1-22 0,9 2-28 15,10 2-50-15,8-1-98 0,8 2 0 16,9 2 0-16,2-2 0 0,0 0 0 16,-2 3 0-16,-4-1 0 0,-4 2 0 0,-13-3 0 15,-5 2 0-15,-8-1 0 0,-13 0 0 16,-8-2 0-16,-11 1 0 0,-10-2 0 15,-8 1 0-15,-7-1 0 0,-6 0 0 16,-12-2 0-16,-8 0 0 0,-12 0 0 16,-6-2 0-16,-7 2-121 0,0 0-284 0,5 2-209 15,-3-2-227-15,8 0-243 0,-2-2-90 16,6 0 0-16,4 1 100 0,1-2 208 16,9-2 253-16</inkml:trace>
  <inkml:trace contextRef="#ctx0" brushRef="#br0" timeOffset="157062.43">20624 10894 116 0,'-11'6'532'0,"-7"2"97"0,-4 1 73 0,-7 4 76 16,-4 3-106-16,-4 2-110 0,-3 2-92 15,2 1-60-15,0 0-47 0,5 0-62 16,4-1-82-16,5-2-76 0,6-2-47 16,7 1-34-16,2-2-21 0,4-2-10 0,5 1 0 15,7-2 1-15,4 0 0 0,5-2 0 16,1 1-4-16,3-2-5 0,2 0 0 16,1-1-11-16,-3 2-7 0,0-2 1 15,0 1-2-15,-2-1 0 0,0 1-11 16,-6-3 4-16,-1 0 4 0,0 0 3 15,-4-3 10-15,0 0 15 0,3-1 23 16,-6-1 20-16,3-4 16 0,-2 0 9 0,1-6 8 16,-1-2 1-16,5-5 0 0,-3-2-5 15,1-5-4-15,-1-2 1 0,3-3-8 16,1-1-10-16,1-1-4 0,-1-1-2 16,6 3-7-16,-5 0-3 0,5 2-1 15,-5 5 4-15,2-1-4 0,0 6-8 16,-6 2-2-16,0 4-3 0,-1 4 0 0,0 1-30 15,0 7-20-15,0 4 0 0,-3 10 0 16,-4 8 0-16,-3 9 0 0,-2 9 0 16,-6 4 0-16,-2 4 0 0,-2 3 0 15,-3 1 0-15,0 0 0 0,2-4 0 16,-2 0 0-16,0-4 0 0,1-3 0 16,2-6 0-16,1-4 0 0,3-6 0 0,3-6 0 15,-2-3 0-15,6-3 0 0,3-5 0 16,1-3 0-16,1-6 0 0,3-4 0 15,2-6-237-15,2-5-681 0,2-5-194 16,1-5-136-16,1-3-11 0,5-4 77 16,1-2 202-16,1-3 254 0,3-2 258 15</inkml:trace>
  <inkml:trace contextRef="#ctx0" brushRef="#br0" timeOffset="157364.6">20936 11022 330 0,'-11'-2'635'0,"4"-1"168"0,0 2 132 0,6-1 34 0,1-1-167 0,4-1-167 15,7-2-141-15,9-2-156 0,4-1-126 16,10-1-84-16,3 1-55 0,6-1-33 16,3 1-23-16,1 0-10 0,-1 2-3 0,-2 1 9 15,-4 3 9-15,-4 1 17 0,-3 2 19 16,-4 7 21-16,-8 3 23 0,-6 5 17 15,-5 8 13-15,-6 2 7 0,-7 8 3 16,-1 2-4-16,-4 3-15 0,-3 1-17 16,-3 2-19-16,0-2-21 0,2-1-19 0,-2-2-19 15,0-4-23-15,3-1-33 0,0-3-41 16,3-2-55-16,-3-4-79 0,1-4-164 16,3-1-199-16,0-4-205 0,3-1-241 15,-3-3-90-15,2-3-1 0,-5-3 126 16,3-1 185-16,-1-5 219 0</inkml:trace>
  <inkml:trace contextRef="#ctx0" brushRef="#br0" timeOffset="157541.18">20929 11343 288 0,'5'-2'678'0,"8"-1"161"0,7 2 114 15,7-1 70-15,2 1-221 0,9-3-207 16,-3 2-175-16,5-1-168 0,2-2-160 15,1 2-205-15,-2 0-225 0,2 0-240 0,0 2-250 16,-3-4-120-16,-3 2-20 0,0-1 99 16,-2-1 161-16,-5 1 211 0</inkml:trace>
  <inkml:trace contextRef="#ctx0" brushRef="#br0" timeOffset="157772.24">22046 11224 308 0,'3'0'793'0,"4"-1"161"16,1 1 103-16,2-2 63 0,4 0-210 16,-3 1-259-16,4 0-255 0,0-2-165 15,3 1-131-15,3-2-156 0,-5 4-207 16,9-2-210-16,-3 1-216 0,3-1-233 15,0 1-95-15,0-3 28 0,-3 0 133 16,1 0 172-16,2-2 197 0</inkml:trace>
  <inkml:trace contextRef="#ctx0" brushRef="#br0" timeOffset="158505.48">22993 10833 390 0,'-11'0'472'0,"-7"1"65"0,-4 4 41 0,-1 4-80 16,-6 1-77-16,-6 5-25 0,2 3 2 15,3 3 0-15,-2 2-18 0,3 2-25 16,7 4-43-16,3-1-62 0,3 2-66 16,9-1-55-16,2 3-36 0,12-1-27 15,7-3-23-15,4 1-29 0,4-2-28 16,7-4-28-16,1-3-21 0,3-2-17 15,2-3-9-15,-1-3 10 0,1-3 51 0,-5-3 6 16,-2-3 30-16,-5-2 34 0,-5-1 33 16,-3-2 12-16,-8-4-34 0,-4 0 9 15,-13-5-23-15,-5 2-40 0,-7 0-52 16,-4 0-42-16,-6 0-43 0,3 4-54 16,0-1-60-16,4 3-49 0,3 1-48 15,4 2-59-15,7 0-53 0,6 1-114 0,6 2-71 16,9-2-4-16,1 3 42 15,8-2 72-15,2 0 83 0</inkml:trace>
  <inkml:trace contextRef="#ctx0" brushRef="#br0" timeOffset="159181.04">24089 10765 92 0,'-6'-3'470'0,"-5"2"113"0,-5-2 112 0,-4 1 90 16,-7 2-22-16,-3 0-78 0,-4 0-85 15,-5 2-83-15,-1 2-94 0,0 1-124 0,1-1-110 16,9 1-69-16,2 0-51 0,9 3-31 16,1 0-17-16,8 0-10 0,9 5 0 15,2 0-8-15,10 0 0 0,7 4-2 16,4 1-5-16,2 2-13 0,-1 0-1 15,5 2 0-15,-5 1 0 0,-2 0 6 16,-3 1 9-16,-6 2 29 0,0-2 17 0,-10 0 30 16,-2-1 35-16,-8-1 36 0,-9-1 37 15,-2-3 21-15,-7 0 18 0,-9-3 3 16,-5 0-11-16,-1-3-20 0,-2-2-30 16,6-1-45-16,2-2-117 0,12 0 0 15,1-3 0-15,5-1 0 0,6 0 0 16,3-2-132-16,4-1-223 0,5 0-269 0,6-4-312 15,4-1-212-15,4-4-75 0,6 0 16 16,4-1 121-16,-2 0 250 0,2-1 314 16</inkml:trace>
  <inkml:trace contextRef="#ctx0" brushRef="#br0" timeOffset="170164.72">18418 10628 214 0,'-29'-2'410'0,"0"0"41"0,-1-1 32 0,-5 0-70 16,1 2-108-16,-2-3-79 0,-3 3-40 0,2-3-23 15,-3 4-18-15,0 0-21 0,0 0-18 16,0 3-12-16,-2-1-3 0,-2 3 7 16,-3 0 14-16,0 2 24 0,0 4 24 15,-5 1 25-15,-2 4 11 0,-4 4 2 16,0 5 2-16,0 4-6 0,-1 2-11 0,3 5-14 15,0 5-10-15,8 2-10 0,3 4-14 16,5 4-11-16,5 1-8 0,4 2-12 16,6 2-13-16,12 1-4 0,4-2-13 15,13-1-8-15,10-1-12 0,8-4-12 16,16-4-5-16,8-1-7 0,14-7-5 16,7-5-10-16,8-8-8 0,9-8-9 0,3-4-5 15,7-7-5-15,1-8 1 0,3-3 0 16,0-8-1-16,-5-2 12 0,2-7 6 15,-2-1 8-15,-5-3 10 0,-8-3 14 16,-3 2 20-16,-9-4 4 0,-9-1 1 16,-5-1-2-16,-10-4-7 0,-6-4-9 15,-9-1-8-15,-9-3-3 0,-7-3-4 0,-10-1-5 16,-8-1-5-16,-13-3-6 0,-4 1-6 16,-7 0-4-16,-6 2-6 0,-5 6-12 15,-12 8-17-15,-10 5-34 0,-8 11-77 16,-13 10-146-16,-15 9-163 0,-8 11-180 15,-13 9-225-15,-3 9-139 0,-4 6-19 16,1 7 94-16,9 8 141 0,10 5 177 0</inkml:trace>
  <inkml:trace contextRef="#ctx0" brushRef="#br0" timeOffset="171416.64">16525 11136 360 0,'-31'6'446'0,"-2"0"41"0,1 1 49 0,-1 4-94 0,0 3-92 15,-5 4-34-15,5 5 5 0,0 4 22 16,1 6 1-16,7 6-10 0,6 3-10 15,5 6-24-15,7 2-43 0,7 2-49 0,12 2-47 16,4 5-36-16,8 1-39 0,10 3-33 16,7-2-24-16,6 1-18 0,9-3-23 15,3-2-16-15,8-5-7 0,2-4-6 16,6-6 1-16,1-6 8 0,8-8 34 16,-1-9 28-16,6-6 26 0,-3-9 27 0,3-8 23 15,-4-9 17-15,-6-5 12 0,-6-5-2 16,-5-6-10-16,-9-7-7 0,-5-3-15 15,-10-6-16-15,-9-4-24 0,-12-7-20 16,-6-2-29-16,-16-8-20 0,-9-5-14 16,-13-4-9-16,-8-1-4 0,-12-1 13 15,-9 2 18-15,-9 6 13 0,-6 6 13 16,-7 9 6-16,-3 9 4 0,-5 9-14 0,-4 10-2 16,-5 14-15-16,-7 12-19 0,-2 14-38 15,-1 12-81-15,1 11-154 0,7 9-198 16,8 9-196-16,12 5-234 0,20 2-98 15,15 0 9-15,19-2 124 0,15-3 172 16,13-4 192-16</inkml:trace>
  <inkml:trace contextRef="#ctx0" brushRef="#br0" timeOffset="172703.67">15685 11958 76 0,'-25'-8'381'0,"-3"1"55"0,-4-1 49 0,-1 1 1 0,-3 1-100 0,-4 1-63 16,0 0-21-16,-1 4-5 0,-2 0-5 15,-1 2-8-15,-3 2-7 0,0 3-4 0,0 2-3 16,-1 2-5-16,1 2-10 16,-2 2-16-16,0 2-16 0,2 5-33 0,1 4-35 15,2 4-36-15,1 4-24 0,6 6-13 16,4 5-17-16,4 1-11 0,7 4-11 16,5 1-6-16,11 2-11 0,8 2-13 15,9-2-7-15,11 0-6 0,12-3-13 0,8-2-1 16,14-7-4-16,10-5 3 15,7-7-2-15,11-8 2 0,9-9 4 0,3-9 2 16,5-8 8-16,5-11-3 0,-1-3 2 16,-1-10 1-16,1-3 1 0,-7-3 0 15,-7-3-9-15,-8-2 2 0,-13-1 2 0,-8-1 1 16,-11-1 4-16,-11-2 6 0,-13-2 4 16,-11 1 7-16,-14-4-2 0,-15-1-8 15,-19-4-9-15,-16 4-10 0,-17 1-2 16,-12 3-4-16,-13 5 1 0,-8 11 9 15,-8 6 7-15,-5 9 4 0,-7 12-13 16,-1 10-38-16,0 11-96 0,10 9-151 16,11 11-173-16,12 8-208 0,19 7-196 0,19 2-75 15,19 5 35-15,20-1 115 0,18-5 157 16,15-2 202-16</inkml:trace>
  <inkml:trace contextRef="#ctx0" brushRef="#br0" timeOffset="174786.39">14558 12315 97 0,'-22'-10'467'0,"-7"3"74"0,-4 0 66 16,-6-1 71-16,2 1-96 0,-3 1-48 0,0 1-18 15,0-1-19-15,3 2-31 0,1-1-45 16,0 1-90-16,5 2-113 0,-2 1-77 15,4 2-54-15,0 2-35 0,0 5-17 16,-2 7-5-16,-2 6 0 0,-1 7 2 16,-1 12 7-16,1 6 6 0,1 8-3 15,8 7-8-15,3 5-8 0,7 3-2 0,8 0-2 16,11 1 0-16,14 1-2 16,11-6-2-16,14-4-2 0,11-4-12 0,8-7-19 15,8-7-22-15,8-8-10 0,5-8 3 16,2-11-4-16,5-8 4 0,1-12 8 15,3-7 16-15,-2-9 11 0,0-7 1 16,-10-4 7-16,-7-7 7 0,-8-1 13 0,-14-3 8 16,-10-1 6-16,-13-4 5 15,-12-1 10-15,-14-2 4 0,-12-4-2 0,-17-1-9 16,-10-1-5-16,-14-1-2 0,-9 2-9 16,-13 5-3-16,-9 1 2 0,-6 7 5 15,-7 10-1-15,-4 7-10 0,-2 10-21 16,-3 12-33-16,1 10-64 0,4 13-145 15,6 10-190-15,11 12-233 0,15 10-246 16,14 9-113-16,18 3-14 0,19-1 96 16,21-2 169-16,15-6 226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9-23T15:50:42.104"/>
    </inkml:context>
    <inkml:brush xml:id="br0">
      <inkml:brushProperty name="width" value="0.05292" units="cm"/>
      <inkml:brushProperty name="height" value="0.05292" units="cm"/>
      <inkml:brushProperty name="color" value="#FF0000"/>
    </inkml:brush>
  </inkml:definitions>
  <inkml:trace contextRef="#ctx0" brushRef="#br0">2916 11166 453 0,'3'-14'717'0,"-2"4"100"0,2 1 75 0,-3-1 4 0,0 3-229 0,0 1-196 0,0 1-136 15,0-1-76-15,0 3-57 0,0-1-40 16,0 3-28-16,0-3-22 0,0 4-17 16,0-1-9-16,0 0-7 0,0 1-6 15,-3 1 1-15,6 2 1 0,-3 2 9 16,4 4 10-16,0 4 10 0,3 5 8 0,0 8 4 16,0 2-3-16,0 8-5 0,-3 8-5 15,-1 4 1-15,-2 5 4 0,-1 6 11 16,-1 4 2-16,-2 5 2 0,0 2-7 15,-1 5-49-15,0 1-67 0,1 6 0 16,2-3 0-16,1 3 0 0,0 0 0 0,4-1 0 16,0 1 0-16,6 4 0 0,-2-1 0 15,3 3 0-15,0-3 0 0,4 5 0 16,-1-1 0-16,4-1 0 0,-3-1 0 16,1 0 0-16,0-3 0 0,-1 0 0 15,-1-2 0-15,-3-2 0 0,2-1 0 0,0-1 0 16,-2-3 0-16,0 0 0 15,0-2 0-15,-2-3 0 0,2 0 0 0,-2-2 0 16,0-3 0-16,0-1 0 0,0-3 0 16,-2-1 0-16,-1-1 0 0,-1-2 0 0,-1-2 0 15,1-2 0-15,-3-3 0 0,0-1 0 16,-2-1 0-16,-4-3 0 0,-1-1 0 16,1-6 0-16,-5 1 0 0,0-4 0 15,0-4 0-15,-2-1 0 0,0-3 0 16,0 0 0-16,0-6 0 0,2-2 0 15,0-2 0-15,0-1 0 0,3-6 0 16,-1-1 0-16,4-2 0 0,-1-2 0 0,2-1 0 16,0-1 0-16,2 0 0 0,0-3 0 15,-3 2 0-15,3-2 0 0,0 0 0 16,0 0 0-16,0 0 0 0,0-2 0 16,0 2 0-16,0 0 0 0,-2-2 0 15,2 1 0-15,0 0 0 0,0 1 0 16,2-2 0-16,-2 2 0 0,3 0 0 0,-3-1 0 15,2 1 0-15,2-2 0 0,1 2 0 16,3 0 0-16,6 0 0 0,4 0 0 16,8-1 0-16,3 1 0 0,9 0 0 15,6-2 0-15,7 1 0 0,11-1 0 16,7 1 0-16,7-3 0 0,8 2 0 0,7-3 0 16,6 2 0-16,5-1 0 0,6 0 0 15,10 1 0-15,7-2 0 0,6-1 0 16,7 1 0-16,4-2 0 0,6 1 0 15,4-2 0-15,5 2 0 0,6-1 0 0,8 1 0 16,2-3 0-16,2 4 0 0,6-1 0 16,-1-1 0-16,4 2 0 0,3-1 0 15,-1-1 0-15,-4 1 0 0,-1-2 0 0,-4 2 0 16,0 0 0-16,-5-1 0 16,-5-1 0-16,-7 2 0 0,-9-1 0 0,-2-1 0 15,-11 1 0-15,-11 1 0 0,-8-1 0 16,-7 2 0-16,-10-1 0 0,-11 3 0 15,-11-2 0-15,-14 2 0 0,-8 2 0 16,-11-1 0-16,-9-1 0 0,-9 3 0 16,-7-1 0-16,-4 1 0 0,-5 0 0 0,-4 1 0 15,-3-1 0-15,-1 0 0 0,-3 1 0 16,1 1 0-16,-3-2 0 0,2 0 0 16,-2 0 0-16,2 0 0 0,-2 0 0 15,0 0 0-15,2 0 0 0,-2-2 0 16,0 1 0-16,-2-3 0 0,-2 1 0 0,1-5-226 15,-4-2-721-15,3-2-271 0,-3-2-83 16,-1-1 27-16,1-1 98 0,0-1 187 16,-1 1 273-16</inkml:trace>
  <inkml:trace contextRef="#ctx0" brushRef="#br0" timeOffset="2345.58">5024 11716 52 0,'-23'-7'134'0,"-5"-1"13"0,2 1 18 0,-3 0 18 16,3 2 12-16,-1-1-2 15,0 0-10-15,3 0-6 0,2 1 4 0,-3-1 17 16,3 1 26-16,0 0 21 0,4-1 13 15,0 1 3-15,0-1-3 0,3 0-11 16,-3 2-15-16,3-2-11 0,-3 0 1 16,0 1 17-16,0 0 7 0,-1 3 14 15,-2-3-1-15,-1 2-14 0,-3 2-23 16,-1 0-45-16,0 1-36 0,-2 1-41 16,-1 2-29-16,3 2-13 0,-3 0-6 0,0 3 7 15,-3 0 3-15,2 5 10 0,-2 0 3 16,-1 2 5-16,2 3 7 0,0 2-3 15,2 1-2-15,0 3-3 0,5 1 3 16,4 2-5-16,0 5-7 0,5-1 5 16,1 2 2-16,6 3 5 0,1 2 0 15,4-2 4-15,3 4 2 0,5-1-3 0,1 2 0 16,4-1-6-16,5 4-1 16,5-1-8-16,2 1-2 0,5 1 2 0,0-2-4 15,1 0 0-15,3 1-3 0,5 0-47 16,0-1-16-16,1 1 0 0,3-2 0 15,3 0 0-15,1-2 0 0,7-1 0 0,0-2 0 16,7 2 0-16,4-3 0 16,3 1 0-16,1-3 0 0,10-1 0 0,-1 0 0 15,5-2 0-15,3-3 0 0,-2 0 0 16,6 0 0-16,4-5 0 0,6 1 0 16,2-1 0-16,3-2 0 0,5-2 0 0,-2 1 0 15,1-2 0-15,3-2 0 0,-3 0 0 16,2 1 0-16,-2 0 0 0,-2-2 0 15,3 0 0-15,0 1 0 0,-2 1 0 16,-3-3 0-16,0 4 0 0,-4-4 0 16,2 1 0-16,-2 2 0 0,-3-2 0 0,0-2 0 15,-1 1 0-15,-3-1 0 16,3-1 0-16,-3-1 0 0,-3-1 0 0,1-1 0 16,-2 0 0-16,-3 0 0 0,0-1 0 15,-1-2 0-15,-3-2 0 0,0 3 0 16,-4-4 0-16,-3 1 0 0,0-3 0 0,-4-1 0 15,-2 0 0-15,-4-1 0 0,-2-3 0 16,0 1 0-16,-6-4 0 0,-4-1 0 16,0-2 0-16,-4-2 0 0,-5-3 0 15,-4-3 0-15,-1-3 0 0,-3-4 0 16,-5-2 0-16,-1-5 0 0,-3 1 0 16,-1-4 0-16,-4-1 0 0,-2 0 0 0,-5-3 0 15,-2 0 0-15,-4-1 0 0,-4-2 0 16,-3 0 0-16,-5 1 0 0,-6 0 0 15,0 3 0-15,-5-3 0 0,-4 1 0 16,-2-1 0-16,-5 1 0 0,-1 1 0 16,-4-2 0-16,-1 2 0 0,-3 1 0 0,-1-2 0 15,1 1 0-15,-4 2 0 0,3-1 0 16,-6-1 0-16,3 2 0 0,-4-2 0 16,-3 1 0-16,-3-2 0 0,-2 5 0 15,-4 1 0-15,0 1 0 0,-1 0 0 16,-3 3 0-16,0-1 0 0,0 3 0 0,-3 2 0 15,1 0 0-15,0 0 0 0,-3 1 0 16,-4-1 0-16,3 2 0 0,-3-1 0 16,0 1 0-16,-4 0 0 0,-2 3 0 15,-3-2 0-15,-4 2 0 0,-1 0 0 16,-4-1 0-16,-4 0 0 0,-4 0 0 0,-3 1 0 16,-2 0 0-16,0 0 0 15,3 0 0-15,-1 2 0 0,4 1 0 0,0 1 0 16,3 2 0-16,5 2 0 0,0 2 0 15,-3 1 0-15,0 4 0 0,-4 0 0 16,-5 4 0-16,0 4 0 0,-3-1 0 0,-1 4 0 16,-2 1 0-16,0 0 0 0,0 2 0 15,2-1 0-15,4 2 0 0,4 0 0 16,7 0 0-16,5 0 0 0,4 0 0 0,7 0 0 16,2 0 0-16,7 0 0 0,3 0-164 15,2 1-264-15,6 1-185 0,0-1-211 16,4 4-244-16,0-2-87 0,6 0 1 15,1 4 94-15,4-1 196 0,3 1 241 16</inkml:trace>
  <inkml:trace contextRef="#ctx0" brushRef="#br0" timeOffset="6745.08">3438 11673 18 0,'0'0'174'0,"0"0"21"0,0 0 11 0,0-2 0 15,0 1-9-15,0 1-12 0,0-2-9 16,3 2-14-16,-3-1-9 0,1 1-4 15,-1 0 0-15,0 0 0 0,0 0-1 16,0 0 4-16,0 0-1 0,3 0-5 16,-3 0-6-16,0 0-11 0,0 0-12 15,0 0-13-15,0 0-11 0,2 0-8 0,-2 0-4 16,2 0 3-16,-2 0 6 16,0 0 10-16,3 0 16 0,-3 0 19 0,1-2 29 15,-1 2 31-15,0 0 31 0,0 0 21 16,0 0 8-16,0 2-8 0,0-2-22 15,0 0-36-15,0 0-33 0,0 0-29 16,3-2-17-16,-3 4-11 0,0-2-7 16,0 0-1-16,0 0-8 0,0 0-8 15,0 0-10-15,0 0-9 0,0 0-8 0,0 0-10 16,0 0-8-16,0 0-7 0,0-2-3 16,0 2-6-16,0 0-1 0,0 0-1 15,3 0 2-15,-3 0-5 0,1 0 4 16,-1 0 6-16,0 0 2 0,3 0 2 15,-3 0 2-15,0 0 8 0,0 0-1 16,0 0-1-16,0 0 0 0,0 0 6 0,0 2 1 16,0-2 4-16,0 0 3 0,0 0 2 15,0 0 4-15,0 0-3 0,0 0-1 16,0 0-5-16,0 0-4 0,0 0-3 16,0-2-4-16,0 2-3 0,0 0-1 15,0 0-2-15,0 0-2 0,1 0 0 16,-1 0 1-16,0 0-4 0,0 0 1 15,0 0 6-15,0 0 5 0,0 0 2 0,0-1-2 16,0 1 5-16,0 0-3 0,0 0-4 16,-1 0-5-16,1 0-5 0,0-2-2 15,0 4-3-15,0-2-6 0,0 1-2 16,0-1-4-16,0 0-1 0,0-1 0 16,0 1-2-16,0-2-2 0,0 2-8 15,0 0-11-15,0-1-23 0,0 1-42 0,1-2-55 16,2 2-76-16,1 0-84 0,6-1-176 15,5-2-242-15,3-2-277 0,4-4-110 16,-4-2-12-16,1-2 42 0,-5 0 165 16,-3-2 253-16</inkml:trace>
  <inkml:trace contextRef="#ctx0" brushRef="#br0" timeOffset="9425.06">3420 11674 105 0,'0'0'149'0,"0"0"-15"0,0 0-12 15,0 0-15-15,0 0-9 0,0 2-12 16,0-2-4-16,0 0 1 0,3 0-2 16,-3 0 1-16,1 0 5 0,-1 0 7 0,0 0 8 15,0 0 10-15,0 3 5 0,3-3 6 16,-3 1 2-16,3 1-1 0,-2-1-1 15,-1 1-3-15,0-1 1 0,3 0 1 16,-1 1 3-16,-2-2 4 0,2 2 6 16,-2-2 4-16,0 0-4 0,0 1-5 15,0-1-6-15,0 0-1 0,0 2-10 16,0-2-6-16,0 0-2 0,3 0-4 16,-3 0 1-16,1 3 0 0,-1-3 8 0,0 1 11 15,0-1 12-15,0 1 19 0,0 1 13 16,0 0 3-16,0-2-2 0,0 0-8 15,0 1-10-15,3-1-21 0,-3 0-14 16,0 0-15-16,2 0-10 0,-2 0-5 16,0 0-7-16,2 0 0 0,-2 0-3 0,0 0-3 15,0 1 0-15,0-1 1 16,0 0-1-16,0 0 1 0,0 0-3 0,0 2 1 16,0-2-4-16,0 2-3 0,0-2-3 15,0 0-3-15,0 0-2 0,0-2-2 16,-2 2-3-16,2 0 0 0,0 0-5 15,2 2-1-15,-2-2 1 0,0 0-2 16,0 0-3-16,0 0-1 0,0 0-2 16,0 0-2-16,3 0 2 0,-3 0-5 0,0-2-2 15,0 2-5-15,0 0-2 0,0 0 0 16,1 0-8-16,-1-2 5 0,0 2 1 16,0-1 4-16,0 1-2 0,-1 1 2 15,1-1 1-15,0 0-3 0,0 0-1 16,0 0-2-16,0 0-1 0,0 0-3 15,0 0-2-15,0 0-1 0,0 2-2 0,0-2-1 16,0 2-1-16,0-2 1 16,0 0 0-16,0 0 0 0,0 0 5 0,0 0 2 15,0 0 2-15,0 0 2 0,0 0 2 16,1 0-1-16,-1 0-1 0,0 0-1 16,0 0-2-16,0 0 1 0,0 1-2 15,0-1-2-15,0 0-3 0,0 0-11 16,0 0 0-16,0 2 0 0,0-2 0 15,0 0 0-15,0 0 0 0,0 0 0 0,0 0 0 16,0 0 0-16,0 0 0 0,0 0 0 16,0 0 0-16,0 0 0 0,0 2 0 15,0-2 0-15,0 0 0 0,0 1 0 16,0-1 0-16,0 1 0 0,0-1 0 16,0 0 0-16,0 0 0 0,0 0 0 15,0 0 0-15,0 1 0 0,0-1 0 0,-1 0 0 16,-2 0 0-16,3 0 0 0,0 0 0 15,0 0 0-15,0 0 0 0,0 0 0 16,0 0 0-16,0 2 0 0,3-2 0 16,-2 2 0-16,-1-1 0 0,0 0 0 0,0-1 0 15,0 0 0-15,0 0 0 0,0 0 0 16,0 2 0-16,3-2 0 0,-3 0 0 16,0 0 0-16,3 0 0 0,-3 0 0 15,1 1 0-15,-1-1 0 0,3 2 0 16,-2 0 0-16,-1 0 0 0,3-1 0 15,-3 0 0-15,4 2 0 0,-4 1 0 16,4-3 0-16,-1 1 0 0,0 2 0 0,-2-1 0 16,2 0 0-16,1 2 0 15,0-2 0-15,2 1 0 0,-2 0 0 0,0 2 0 16,0-2 0-16,3 1 0 0,-3 1 0 16,3-1 0-16,0 1 0 0,0-2 0 15,-3 2 0-15,3-2 0 0,1 3 0 16,-1-4 0-16,0 4 0 0,1-3 0 0,-1 1 0 15,3 1 0-15,-2-1 0 0,-1-1 0 16,1 3 0-16,5-4 0 0,-5 3 0 16,3 1 0-16,-3 0 0 0,5-1 0 15,-1 0 0-15,-1 2 0 0,3-3 0 16,-3 3 0-16,3 0 0 0,1 1 0 0,0-2 0 16,2 1 0-16,-2-1 0 0,4 0 0 15,-1 1 0-15,3 0 0 0,1-1 0 16,-3 1 0-16,4-2 0 0,-3 1 0 15,2-1 0-15,0-1 0 0,-2 0 0 16,0-1 0-16,-2 0 0 0,-5-1 0 16,3 0 0-16,-3 0 0 0,-2 0 0 0,3 0 0 15,-6 0 0-15,3-1 0 0,0-1 0 16,-1-1 0-16,-2 2 0 0,-1 0 0 16,2-1 0-16,-3 0 0 0,1 0 0 15,0-1 0-15,1 0 0 0,-1 2 0 16,0 0 0-16,2-2 0 0,0 0 0 15,2 1 0-15,0 1 0 0,4-1 0 0,-1 1 0 16,1-1 0-16,3-1 0 0,0 2 0 16,4-2 0-16,0 2 0 0,0-1 0 15,3 0 0-15,0 0 0 0,4 3 0 16,-3-3 0-16,3 1 0 0,0-1 0 16,0 2 0-16,3 0 0 0,-2 0 0 0,2 0 0 15,1 0 0-15,-2 0 0 0,0 0 0 16,2 2 0-16,1-1 0 0,-1 1 0 15,3-1 0-15,-1 1 0 0,0-1 0 16,4 1 0-16,-2 1 0 0,6 0 0 16,-2 0 0-16,2 1 0 0,4 0 0 0,-3 2 0 15,3-4 0-15,1 2 0 16,-1 1 0-16,0 1 0 0,0-1 0 0,4 1 0 16,-2-2 0-16,2 2 0 0,-3-1 0 15,3 1 0-15,-4 0 0 0,0-2 0 16,1 4 0-16,-1-5 0 0,4 5 0 0,0-1 0 15,3 0 0-15,1 1 0 0,1 1 0 16,2 0 0-16,0-2 0 0,0 4 0 16,1-2 0-16,-1-2 0 0,3 4 0 15,-2-4 0-15,3 2 0 0,3-1 0 16,1-2 0-16,-3 2 0 0,1-2 0 16,-2-1 0-16,-1 0 0 0,-2-1 0 0,1 0 0 15,2 1 0-15,-1-1 0 0,1 0 0 16,-3-1 0-16,-1 0 0 0,0 1 0 15,0-1 0-15,-2 1 0 0,-3 0 0 16,1 0 0-16,-6 1 0 0,3-2 0 16,-4 3 0-16,0-2 0 0,-3 0 0 0,-2 1 0 15,1 0 0-15,-2 0 0 0,2 1 0 16,1 0 0-16,-1-1 0 0,1 3 0 16,0-1 0-16,3 2 0 0,0-1 0 15,0 1 0-15,1-1 0 0,2 3 0 16,-2 0 0-16,1-3 0 0,2 5 0 0,0-3 0 15,0 1 0-15,0 0 0 0,0 1 0 16,3-1 0-16,4 0 0 0,3 1 0 16,-2 0 0-16,3-1 0 0,0 2 0 15,0-1 0-15,-4-1 0 0,2 2 0 16,0-3 0-16,-4 2 0 0,-1 0 0 0,0 0 0 16,-1 0 0-16,-3 0 0 0,0 2 0 15,-1 0 0-15,-2-1 0 0,-1 0 0 16,-3 2 0-16,3-2 0 0,0 2 0 15,2 1 0-15,-1-3 0 0,-1 0 0 16,4 1 0-16,-2 0 0 0,-3-4 0 16,1 1 0-16,-3-1 0 0,3 1 0 0,-4-4 0 15,0 1 0-15,-2-1 0 16,-2-2 0-16,-2 3 0 0,-4-4 0 0,-1 3 0 16,-2-2 0-16,-5-3 0 0,2 1 0 15,-7 1 0-15,2-1 0 0,-4-1 0 16,-1 0 0-16,-3 0 0 0,-1-2 0 0,-2 2 0 15,-4-4 0-15,2 1 0 0,-3 2 0 16,-4-3 0-16,3 1 0 0,-3-1 0 16,1-1 0-16,-2 2 0 0,-1-2 0 15,3 0 0-15,-6-2 0 0,2-1 0 16,-4-3-433-16,-13-4-1036 0,-2-5-68 0,-9-5 36 16,-6-2 133-16,-5-1 314 0,-4-4 446 15</inkml:trace>
  <inkml:trace contextRef="#ctx0" brushRef="#br0" timeOffset="26156.36">5730 11554 62 0,'-18'-6'298'0,"0"0"53"0,0 0 11 0,3 2-19 0,-1-2-38 0,3 3-31 15,-1 0-25-15,1 0-18 0,0 1-13 16,-1 1-5-16,1 1-2 0,-3 1 1 15,3 1 19-15,-5-1 34 0,0 2 35 16,-1 2 18-16,-6 4 1 0,-1 0-14 0,-7 6-36 16,-6-1-48-16,-2 6-58 0,-5 1-34 15,-2 2-22-15,-6 2-6 0,3 4-2 16,-4 1 0-16,1 4 6 0,1 1 0 16,-3 1 0-16,5 4-7 0,2-1-7 15,5 0-12-15,0 0-10 0,6 1-9 16,4-1-11-16,4 4-7 0,2-1-9 15,9 0-4-15,4-1-4 0,1-1-2 0,7 0 2 16,3 0-4-16,4-3-5 0,4 0-4 16,3 1-2-16,8 0-2 0,3-1-8 15,3-1 0-15,5-2 0 0,3-1 0 16,2-4 0-16,4-1-4 0,1-2 0 16,4-5 3-16,0-3 1 0,2 0 1 15,2-5 0-15,3-4 6 0,0-3 0 0,1-3 6 16,-1-5 3-16,4-3 7 0,-1-6 3 15,1-4 4-15,-3-4 2 0,3-4-2 16,-1-4-3-16,1-2-6 0,-3-1-2 16,4-5-8-16,-6-3-2 0,1-1-5 15,-5-5-7-15,-2-2 1 0,-7-5 1 0,0-5 3 16,-5-2 3-16,-5-2 9 0,-5 2 21 16,-7 2 17-16,-4 4 12 0,-7 5 4 15,-7 3 4-15,-8 6-7 0,-10 1-15 16,-9 6-20-16,-7 4-14 0,-5 3-9 15,-4 3-6-15,-1 3-5 0,-2 5-5 16,2 2-13-16,3 2-20 0,-2 6-25 0,6 2-39 16,1 5-48-16,3 3-64 15,7 9-146-15,-3 4-189 0,3 6-214 0,-3 5-232 16,3 7-92-16,-3 1-9 0,2 0 119 16,0 0 188-16,3-5 230 0</inkml:trace>
  <inkml:trace contextRef="#ctx0" brushRef="#br0" timeOffset="26978.51">7730 11623 198 0,'-3'-7'429'0,"-1"1"76"0,-3-2 55 0,0 2-50 0,-1 1-75 0,-6 0-76 0,-4 1-49 16,-1 0-24-16,-9 2 1 0,-1 2 30 15,-5 2 36-15,-5 3 22 0,-5 4 1 0,-7 1-12 16,-7 4-27-16,-2 5-49 0,-7 4-53 16,-2 6-40-16,-2 5-28 0,-2 6-22 15,2 5-21-15,0 4-18 0,2 3-12 16,3 2-9-16,4 1-7 0,4 2 0 16,4 0 0-16,5 0 0 0,4-3 0 0,8 2-2 15,1-1-6-15,7 1-11 16,5-2-12-16,6 1-12 0,5-1-13 0,6-3-10 15,7-3-6-15,5-3-7 0,6-6-4 16,4-3-5-16,5-4-4 0,7-4 2 16,2-4 0-16,6-4 5 0,3-4-1 0,4-4 4 15,2-6 7-15,6-4 0 0,1-5 4 16,4-5-1-16,3-6 6 0,3-5 3 16,-2-3 0-16,2-5 4 0,-2-6 0 15,3-5-11-15,-2-2-8 0,1-6 0 16,-4-1 0-16,0-2 0 0,0-3 0 0,-5 0 0 15,-5-5-1-15,0 0 2 0,-8-2-1 16,-6 4 0-16,-7 2 0 0,-8 7 0 16,-7 2 0-16,-8 7 0 0,-13 2 0 15,-15 7 0-15,-9 5 0 0,-16 7 0 16,-15 7 0-16,-8 7 0 0,-11 9 0 0,-5 6 0 16,0 6 0-16,0 4-151 0,5 5-213 15,7 5-198-15,5 3-194 0,10 5-185 16,8-1-156-16,10-1-39 0,11 0 61 15,8-4 178-15,11-3 209 0,3-6 223 16</inkml:trace>
  <inkml:trace contextRef="#ctx0" brushRef="#br0" timeOffset="27805.08">8905 12062 323 0,'4'-18'508'0,"0"4"92"0,-1-1 104 0,0 3 20 0,-6 0-46 0,-1 1-55 0,-6 4-59 0,-5-1-65 15,-3 4-81-15,-7 2-122 0,-3 5-100 16,-10 6-55-16,-2 5-41 0,-9 5-6 16,-4 7 1-16,-7 6 6 0,-6 9 1 0,-7 7 3 15,-6 6 23-15,-2 6-8 16,-2 3-2-16,0 3 4 0,3 2 0 0,5 0-2 15,2 0-11-15,4-2-2 0,4-3-1 16,6 0-11-16,5-5-6 0,10-1-10 16,5-4-74-16,9-3-5 0,5-5 0 15,7-2 0-15,6-2 0 0,6-4 0 16,5 1 0-16,5-5 0 0,4-1 0 16,6-4 0-16,7-3 0 0,2-3 0 0,9-5 0 15,5-6 0-15,3-1 0 0,10-10 0 16,1-5 0-16,8-3 0 0,4-7 0 15,1-6 0-15,5-4 0 0,-1-3 0 16,1-3 0-16,-1-5 0 0,-2-5 0 0,0-2 0 16,2-3 0-16,-2-1 0 0,-1-4 0 15,-3-1 0-15,-2-1 0 0,-2-3 0 16,-3 2 0-16,-4 0 0 0,-7 5 0 16,-4 4 0-16,-7 1 0 0,-8 5 0 0,-3 2 0 15,-11 2 0-15,-5 1 0 0,-12-1 0 16,-5 2 0-16,-7 1 0 0,-11 3 0 15,-8 0 0-15,-6 4 0 0,-7 4 0 16,-8 4 0-16,-9 2 0 0,-6 6 0 16,-9 4 0-16,-9 5-8 0,-3 8-265 0,-4 3-162 15,0 4-172-15,3 4-174 0,4 2-180 16,9 2-137-16,6 1-20 0,12 1 115 16,8-1 166-16,5 0 196 0,7-3 220 15</inkml:trace>
  <inkml:trace contextRef="#ctx0" brushRef="#br0" timeOffset="28819.79">4107 13282 62 0,'0'-2'479'0,"-2"1"114"0,-1 0 108 0,-1 0 97 15,4-3-34-15,-2 1-96 0,2 1-100 16,-2-2-92-16,2 1-85 0,2 0-107 15,-2-2-97-15,2 2-54 0,1-2-32 16,-2-1-5-16,4-3-3 0,0 2 3 16,1 0 1-16,1-3 5 0,-1-1 4 15,5-1-3-15,0-1-2 0,7-4 0 0,0-2-1 16,3-3 1-16,2 0 3 0,6-6 7 16,0 2 0-16,7-2 2 0,0-2 1 15,4-3-3-15,0 0-6 0,1-3-6 16,5-2-77-16,-2-2-22 0,0-1 0 15,-1-1 0-15,-3-3 0 0,0-2 0 16,0 0 0-16,-3-2 0 0,1-5 0 0,0 2 0 16,-3-2 0-16,3 2 0 0,0-1 0 15,2 2 0-15,3 2 0 0,1-2 0 16,3 2 0-16,1 3 0 0,3 1 0 16,3 2 0-16,1 1 0 0,1 0 0 15,-1 4 0-15,-1 2 0 0,-1 2 0 0,-4 1 0 16,-2 0 0-16,-6 3 0 0,-1 0 0 15,-7 3 0-15,-4 3 0 0,-4 0 0 16,-7 3 0-16,-3 3 0 0,-4 1 0 16,0 0 0-16,-4 4 0 0,-4 0 0 15,1 0 0-15,-1 4 0 0,-3-2 0 0,-3 4 0 16,0-2 0-16,-1 3 0 0,0 1-449 16,-7 3-372-16,-3 2-306 0,-1 5-128 15,-7 2-23-15,1 3 64 0,-1 3 208 16,0 1 298-16</inkml:trace>
  <inkml:trace contextRef="#ctx0" brushRef="#br0" timeOffset="29620.89">6083 13216 123 0,'-3'9'365'0,"-1"-1"91"0,0 0 51 0,1 1 18 0,2 0-6 0,-5 1 10 16,5 0 22-16,-2-2-3 0,3 0-32 15,0-1-34-15,0-3-48 0,3 1-68 16,1-1-80-16,3-4-55 0,4 0-28 0,7-6-23 16,4-5-17-16,7-3-12 0,7-8-13 15,3-5-12-15,3-1-6 0,5-6 0 16,2-2 5-16,2-5-2 0,4-2-6 16,3-2-5-16,4-4-37 0,6 2-75 15,-2-6 0-15,3 2 0 0,3-3 0 16,-2 0 0-16,-1 0 0 0,2-1 0 0,-2 1 0 15,0-3 0-15,0 0 0 0,-3-2 0 16,-1 0 0-16,-3 0 0 0,-1 0 0 16,-6 2 0-16,-4 2 0 0,-3 2 0 15,-3 5 0-15,-3 3 0 0,-6 3 0 16,-1 6 0-16,-4 5 0 0,-2 2 0 16,-4 5 0-16,-8 5 0 0,1 1 0 0,-4 4 0 15,-3 3 0-15,-3 4 0 0,-3 0 0 16,1 2 0-16,-3 1 0 0,-1 2 0 15,-2 2-324-15,-2 5-302 0,-5 1-246 16,-4 6-239-16,-7 1-78 0,-4 5 0 16,-2 3 81-16,-3 3 206 0,0 2 275 15</inkml:trace>
  <inkml:trace contextRef="#ctx0" brushRef="#br0" timeOffset="30454.46">7107 13858 133 0,'-4'1'475'0,"1"3"113"0,3-3 115 0,0 1 91 0,0-2-17 0,3-2-70 16,1-1-76-16,3-1-78 0,4-5-89 15,0 1-131-15,2-2-101 0,1 2-67 0,1-2-34 16,1-1-21-16,1 1-8 0,1-1-7 16,0-1-2-16,4-1 3 0,3-1-10 15,1-1 5-15,6-3 2 0,1-3 5 16,4-1 3-16,2-4 3 0,2-4 12 16,2-3-9-16,4-4-8 0,1-5-13 15,2-2-58-15,1-1-28 0,2-3 0 0,2-3 0 16,3 1 0-16,2-2 0 0,0 0 0 15,2-1 0-15,0 1 0 0,-1 0 0 16,-2 0 0-16,3 0 0 0,-1-2 0 0,1 1 0 16,-2 0 0-16,-2 3 0 0,-3 0 0 15,1 2 0-15,-3 2 0 16,-2 2 0-16,-2 2 0 0,-3 3 0 0,0 2 0 16,-2 2 0-16,-3 1 0 0,5 2 0 15,-5 3 0-15,2 1 0 0,-3 2 0 16,-3 3 0-16,3-1 0 0,-4 1 0 0,-3 4 0 15,-4-1 0-15,-2 2 0 0,-2 0 0 16,-1 3 0-16,-6 0 0 0,-1 1 0 16,-1 1 0-16,-3 1 0 0,-4 3 0 15,0 0 0-15,-2 2 0 0,-3-1 0 16,3 2 0-16,-5 2 0 0,0 1 0 16,-4-1-147-16,-2 3-236 0,-3 2-238 0,-9 3-317 15,-1 2-201-15,-10 2-83 0,-6 3 16 16,-5 3 125-16,-9 0 239 0,1 6 335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DFDD5D2-A27E-4217-8F96-D2440B54BD1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noRot="1" noChangeAspect="1"/>
          </p:cNvSpPr>
          <p:nvPr>
            <p:ph type="sldImg"/>
          </p:nvPr>
        </p:nvSpPr>
        <p:spPr>
          <a:xfrm>
            <a:off x="685800" y="1143000"/>
            <a:ext cx="5486040" cy="3085920"/>
          </a:xfrm>
          <a:prstGeom prst="rect">
            <a:avLst/>
          </a:prstGeom>
          <a:ln w="0">
            <a:noFill/>
          </a:ln>
        </p:spPr>
      </p:sp>
      <p:sp>
        <p:nvSpPr>
          <p:cNvPr id="4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Dos minutos. Encuadre para este grupo: son economistas, dominan la estadistica, asi que hoy no ensenamos ponderacion ni inferencia desde cero. El tema es como un asistente de IA aplica esos metodos sobre datos de encuesta, y como se equivoca con total seguridad. Tres trampas clasicas: promediar sin ponderar, reportar el error estandar ingenuo, y leer el agregado cuando los subgrupos dicen lo contrario. Todas caben en un mismo analisis, y lo vamos a ver. Terminamos 13:30.</a:t>
            </a:r>
          </a:p>
        </p:txBody>
      </p:sp>
      <p:sp>
        <p:nvSpPr>
          <p:cNvPr id="45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E16483-EA43-4C15-A08F-6AF7D0D71DF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685800" y="1143000"/>
            <a:ext cx="5486040" cy="3085920"/>
          </a:xfrm>
          <a:prstGeom prst="rect">
            <a:avLst/>
          </a:prstGeom>
          <a:ln w="0">
            <a:noFill/>
          </a:ln>
        </p:spPr>
      </p:sp>
      <p:sp>
        <p:nvSpPr>
          <p:cNvPr id="4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Dos minutos. Novedad de formato para estas tres sesiones: el concepto y una demo corta en clase, y la practica a fondo se va de tarea, un R Markdown por sesion. Con tres temas avanzados no cabe un laboratorio largo en 2.5 horas. Si va retrasado, acorte la sintesis, no los tres bloques de concepto. La 9 sera el laboratorio aplicado completo.</a:t>
            </a:r>
          </a:p>
        </p:txBody>
      </p:sp>
      <p:sp>
        <p:nvSpPr>
          <p:cNvPr id="456"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4E2D7F-BC9C-43B8-965D-616693E678FA}"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685800" y="1143000"/>
            <a:ext cx="5486040" cy="3085920"/>
          </a:xfrm>
          <a:prstGeom prst="rect">
            <a:avLst/>
          </a:prstGeom>
          <a:ln w="0">
            <a:noFill/>
          </a:ln>
        </p:spPr>
      </p:sp>
      <p:sp>
        <p:nvSpPr>
          <p:cNvPr id="4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Seis minutos. Este es el nucleo del bloque 1 y aplica igual a Copilot en Excel que a un prompt de codigo. Lea el prompt vago y pregunte al grupo: cuantas decisiones esta tomando la IA por nosotros. Salen facil cuatro o cinco. El prompt preciso las cierra todas. La leccion: la ambiguedad no truena, se convierte en supuestos invisibles. Un buen prompt cuantitativo nombra columnas, fija la unidad, dice que hacer con lo invalido y pide una salida concreta.</a:t>
            </a:r>
          </a:p>
        </p:txBody>
      </p:sp>
      <p:sp>
        <p:nvSpPr>
          <p:cNvPr id="459"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CA1EC4-0ADD-4C06-93B3-3810E0226A85}"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Cuatro minutos, el mapa del dia. La frase ancla: un estimador que corre no es uno correcto. Aclare que no es que la IA sepa menos estadistica que ellos; es que aplica el default, y el default asume una muestra simple, independiente y homogenea, que una encuesta real no es. Las tres tarjetas son los tres bloques y, spoiler, los tres errores caben en un mismo analisis que veremos en la sintesis.</a:t>
            </a:r>
          </a:p>
        </p:txBody>
      </p:sp>
      <p:sp>
        <p:nvSpPr>
          <p:cNvPr id="46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E7C6FA2-75FB-4023-8D32-6BFDAAED06A1}"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Tres minutos, y es la lamina que faltaba. Presente aqui, una sola vez, el microdato que usan los tres bloques y la tarea. Es un archivo, ficticio, con forma de encuesta: 400 hogares repartidos en estratos de marginacion, agrupados en UPM, cada uno con su factor de expansion. Cinco variables: estrato, la UPM y el factor que definen el diseno, el ingreso del hogar, si recibe el programa (el tratamiento, 0 o 1) y el score, un indice de resultado de 0 a 100, piensen seguridad alimentaria. El Bloque 1 mira el ingreso; los Bloques 2 y 3 miran el efecto del programa sobre el score. Recalque que es la misma base de la tarea, para que cuando aparezca el programa y el score mas adelante ya sepan que son, y para que la sintesis se entienda: son literalmente los mismos renglones.</a:t>
            </a:r>
          </a:p>
        </p:txBody>
      </p:sp>
      <p:sp>
        <p:nvSpPr>
          <p:cNvPr id="46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9F3420-1D59-433A-B336-ABBCF5FAA438}"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Divisor, un minuto. Unos 28 minutos al receso. La idea: en una encuesta cada registro representa a un numero distinto de unidades, y promediar crudo trata a todos igual.</a:t>
            </a:r>
          </a:p>
        </p:txBody>
      </p:sp>
      <p:sp>
        <p:nvSpPr>
          <p:cNvPr id="468"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5168FB-ECB4-4B64-B4E1-9AF0E6211876}"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Un minuto, la ficha del bloque. Fije las coordenadas antes de entrar al concepto: la columna es ingreso, la operacion es la media, y lo que vamos a contrastar es el promedio crudo contra el ponderado. Con esto no tienen que regresar al slide del microdato para ubicarse.</a:t>
            </a:r>
          </a:p>
        </p:txBody>
      </p:sp>
      <p:sp>
        <p:nvSpPr>
          <p:cNvPr id="47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CEAD4C-20D2-4C94-8629-689ACA57402B}"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Cinco minutos. Publico que ya sabe esto, asi que vaya rapido y aterrice en el punto de IA: el factor de expansion no es un adorno, es lo que convierte muestra en poblacion. El default de un asistente es mean(columna), que asume que todos pesan igual. En una encuesta con diseno estratificado eso da el promedio de la muestra, no el poblacional. La lamina que sigue lo cuantifica.</a:t>
            </a:r>
          </a:p>
        </p:txBody>
      </p:sp>
      <p:sp>
        <p:nvSpPr>
          <p:cNvPr id="47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A24BBB-B6A4-4501-9E75-046C7402F506}"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Seis minutos, primera lamina insignia. La tabla cuenta la historia: la muestra tiene 50% de Alta marginacion pero la poblacion solo 30%, porque se sobre-muestreo ese estrato por diseno. Como Alta es el de menor ingreso (4,192), el promedio crudo se va hacia abajo: 6,949. El ponderado, que usa los factores de expansion, recupera el poblacional: 8,328. Diferencia de 16.6%, en la direccion que importa. El punto de IA: mean() no esta roto, esta respondiendo otra pregunta. Hay que nombrarle el diseno.</a:t>
            </a:r>
          </a:p>
        </p:txBody>
      </p:sp>
      <p:sp>
        <p:nvSpPr>
          <p:cNvPr id="47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45C9B7-1C4A-4FFC-8420-418241036230}"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Divisor, un minuto. El estimador es una variable aleatoria; el error estandar dice cuanto podria cambiar. El default asume independencia que los datos de encuesta no tienen.</a:t>
            </a:r>
          </a:p>
        </p:txBody>
      </p:sp>
      <p:sp>
        <p:nvSpPr>
          <p:cNvPr id="48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A71129D-F4B7-4393-AA22-0F62CE374F53}"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Un minuto, la ficha del bloque, y aqui se fija el estimando que faltaba nombrar: la diferencia de medias en score entre programa 1 y 0, que es el coeficiente de lm(score ~ programa), menos 4.5. El bloque 2 mide la incertidumbre de ESE numero: EE clasico contra por conglomerado. Ojo, es el mismo numero que el bloque 3 mira por su signo.</a:t>
            </a:r>
          </a:p>
        </p:txBody>
      </p:sp>
      <p:sp>
        <p:nvSpPr>
          <p:cNvPr id="483"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2723C8-9DEF-4EE7-9434-E56DDF64E0B3}"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Cinco minutos. De nuevo, publico que sabe inferencia, asi que el foco es el default. El error estandar clasico asume observaciones independientes e identicas. En una encuesta por conglomerados eso se rompe: hogares del mismo bloque estan correlacionados, aportan menos informacion, y el EE clasico lo ignora y sale muy chico. Resultado: falsa precision. Tambien menciono el borrado por lista: dropna silencioso cambia la muestra. La lamina que sigue lo pone en numeros.</a:t>
            </a:r>
          </a:p>
        </p:txBody>
      </p:sp>
      <p:sp>
        <p:nvSpPr>
          <p:cNvPr id="486"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5DD348-AE50-4476-AF6C-E6083DFBC145}"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Seis minutos. El punto estimado es identico, menos 4.5 puntos; lo unico que cambia es el error estandar. El clasico, el que sale por default en lm() y summary(), dice 1.46 y p de 0.002: parece solidisimo. El correcto por conglomerado dice 2.19 y p de 0.049: al filo. Un tercio mas de incertidumbre que el default escondia. La leccion: correr la regresion es trivial; saber que el EE clasico esta mal para datos por conglomerado es el trabajo. Un asistente moderno muchas veces ya conglomera, pero hay que verificarlo. Y ojo, ese menos 4.5 lo retomamos en el bloque 3, porque ademas tiene el signo equivocado.</a:t>
            </a:r>
          </a:p>
        </p:txBody>
      </p:sp>
      <p:sp>
        <p:nvSpPr>
          <p:cNvPr id="489"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8DEFE9-BF41-4908-AE90-89F1E5397344}"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noRot="1" noChangeAspect="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Divisor, un minuto. La paradoja de Simpson: el numero agregado puede decir lo contrario que cada subgrupo, cuando un confusor esta mal repartido. Es la trampa central de evaluar politica.</a:t>
            </a:r>
          </a:p>
        </p:txBody>
      </p:sp>
      <p:sp>
        <p:nvSpPr>
          <p:cNvPr id="492"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C9D572-9F7E-4762-A720-2E2C67005DDF}"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Un minuto, la ficha del bloque. Las columnas son las mismas dos mas estrato, el confusor. La operacion es la misma diferencia de medias, pero dentro de cada estrato. Y el contraste es el efecto agregado contra el de cada subgrupo. Enfatice la continuidad: es el mismo numero del bloque 2, ahora visto por su signo.</a:t>
            </a:r>
          </a:p>
        </p:txBody>
      </p:sp>
      <p:sp>
        <p:nvSpPr>
          <p:cNvPr id="495"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B5D31C-74BB-4246-8B6D-AD923E5AEB13}"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Cinco minutos. Publico que conoce Simpson, asi que el enfasis es su ubicuidad en evaluacion y el rol de la IA. La mecanica: un confusor mal repartido, aqui el estrato de marginacion. Los programas se focalizan en los mas necesitados, que parten de una base mas baja; comparar crudo mezcla el efecto del programa con la diferencia de base. La IA entrega el agregado sin chistar; preguntar por el confusor que falta es trabajo humano. La lamina que sigue lo muestra con nuestros datos.</a:t>
            </a:r>
          </a:p>
        </p:txBody>
      </p:sp>
      <p:sp>
        <p:nvSpPr>
          <p:cNvPr id="498"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5D6744-8D5D-4565-8E48-79C5E628586B}"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Seis minutos, y es el golpe de la sesion, en vivo. Antes de esta lamina, corra el asistente en clase pidiendole codigo para ver si el programa sube o baja el score: es donde de verdad falla, no como en los bloques 1 y 2. En nuestra prueba, DeepSeek-V3.2 ponderó y conglomeró bien (hizo lo mecanico correcto) y aun asi su codigo imprimio la conclusion equivocada: score significativamente menor. La tabla por estrato muestra lo contrario: mas 11 en Alta, mas 11 en Media, mas 12 en Baja. Por que se voltea: 165 de 232 tratados estan en Alta marginacion, el estrato de menor base; ese peso hunde el promedio de los tratados. El agregado confunde el efecto del programa con la diferencia de base entre estratos. La moraleja del dia: lo que faltó no era saber estadistica, el modelo la sabe; era saber que el programa se focalizo en Alta marginacion. Ese contexto es de ustedes, y no se delega.</a:t>
            </a:r>
          </a:p>
        </p:txBody>
      </p:sp>
      <p:sp>
        <p:nvSpPr>
          <p:cNvPr id="501"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D6D068-0670-46F7-A843-4E86D3EBDC62}"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Cinco minutos, lamina de pago. Es el amarre de los tres bloques en un solo analisis. El mismo lm(score ~ programa) que la IA escribe sin pensar tiene el signo mal por Simpson, la precision inflada por ignorar conglomerados, y si fuera una media estaria sin ponderar. Las tres correcciones son ponderar, estratificar, conglomerar. Repita el mensaje de fondo: no es deficit de conocimiento de la IA, es el default, que asume una muestra que la encuesta no es. Por eso hay que nombrarle el diseno, que es justo la siguiente lamina.</a:t>
            </a:r>
          </a:p>
        </p:txBody>
      </p:sp>
      <p:sp>
        <p:nvSpPr>
          <p:cNvPr id="504"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B4A95F-1754-416C-B8A6-FF750BF96811}"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Cuatro minutos. El lado izquierdo es la anatomia del prompt para trabajo con encuestas: nombrar diseno, pedir el EE correcto, pedir subgrupos, pedir el conteo de casos excluidos. El derecho es el limite: el diseno, la comparabilidad, el sentido y la firma no se delegan, porque dependen de conocer la encuesta y la politica, cosa que el modelo no tiene. Este es el habito que quiero que se lleven a la practica.</a:t>
            </a:r>
          </a:p>
        </p:txBody>
      </p:sp>
      <p:sp>
        <p:nvSpPr>
          <p:cNvPr id="507"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06E37D-BF63-4EC6-BCFD-3FC97EE16515}"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A3D1-A8DD-C4E5-0D83-19434B075015}"/>
            </a:ext>
          </a:extLst>
        </p:cNvPr>
        <p:cNvGrpSpPr/>
        <p:nvPr/>
      </p:nvGrpSpPr>
      <p:grpSpPr>
        <a:xfrm>
          <a:off x="0" y="0"/>
          <a:ext cx="0" cy="0"/>
          <a:chOff x="0" y="0"/>
          <a:chExt cx="0" cy="0"/>
        </a:xfrm>
      </p:grpSpPr>
      <p:sp>
        <p:nvSpPr>
          <p:cNvPr id="508" name="PlaceHolder 1">
            <a:extLst>
              <a:ext uri="{FF2B5EF4-FFF2-40B4-BE49-F238E27FC236}">
                <a16:creationId xmlns:a16="http://schemas.microsoft.com/office/drawing/2014/main" id="{5FF55A30-260A-ACD6-A302-33B4C381E02E}"/>
              </a:ext>
            </a:extLst>
          </p:cNvPr>
          <p:cNvSpPr>
            <a:spLocks noGrp="1" noRot="1" noChangeAspect="1"/>
          </p:cNvSpPr>
          <p:nvPr>
            <p:ph type="sldImg"/>
          </p:nvPr>
        </p:nvSpPr>
        <p:spPr>
          <a:xfrm>
            <a:off x="685800" y="1143000"/>
            <a:ext cx="5486400" cy="3086100"/>
          </a:xfrm>
          <a:prstGeom prst="rect">
            <a:avLst/>
          </a:prstGeom>
          <a:ln w="0">
            <a:noFill/>
          </a:ln>
        </p:spPr>
      </p:sp>
      <p:sp>
        <p:nvSpPr>
          <p:cNvPr id="509" name="PlaceHolder 2">
            <a:extLst>
              <a:ext uri="{FF2B5EF4-FFF2-40B4-BE49-F238E27FC236}">
                <a16:creationId xmlns:a16="http://schemas.microsoft.com/office/drawing/2014/main" id="{DA62F4E0-03B6-FEAC-1EB6-0BC8DC947D66}"/>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Divisor. Demo corta en clase y el grueso de tarea. Un R Markdown con tres tareas sobre el microdato sintetico. Veinte minutos en clase, el resto en casa.</a:t>
            </a:r>
          </a:p>
        </p:txBody>
      </p:sp>
      <p:sp>
        <p:nvSpPr>
          <p:cNvPr id="510" name="PlaceHolder 3">
            <a:extLst>
              <a:ext uri="{FF2B5EF4-FFF2-40B4-BE49-F238E27FC236}">
                <a16:creationId xmlns:a16="http://schemas.microsoft.com/office/drawing/2014/main" id="{068B0175-4EE8-DF50-D2FF-04C8C2C008EB}"/>
              </a:ext>
            </a:extLst>
          </p:cNvPr>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C5F44D-0454-4271-B24A-514DDA801DAC}"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4212700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685800" y="1143000"/>
            <a:ext cx="5486400" cy="308610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Divisor. Demo corta en clase y el grueso de tarea. Un R Markdown con tres tareas sobre el microdato sintetico. Veinte minutos en clase, el resto en casa.</a:t>
            </a:r>
          </a:p>
        </p:txBody>
      </p:sp>
      <p:sp>
        <p:nvSpPr>
          <p:cNvPr id="510"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C5F44D-0454-4271-B24A-514DDA801DAC}"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noRot="1" noChangeAspect="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Explique en dos minutos y arranquen la parte 1 juntos. Parte 1: el ingenuo da 6,949, el ponderado 8,328, subestima 16.6%. Parte 2: efecto menos 4.5, EE clasico 1.46 contra conglomerado 2.19, la significancia pasa de p 0.002 a p 0.049. Parte 3: agregado sin programa 63.9 contra con programa 59.5, pero por estrato mas 11 en todos, porque los tratados se concentran en Alta marginacion. El entregable es el Rmd tejido, con la justificacion escrita de cada decision. Es tarea a su ritmo; en clase solo demo y arranque.</a:t>
            </a:r>
          </a:p>
        </p:txBody>
      </p:sp>
      <p:sp>
        <p:nvSpPr>
          <p:cNvPr id="513"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F38728-069F-43FD-A28A-D2779B9704D7}"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noRot="1" noChangeAspect="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Cinco minutos. Repase las tres ideas y confirme el entregable, que es la tarea. El puente a la 8 es directo: hoy fue hacer bien el estimado; la 8 es hacerlo reproducible, con semillas para el remuestreo, que ademas es como se calculan muchos de estos errores estandar, y entorno fijo. Agradezca y cierre a tiempo.</a:t>
            </a:r>
          </a:p>
        </p:txBody>
      </p:sp>
      <p:sp>
        <p:nvSpPr>
          <p:cNvPr id="516"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BE2B6-6E7E-47F3-8D46-3E1B4D40CEA2}"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Lamina de referencia. No se lee en clase. Sostiene el nivel tecnico si el area de estadistica del INEGI pregunta por las fuentes de ponderacion, inferencia con conglomerados o Simpson.</a:t>
            </a:r>
          </a:p>
        </p:txBody>
      </p:sp>
      <p:sp>
        <p:nvSpPr>
          <p:cNvPr id="519"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AF912B-295F-4E59-B35F-744CE03D5F79}"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ustomXml" Target="../ink/ink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93B"/>
        </a:solidFill>
        <a:effectLst/>
      </p:bgPr>
    </p:bg>
    <p:spTree>
      <p:nvGrpSpPr>
        <p:cNvPr id="1" name=""/>
        <p:cNvGrpSpPr/>
        <p:nvPr/>
      </p:nvGrpSpPr>
      <p:grpSpPr>
        <a:xfrm>
          <a:off x="0" y="0"/>
          <a:ext cx="0" cy="0"/>
          <a:chOff x="0" y="0"/>
          <a:chExt cx="0" cy="0"/>
        </a:xfrm>
      </p:grpSpPr>
      <p:sp>
        <p:nvSpPr>
          <p:cNvPr id="10" name="Shape 0"/>
          <p:cNvSpPr/>
          <p:nvPr/>
        </p:nvSpPr>
        <p:spPr>
          <a:xfrm>
            <a:off x="9784080" y="-1188720"/>
            <a:ext cx="3565800" cy="3565800"/>
          </a:xfrm>
          <a:prstGeom prst="ellipse">
            <a:avLst/>
          </a:prstGeom>
          <a:solidFill>
            <a:srgbClr val="20384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1"/>
          <p:cNvSpPr/>
          <p:nvPr/>
        </p:nvSpPr>
        <p:spPr>
          <a:xfrm>
            <a:off x="10881360" y="4572000"/>
            <a:ext cx="2559960" cy="25599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Text 2"/>
          <p:cNvSpPr/>
          <p:nvPr/>
        </p:nvSpPr>
        <p:spPr>
          <a:xfrm>
            <a:off x="822960" y="141732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58A5B"/>
                </a:solidFill>
                <a:effectLst/>
                <a:uFillTx/>
                <a:latin typeface="Calibri"/>
                <a:ea typeface="Calibri"/>
              </a:rPr>
              <a:t>MÓDULO III · SESIÓN 7</a:t>
            </a:r>
            <a:endParaRPr lang="en-US" sz="1300" b="0" u="none" strike="noStrike">
              <a:solidFill>
                <a:srgbClr val="FFFFFF"/>
              </a:solidFill>
              <a:effectLst/>
              <a:uFillTx/>
              <a:latin typeface="Arial"/>
            </a:endParaRPr>
          </a:p>
        </p:txBody>
      </p:sp>
      <p:sp>
        <p:nvSpPr>
          <p:cNvPr id="13" name="Text 3"/>
          <p:cNvSpPr/>
          <p:nvPr/>
        </p:nvSpPr>
        <p:spPr>
          <a:xfrm>
            <a:off x="822960" y="2103120"/>
            <a:ext cx="1060668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3300" b="1" u="none" strike="noStrike">
                <a:solidFill>
                  <a:srgbClr val="FFFFFF"/>
                </a:solidFill>
                <a:effectLst/>
                <a:uFillTx/>
                <a:latin typeface="Calibri"/>
                <a:ea typeface="Calibri"/>
              </a:rPr>
              <a:t>Asistentes estadísticos: cuando el análisis corre pero está mal</a:t>
            </a:r>
            <a:endParaRPr lang="en-US" sz="3300" b="0" u="none" strike="noStrike">
              <a:solidFill>
                <a:srgbClr val="FFFFFF"/>
              </a:solidFill>
              <a:effectLst/>
              <a:uFillTx/>
              <a:latin typeface="Arial"/>
            </a:endParaRPr>
          </a:p>
        </p:txBody>
      </p:sp>
      <p:sp>
        <p:nvSpPr>
          <p:cNvPr id="14" name="Text 4"/>
          <p:cNvSpPr/>
          <p:nvPr/>
        </p:nvSpPr>
        <p:spPr>
          <a:xfrm>
            <a:off x="822960" y="3977640"/>
            <a:ext cx="10423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E4EAF0"/>
                </a:solidFill>
                <a:effectLst/>
                <a:uFillTx/>
                <a:latin typeface="Calibri"/>
                <a:ea typeface="Calibri"/>
              </a:rPr>
              <a:t>Diseño muestral, inferencia y agregación: auditar lo que la IA escribe sobre datos de encuesta</a:t>
            </a:r>
            <a:endParaRPr lang="en-US" sz="1600" b="0" u="none" strike="noStrike">
              <a:solidFill>
                <a:srgbClr val="FFFFFF"/>
              </a:solidFill>
              <a:effectLst/>
              <a:uFillTx/>
              <a:latin typeface="Arial"/>
            </a:endParaRPr>
          </a:p>
        </p:txBody>
      </p:sp>
      <p:sp>
        <p:nvSpPr>
          <p:cNvPr id="15" name="Shape 5"/>
          <p:cNvSpPr/>
          <p:nvPr/>
        </p:nvSpPr>
        <p:spPr>
          <a:xfrm>
            <a:off x="840960" y="4827960"/>
            <a:ext cx="2926080" cy="360"/>
          </a:xfrm>
          <a:prstGeom prst="line">
            <a:avLst/>
          </a:prstGeom>
          <a:ln w="25400">
            <a:solidFill>
              <a:srgbClr val="CB5E2E"/>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6" name="Text 6"/>
          <p:cNvSpPr/>
          <p:nvPr/>
        </p:nvSpPr>
        <p:spPr>
          <a:xfrm>
            <a:off x="822960" y="502920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E4EAF0"/>
                </a:solidFill>
                <a:effectLst/>
                <a:uFillTx/>
                <a:latin typeface="Calibri"/>
                <a:ea typeface="Calibri"/>
              </a:rPr>
              <a:t>Curso de Inteligencia Artificial Aplicada · INEGI 2026</a:t>
            </a:r>
            <a:endParaRPr lang="en-US" sz="1300" b="0" u="none" strike="noStrike">
              <a:solidFill>
                <a:srgbClr val="FFFFFF"/>
              </a:solidFill>
              <a:effectLst/>
              <a:uFillTx/>
              <a:latin typeface="Arial"/>
            </a:endParaRPr>
          </a:p>
        </p:txBody>
      </p:sp>
      <p:sp>
        <p:nvSpPr>
          <p:cNvPr id="17" name="Text 7"/>
          <p:cNvSpPr/>
          <p:nvPr/>
        </p:nvSpPr>
        <p:spPr>
          <a:xfrm>
            <a:off x="822960" y="537660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60707E"/>
                </a:solidFill>
                <a:effectLst/>
                <a:uFillTx/>
                <a:latin typeface="Calibri"/>
                <a:ea typeface="Calibri"/>
              </a:rPr>
              <a:t>Módulo III, Sesión 1 · abre el bloque cuantitativo · 11:00 a 13:30 h</a:t>
            </a:r>
            <a:endParaRPr lang="en-US" sz="13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Cómo usamos los 150 minutos</a:t>
            </a:r>
            <a:endParaRPr lang="en-US" sz="2900" b="0" u="none" strike="noStrike">
              <a:solidFill>
                <a:srgbClr val="000000"/>
              </a:solidFill>
              <a:effectLst/>
              <a:uFillTx/>
              <a:latin typeface="Arial"/>
            </a:endParaRPr>
          </a:p>
        </p:txBody>
      </p:sp>
      <p:sp>
        <p:nvSpPr>
          <p:cNvPr id="19"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Tres bloques de concepto con demo corta, un receso, y una práctica que se va de tarea.</a:t>
            </a:r>
            <a:endParaRPr lang="en-US" sz="1400" b="0" u="none" strike="noStrike">
              <a:solidFill>
                <a:srgbClr val="000000"/>
              </a:solidFill>
              <a:effectLst/>
              <a:uFillTx/>
              <a:latin typeface="Arial"/>
            </a:endParaRPr>
          </a:p>
        </p:txBody>
      </p:sp>
      <p:sp>
        <p:nvSpPr>
          <p:cNvPr id="20" name="Shape 2"/>
          <p:cNvSpPr/>
          <p:nvPr/>
        </p:nvSpPr>
        <p:spPr>
          <a:xfrm>
            <a:off x="548640" y="1737360"/>
            <a:ext cx="11091240" cy="511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 name="Text 3"/>
          <p:cNvSpPr/>
          <p:nvPr/>
        </p:nvSpPr>
        <p:spPr>
          <a:xfrm>
            <a:off x="685800" y="173736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11:00</a:t>
            </a:r>
            <a:endParaRPr lang="en-US" sz="1600" b="0" u="none" strike="noStrike">
              <a:solidFill>
                <a:srgbClr val="000000"/>
              </a:solidFill>
              <a:effectLst/>
              <a:uFillTx/>
              <a:latin typeface="Arial"/>
            </a:endParaRPr>
          </a:p>
        </p:txBody>
      </p:sp>
      <p:sp>
        <p:nvSpPr>
          <p:cNvPr id="22" name="Text 4"/>
          <p:cNvSpPr/>
          <p:nvPr/>
        </p:nvSpPr>
        <p:spPr>
          <a:xfrm>
            <a:off x="2194560" y="173736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Apertura: un estimador que corre no es uno correcto</a:t>
            </a:r>
            <a:endParaRPr lang="en-US" sz="1400" b="0" u="none" strike="noStrike">
              <a:solidFill>
                <a:srgbClr val="000000"/>
              </a:solidFill>
              <a:effectLst/>
              <a:uFillTx/>
              <a:latin typeface="Arial"/>
            </a:endParaRPr>
          </a:p>
        </p:txBody>
      </p:sp>
      <p:sp>
        <p:nvSpPr>
          <p:cNvPr id="23" name="Shape 5"/>
          <p:cNvSpPr/>
          <p:nvPr/>
        </p:nvSpPr>
        <p:spPr>
          <a:xfrm>
            <a:off x="548640" y="2249280"/>
            <a:ext cx="11091240" cy="511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 name="Text 6"/>
          <p:cNvSpPr/>
          <p:nvPr/>
        </p:nvSpPr>
        <p:spPr>
          <a:xfrm>
            <a:off x="685800" y="224928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11:12</a:t>
            </a:r>
            <a:endParaRPr lang="en-US" sz="1600" b="0" u="none" strike="noStrike">
              <a:solidFill>
                <a:srgbClr val="000000"/>
              </a:solidFill>
              <a:effectLst/>
              <a:uFillTx/>
              <a:latin typeface="Arial"/>
            </a:endParaRPr>
          </a:p>
        </p:txBody>
      </p:sp>
      <p:sp>
        <p:nvSpPr>
          <p:cNvPr id="25" name="Text 7"/>
          <p:cNvSpPr/>
          <p:nvPr/>
        </p:nvSpPr>
        <p:spPr>
          <a:xfrm>
            <a:off x="2194560" y="224928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Bloque 1 · Diseño muestral y factores de expansión</a:t>
            </a:r>
            <a:endParaRPr lang="en-US" sz="1400" b="0" u="none" strike="noStrike">
              <a:solidFill>
                <a:srgbClr val="000000"/>
              </a:solidFill>
              <a:effectLst/>
              <a:uFillTx/>
              <a:latin typeface="Arial"/>
            </a:endParaRPr>
          </a:p>
        </p:txBody>
      </p:sp>
      <p:sp>
        <p:nvSpPr>
          <p:cNvPr id="26" name="Shape 8"/>
          <p:cNvSpPr/>
          <p:nvPr/>
        </p:nvSpPr>
        <p:spPr>
          <a:xfrm>
            <a:off x="548640" y="2761560"/>
            <a:ext cx="11091240" cy="511560"/>
          </a:xfrm>
          <a:prstGeom prst="rect">
            <a:avLst/>
          </a:prstGeom>
          <a:solidFill>
            <a:srgbClr val="FBEEE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 name="Text 9"/>
          <p:cNvSpPr/>
          <p:nvPr/>
        </p:nvSpPr>
        <p:spPr>
          <a:xfrm>
            <a:off x="685800" y="276156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8C3E19"/>
                </a:solidFill>
                <a:effectLst/>
                <a:uFillTx/>
                <a:latin typeface="Cambria"/>
                <a:ea typeface="Cambria"/>
              </a:rPr>
              <a:t>11:40</a:t>
            </a:r>
            <a:endParaRPr lang="en-US" sz="1600" b="0" u="none" strike="noStrike">
              <a:solidFill>
                <a:srgbClr val="000000"/>
              </a:solidFill>
              <a:effectLst/>
              <a:uFillTx/>
              <a:latin typeface="Arial"/>
            </a:endParaRPr>
          </a:p>
        </p:txBody>
      </p:sp>
      <p:sp>
        <p:nvSpPr>
          <p:cNvPr id="28" name="Text 10"/>
          <p:cNvSpPr/>
          <p:nvPr/>
        </p:nvSpPr>
        <p:spPr>
          <a:xfrm>
            <a:off x="2194560" y="276156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8C3E19"/>
                </a:solidFill>
                <a:effectLst/>
                <a:uFillTx/>
                <a:latin typeface="Calibri"/>
                <a:ea typeface="Calibri"/>
              </a:rPr>
              <a:t>Receso · 10 minutos</a:t>
            </a:r>
            <a:endParaRPr lang="en-US" sz="1400" b="0" u="none" strike="noStrike">
              <a:solidFill>
                <a:srgbClr val="000000"/>
              </a:solidFill>
              <a:effectLst/>
              <a:uFillTx/>
              <a:latin typeface="Arial"/>
            </a:endParaRPr>
          </a:p>
        </p:txBody>
      </p:sp>
      <p:sp>
        <p:nvSpPr>
          <p:cNvPr id="29" name="Shape 11"/>
          <p:cNvSpPr/>
          <p:nvPr/>
        </p:nvSpPr>
        <p:spPr>
          <a:xfrm>
            <a:off x="548640" y="3273480"/>
            <a:ext cx="11091240" cy="511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 name="Text 12"/>
          <p:cNvSpPr/>
          <p:nvPr/>
        </p:nvSpPr>
        <p:spPr>
          <a:xfrm>
            <a:off x="685800" y="327348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11:50</a:t>
            </a:r>
            <a:endParaRPr lang="en-US" sz="1600" b="0" u="none" strike="noStrike">
              <a:solidFill>
                <a:srgbClr val="000000"/>
              </a:solidFill>
              <a:effectLst/>
              <a:uFillTx/>
              <a:latin typeface="Arial"/>
            </a:endParaRPr>
          </a:p>
        </p:txBody>
      </p:sp>
      <p:sp>
        <p:nvSpPr>
          <p:cNvPr id="31" name="Text 13"/>
          <p:cNvSpPr/>
          <p:nvPr/>
        </p:nvSpPr>
        <p:spPr>
          <a:xfrm>
            <a:off x="2194560" y="327348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Bloque 2 · Inferencia y errores estándar</a:t>
            </a:r>
            <a:endParaRPr lang="en-US" sz="1400" b="0" u="none" strike="noStrike">
              <a:solidFill>
                <a:srgbClr val="000000"/>
              </a:solidFill>
              <a:effectLst/>
              <a:uFillTx/>
              <a:latin typeface="Arial"/>
            </a:endParaRPr>
          </a:p>
        </p:txBody>
      </p:sp>
      <p:sp>
        <p:nvSpPr>
          <p:cNvPr id="32" name="Shape 14"/>
          <p:cNvSpPr/>
          <p:nvPr/>
        </p:nvSpPr>
        <p:spPr>
          <a:xfrm>
            <a:off x="548640" y="3785760"/>
            <a:ext cx="11091240" cy="511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 name="Text 15"/>
          <p:cNvSpPr/>
          <p:nvPr/>
        </p:nvSpPr>
        <p:spPr>
          <a:xfrm>
            <a:off x="685800" y="378576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12:20</a:t>
            </a:r>
            <a:endParaRPr lang="en-US" sz="1600" b="0" u="none" strike="noStrike">
              <a:solidFill>
                <a:srgbClr val="000000"/>
              </a:solidFill>
              <a:effectLst/>
              <a:uFillTx/>
              <a:latin typeface="Arial"/>
            </a:endParaRPr>
          </a:p>
        </p:txBody>
      </p:sp>
      <p:sp>
        <p:nvSpPr>
          <p:cNvPr id="34" name="Text 16"/>
          <p:cNvSpPr/>
          <p:nvPr/>
        </p:nvSpPr>
        <p:spPr>
          <a:xfrm>
            <a:off x="2194560" y="378576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Bloque 3 · Agregación y paradoja de Simpson</a:t>
            </a:r>
            <a:endParaRPr lang="en-US" sz="1400" b="0" u="none" strike="noStrike">
              <a:solidFill>
                <a:srgbClr val="000000"/>
              </a:solidFill>
              <a:effectLst/>
              <a:uFillTx/>
              <a:latin typeface="Arial"/>
            </a:endParaRPr>
          </a:p>
        </p:txBody>
      </p:sp>
      <p:sp>
        <p:nvSpPr>
          <p:cNvPr id="35" name="Shape 17"/>
          <p:cNvSpPr/>
          <p:nvPr/>
        </p:nvSpPr>
        <p:spPr>
          <a:xfrm>
            <a:off x="548640" y="4297680"/>
            <a:ext cx="11091240" cy="511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Text 18"/>
          <p:cNvSpPr/>
          <p:nvPr/>
        </p:nvSpPr>
        <p:spPr>
          <a:xfrm>
            <a:off x="685800" y="429768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12:45</a:t>
            </a:r>
            <a:endParaRPr lang="en-US" sz="1600" b="0" u="none" strike="noStrike">
              <a:solidFill>
                <a:srgbClr val="000000"/>
              </a:solidFill>
              <a:effectLst/>
              <a:uFillTx/>
              <a:latin typeface="Arial"/>
            </a:endParaRPr>
          </a:p>
        </p:txBody>
      </p:sp>
      <p:sp>
        <p:nvSpPr>
          <p:cNvPr id="37" name="Text 19"/>
          <p:cNvSpPr/>
          <p:nvPr/>
        </p:nvSpPr>
        <p:spPr>
          <a:xfrm>
            <a:off x="2194560" y="429768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Síntesis y cómo pedirle el análisis a la IA</a:t>
            </a:r>
            <a:endParaRPr lang="en-US" sz="1400" b="0" u="none" strike="noStrike">
              <a:solidFill>
                <a:srgbClr val="000000"/>
              </a:solidFill>
              <a:effectLst/>
              <a:uFillTx/>
              <a:latin typeface="Arial"/>
            </a:endParaRPr>
          </a:p>
        </p:txBody>
      </p:sp>
      <p:sp>
        <p:nvSpPr>
          <p:cNvPr id="38" name="Shape 20"/>
          <p:cNvSpPr/>
          <p:nvPr/>
        </p:nvSpPr>
        <p:spPr>
          <a:xfrm>
            <a:off x="548640" y="4809600"/>
            <a:ext cx="11091240" cy="511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 name="Text 21"/>
          <p:cNvSpPr/>
          <p:nvPr/>
        </p:nvSpPr>
        <p:spPr>
          <a:xfrm>
            <a:off x="685800" y="480960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13:05</a:t>
            </a:r>
            <a:endParaRPr lang="en-US" sz="1600" b="0" u="none" strike="noStrike">
              <a:solidFill>
                <a:srgbClr val="000000"/>
              </a:solidFill>
              <a:effectLst/>
              <a:uFillTx/>
              <a:latin typeface="Arial"/>
            </a:endParaRPr>
          </a:p>
        </p:txBody>
      </p:sp>
      <p:sp>
        <p:nvSpPr>
          <p:cNvPr id="40" name="Text 22"/>
          <p:cNvSpPr/>
          <p:nvPr/>
        </p:nvSpPr>
        <p:spPr>
          <a:xfrm>
            <a:off x="2194560" y="480960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Práctica guiada y encuadre de la tarea</a:t>
            </a:r>
            <a:endParaRPr lang="en-US" sz="1400" b="0" u="none" strike="noStrike">
              <a:solidFill>
                <a:srgbClr val="000000"/>
              </a:solidFill>
              <a:effectLst/>
              <a:uFillTx/>
              <a:latin typeface="Arial"/>
            </a:endParaRPr>
          </a:p>
        </p:txBody>
      </p:sp>
      <p:sp>
        <p:nvSpPr>
          <p:cNvPr id="41" name="Shape 23"/>
          <p:cNvSpPr/>
          <p:nvPr/>
        </p:nvSpPr>
        <p:spPr>
          <a:xfrm>
            <a:off x="548640" y="5321880"/>
            <a:ext cx="11091240" cy="511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 name="Text 24"/>
          <p:cNvSpPr/>
          <p:nvPr/>
        </p:nvSpPr>
        <p:spPr>
          <a:xfrm>
            <a:off x="685800" y="5321880"/>
            <a:ext cx="137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CB5E2E"/>
                </a:solidFill>
                <a:effectLst/>
                <a:uFillTx/>
                <a:latin typeface="Cambria"/>
                <a:ea typeface="Cambria"/>
              </a:rPr>
              <a:t>13:25</a:t>
            </a:r>
            <a:endParaRPr lang="en-US" sz="1600" b="0" u="none" strike="noStrike">
              <a:solidFill>
                <a:srgbClr val="000000"/>
              </a:solidFill>
              <a:effectLst/>
              <a:uFillTx/>
              <a:latin typeface="Arial"/>
            </a:endParaRPr>
          </a:p>
        </p:txBody>
      </p:sp>
      <p:sp>
        <p:nvSpPr>
          <p:cNvPr id="43" name="Text 25"/>
          <p:cNvSpPr/>
          <p:nvPr/>
        </p:nvSpPr>
        <p:spPr>
          <a:xfrm>
            <a:off x="2194560" y="5321880"/>
            <a:ext cx="92624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1E2A35"/>
                </a:solidFill>
                <a:effectLst/>
                <a:uFillTx/>
                <a:latin typeface="Calibri"/>
                <a:ea typeface="Calibri"/>
              </a:rPr>
              <a:t>Cierre y puente a la Sesión 8</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Text 38"/>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Anatomía de un buen prompt cuantitativo</a:t>
            </a:r>
            <a:endParaRPr lang="en-US" sz="2900" b="0" u="none" strike="noStrike">
              <a:solidFill>
                <a:srgbClr val="000000"/>
              </a:solidFill>
              <a:effectLst/>
              <a:uFillTx/>
              <a:latin typeface="Arial"/>
            </a:endParaRPr>
          </a:p>
        </p:txBody>
      </p:sp>
      <p:sp>
        <p:nvSpPr>
          <p:cNvPr id="45" name="Text 42"/>
          <p:cNvSpPr/>
          <p:nvPr/>
        </p:nvSpPr>
        <p:spPr>
          <a:xfrm>
            <a:off x="548640" y="1042560"/>
            <a:ext cx="11091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Un pedido vago no da error: da un número calculado sobre supuestos que tú no elegiste. Cuatro cosas que el prompt debe fijar.</a:t>
            </a:r>
            <a:endParaRPr lang="en-US" sz="1400" b="0" u="none" strike="noStrike">
              <a:solidFill>
                <a:srgbClr val="000000"/>
              </a:solidFill>
              <a:effectLst/>
              <a:uFillTx/>
              <a:latin typeface="Arial"/>
            </a:endParaRPr>
          </a:p>
        </p:txBody>
      </p:sp>
      <p:sp>
        <p:nvSpPr>
          <p:cNvPr id="46" name="Shape 2"/>
          <p:cNvSpPr/>
          <p:nvPr/>
        </p:nvSpPr>
        <p:spPr>
          <a:xfrm>
            <a:off x="548640" y="1783080"/>
            <a:ext cx="5394600" cy="959760"/>
          </a:xfrm>
          <a:prstGeom prst="roundRect">
            <a:avLst>
              <a:gd name="adj" fmla="val 571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 name="Shape 3"/>
          <p:cNvSpPr/>
          <p:nvPr/>
        </p:nvSpPr>
        <p:spPr>
          <a:xfrm>
            <a:off x="749880" y="2075760"/>
            <a:ext cx="383760" cy="3837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 name="Text 46"/>
          <p:cNvSpPr/>
          <p:nvPr/>
        </p:nvSpPr>
        <p:spPr>
          <a:xfrm>
            <a:off x="749880" y="207576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mbria"/>
                <a:ea typeface="Cambria"/>
              </a:rPr>
              <a:t>1</a:t>
            </a:r>
            <a:endParaRPr lang="en-US" sz="1600" b="0" u="none" strike="noStrike">
              <a:solidFill>
                <a:srgbClr val="000000"/>
              </a:solidFill>
              <a:effectLst/>
              <a:uFillTx/>
              <a:latin typeface="Arial"/>
            </a:endParaRPr>
          </a:p>
        </p:txBody>
      </p:sp>
      <p:sp>
        <p:nvSpPr>
          <p:cNvPr id="49" name="Text 50"/>
          <p:cNvSpPr/>
          <p:nvPr/>
        </p:nvSpPr>
        <p:spPr>
          <a:xfrm>
            <a:off x="1280160" y="1929240"/>
            <a:ext cx="4480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Nombra las columnas exactas</a:t>
            </a:r>
            <a:endParaRPr lang="en-US" sz="1450" b="0" u="none" strike="noStrike">
              <a:solidFill>
                <a:srgbClr val="000000"/>
              </a:solidFill>
              <a:effectLst/>
              <a:uFillTx/>
              <a:latin typeface="Arial"/>
            </a:endParaRPr>
          </a:p>
        </p:txBody>
      </p:sp>
      <p:sp>
        <p:nvSpPr>
          <p:cNvPr id="50" name="Text 51"/>
          <p:cNvSpPr/>
          <p:nvPr/>
        </p:nvSpPr>
        <p:spPr>
          <a:xfrm>
            <a:off x="1280160" y="2258640"/>
            <a:ext cx="4480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50" b="0" u="none" strike="noStrike">
                <a:solidFill>
                  <a:srgbClr val="60707E"/>
                </a:solidFill>
                <a:effectLst/>
                <a:uFillTx/>
                <a:latin typeface="Calibri"/>
                <a:ea typeface="Calibri"/>
              </a:rPr>
              <a:t>«monto_apoyo», «entidad», no «el gasto». La IA no adivina cuál columna es cuál.</a:t>
            </a:r>
            <a:endParaRPr lang="en-US" sz="1150" b="0" u="none" strike="noStrike">
              <a:solidFill>
                <a:srgbClr val="000000"/>
              </a:solidFill>
              <a:effectLst/>
              <a:uFillTx/>
              <a:latin typeface="Arial"/>
            </a:endParaRPr>
          </a:p>
        </p:txBody>
      </p:sp>
      <p:sp>
        <p:nvSpPr>
          <p:cNvPr id="51" name="Shape 7"/>
          <p:cNvSpPr/>
          <p:nvPr/>
        </p:nvSpPr>
        <p:spPr>
          <a:xfrm>
            <a:off x="6245280" y="1783080"/>
            <a:ext cx="5394600" cy="959760"/>
          </a:xfrm>
          <a:prstGeom prst="roundRect">
            <a:avLst>
              <a:gd name="adj" fmla="val 571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Shape 8"/>
          <p:cNvSpPr/>
          <p:nvPr/>
        </p:nvSpPr>
        <p:spPr>
          <a:xfrm>
            <a:off x="6446520" y="2075760"/>
            <a:ext cx="383760" cy="3837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 name="Text 54"/>
          <p:cNvSpPr/>
          <p:nvPr/>
        </p:nvSpPr>
        <p:spPr>
          <a:xfrm>
            <a:off x="6446520" y="207576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mbria"/>
                <a:ea typeface="Cambria"/>
              </a:rPr>
              <a:t>2</a:t>
            </a:r>
            <a:endParaRPr lang="en-US" sz="1600" b="0" u="none" strike="noStrike">
              <a:solidFill>
                <a:srgbClr val="000000"/>
              </a:solidFill>
              <a:effectLst/>
              <a:uFillTx/>
              <a:latin typeface="Arial"/>
            </a:endParaRPr>
          </a:p>
        </p:txBody>
      </p:sp>
      <p:sp>
        <p:nvSpPr>
          <p:cNvPr id="54" name="Text 55"/>
          <p:cNvSpPr/>
          <p:nvPr/>
        </p:nvSpPr>
        <p:spPr>
          <a:xfrm>
            <a:off x="6976800" y="1929240"/>
            <a:ext cx="4480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Define la unidad de análisis</a:t>
            </a:r>
            <a:endParaRPr lang="en-US" sz="1450" b="0" u="none" strike="noStrike">
              <a:solidFill>
                <a:srgbClr val="000000"/>
              </a:solidFill>
              <a:effectLst/>
              <a:uFillTx/>
              <a:latin typeface="Arial"/>
            </a:endParaRPr>
          </a:p>
        </p:txBody>
      </p:sp>
      <p:sp>
        <p:nvSpPr>
          <p:cNvPr id="55" name="Text 56"/>
          <p:cNvSpPr/>
          <p:nvPr/>
        </p:nvSpPr>
        <p:spPr>
          <a:xfrm>
            <a:off x="6976800" y="2258640"/>
            <a:ext cx="4480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50" b="0" u="none" strike="noStrike">
                <a:solidFill>
                  <a:srgbClr val="60707E"/>
                </a:solidFill>
                <a:effectLst/>
                <a:uFillTx/>
                <a:latin typeface="Calibri"/>
                <a:ea typeface="Calibri"/>
              </a:rPr>
              <a:t>¿Por entidad, por beneficiario, por folio único? Cambia por completo el resultado.</a:t>
            </a:r>
            <a:endParaRPr lang="en-US" sz="1150" b="0" u="none" strike="noStrike">
              <a:solidFill>
                <a:srgbClr val="000000"/>
              </a:solidFill>
              <a:effectLst/>
              <a:uFillTx/>
              <a:latin typeface="Arial"/>
            </a:endParaRPr>
          </a:p>
        </p:txBody>
      </p:sp>
      <p:sp>
        <p:nvSpPr>
          <p:cNvPr id="56" name="Shape 12"/>
          <p:cNvSpPr/>
          <p:nvPr/>
        </p:nvSpPr>
        <p:spPr>
          <a:xfrm>
            <a:off x="548640" y="2944440"/>
            <a:ext cx="5394600" cy="959760"/>
          </a:xfrm>
          <a:prstGeom prst="roundRect">
            <a:avLst>
              <a:gd name="adj" fmla="val 571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 name="Shape 13"/>
          <p:cNvSpPr/>
          <p:nvPr/>
        </p:nvSpPr>
        <p:spPr>
          <a:xfrm>
            <a:off x="749880" y="3237120"/>
            <a:ext cx="383760" cy="3837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Text 57"/>
          <p:cNvSpPr/>
          <p:nvPr/>
        </p:nvSpPr>
        <p:spPr>
          <a:xfrm>
            <a:off x="749880" y="323712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mbria"/>
                <a:ea typeface="Cambria"/>
              </a:rPr>
              <a:t>3</a:t>
            </a:r>
            <a:endParaRPr lang="en-US" sz="1600" b="0" u="none" strike="noStrike">
              <a:solidFill>
                <a:srgbClr val="000000"/>
              </a:solidFill>
              <a:effectLst/>
              <a:uFillTx/>
              <a:latin typeface="Arial"/>
            </a:endParaRPr>
          </a:p>
        </p:txBody>
      </p:sp>
      <p:sp>
        <p:nvSpPr>
          <p:cNvPr id="59" name="Text 58"/>
          <p:cNvSpPr/>
          <p:nvPr/>
        </p:nvSpPr>
        <p:spPr>
          <a:xfrm>
            <a:off x="1280160" y="3090600"/>
            <a:ext cx="4480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Di qué hacer con lo inválido</a:t>
            </a:r>
            <a:endParaRPr lang="en-US" sz="1450" b="0" u="none" strike="noStrike">
              <a:solidFill>
                <a:srgbClr val="000000"/>
              </a:solidFill>
              <a:effectLst/>
              <a:uFillTx/>
              <a:latin typeface="Arial"/>
            </a:endParaRPr>
          </a:p>
        </p:txBody>
      </p:sp>
      <p:sp>
        <p:nvSpPr>
          <p:cNvPr id="60" name="Text 59"/>
          <p:cNvSpPr/>
          <p:nvPr/>
        </p:nvSpPr>
        <p:spPr>
          <a:xfrm>
            <a:off x="1280160" y="3420000"/>
            <a:ext cx="4480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50" b="0" u="none" strike="noStrike">
                <a:solidFill>
                  <a:srgbClr val="60707E"/>
                </a:solidFill>
                <a:effectLst/>
                <a:uFillTx/>
                <a:latin typeface="Calibri"/>
                <a:ea typeface="Calibri"/>
              </a:rPr>
              <a:t>Trata el texto como número, ignora las vacías, cuenta cada folio una sola vez.</a:t>
            </a:r>
            <a:endParaRPr lang="en-US" sz="1150" b="0" u="none" strike="noStrike">
              <a:solidFill>
                <a:srgbClr val="000000"/>
              </a:solidFill>
              <a:effectLst/>
              <a:uFillTx/>
              <a:latin typeface="Arial"/>
            </a:endParaRPr>
          </a:p>
        </p:txBody>
      </p:sp>
      <p:sp>
        <p:nvSpPr>
          <p:cNvPr id="61" name="Shape 17"/>
          <p:cNvSpPr/>
          <p:nvPr/>
        </p:nvSpPr>
        <p:spPr>
          <a:xfrm>
            <a:off x="6245280" y="2944440"/>
            <a:ext cx="5394600" cy="959760"/>
          </a:xfrm>
          <a:prstGeom prst="roundRect">
            <a:avLst>
              <a:gd name="adj" fmla="val 571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 name="Shape 18"/>
          <p:cNvSpPr/>
          <p:nvPr/>
        </p:nvSpPr>
        <p:spPr>
          <a:xfrm>
            <a:off x="6446520" y="3237120"/>
            <a:ext cx="383760" cy="3837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 name="Text 60"/>
          <p:cNvSpPr/>
          <p:nvPr/>
        </p:nvSpPr>
        <p:spPr>
          <a:xfrm>
            <a:off x="6446520" y="323712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mbria"/>
                <a:ea typeface="Cambria"/>
              </a:rPr>
              <a:t>4</a:t>
            </a:r>
            <a:endParaRPr lang="en-US" sz="1600" b="0" u="none" strike="noStrike">
              <a:solidFill>
                <a:srgbClr val="000000"/>
              </a:solidFill>
              <a:effectLst/>
              <a:uFillTx/>
              <a:latin typeface="Arial"/>
            </a:endParaRPr>
          </a:p>
        </p:txBody>
      </p:sp>
      <p:sp>
        <p:nvSpPr>
          <p:cNvPr id="64" name="Text 61"/>
          <p:cNvSpPr/>
          <p:nvPr/>
        </p:nvSpPr>
        <p:spPr>
          <a:xfrm>
            <a:off x="6976800" y="3090600"/>
            <a:ext cx="4480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Especifica la salida</a:t>
            </a:r>
            <a:endParaRPr lang="en-US" sz="1450" b="0" u="none" strike="noStrike">
              <a:solidFill>
                <a:srgbClr val="000000"/>
              </a:solidFill>
              <a:effectLst/>
              <a:uFillTx/>
              <a:latin typeface="Arial"/>
            </a:endParaRPr>
          </a:p>
        </p:txBody>
      </p:sp>
      <p:sp>
        <p:nvSpPr>
          <p:cNvPr id="65" name="Text 62"/>
          <p:cNvSpPr/>
          <p:nvPr/>
        </p:nvSpPr>
        <p:spPr>
          <a:xfrm>
            <a:off x="6976800" y="3420000"/>
            <a:ext cx="4480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50" b="0" u="none" strike="noStrike">
                <a:solidFill>
                  <a:srgbClr val="60707E"/>
                </a:solidFill>
                <a:effectLst/>
                <a:uFillTx/>
                <a:latin typeface="Calibri"/>
                <a:ea typeface="Calibri"/>
              </a:rPr>
              <a:t>Promedio y conteo, redondeado a pesos, en una tabla. Que no elija el formato por ti.</a:t>
            </a:r>
            <a:endParaRPr lang="en-US" sz="1150" b="0" u="none" strike="noStrike">
              <a:solidFill>
                <a:srgbClr val="000000"/>
              </a:solidFill>
              <a:effectLst/>
              <a:uFillTx/>
              <a:latin typeface="Arial"/>
            </a:endParaRPr>
          </a:p>
        </p:txBody>
      </p:sp>
      <p:sp>
        <p:nvSpPr>
          <p:cNvPr id="66" name="Shape 22"/>
          <p:cNvSpPr/>
          <p:nvPr/>
        </p:nvSpPr>
        <p:spPr>
          <a:xfrm>
            <a:off x="548640" y="4160520"/>
            <a:ext cx="5394600" cy="1691280"/>
          </a:xfrm>
          <a:prstGeom prst="roundRect">
            <a:avLst>
              <a:gd name="adj" fmla="val 3243"/>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 name="Text 63"/>
          <p:cNvSpPr/>
          <p:nvPr/>
        </p:nvSpPr>
        <p:spPr>
          <a:xfrm>
            <a:off x="822960" y="4297680"/>
            <a:ext cx="484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A23B22"/>
                </a:solidFill>
                <a:effectLst/>
                <a:uFillTx/>
                <a:latin typeface="Calibri"/>
                <a:ea typeface="Calibri"/>
              </a:rPr>
              <a:t>VAGO</a:t>
            </a:r>
            <a:endParaRPr lang="en-US" sz="1200" b="0" u="none" strike="noStrike">
              <a:solidFill>
                <a:srgbClr val="000000"/>
              </a:solidFill>
              <a:effectLst/>
              <a:uFillTx/>
              <a:latin typeface="Arial"/>
            </a:endParaRPr>
          </a:p>
        </p:txBody>
      </p:sp>
      <p:sp>
        <p:nvSpPr>
          <p:cNvPr id="68" name="Text 64"/>
          <p:cNvSpPr/>
          <p:nvPr/>
        </p:nvSpPr>
        <p:spPr>
          <a:xfrm>
            <a:off x="822960" y="4599360"/>
            <a:ext cx="484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u="none" strike="noStrike">
                <a:solidFill>
                  <a:srgbClr val="1E2A35"/>
                </a:solidFill>
                <a:effectLst/>
                <a:uFillTx/>
                <a:latin typeface="Cambria"/>
                <a:ea typeface="Cambria"/>
              </a:rPr>
              <a:t>«saca el promedio del apoyo»</a:t>
            </a:r>
            <a:endParaRPr lang="en-US" sz="1400" b="0" u="none" strike="noStrike">
              <a:solidFill>
                <a:srgbClr val="000000"/>
              </a:solidFill>
              <a:effectLst/>
              <a:uFillTx/>
              <a:latin typeface="Arial"/>
            </a:endParaRPr>
          </a:p>
        </p:txBody>
      </p:sp>
      <p:sp>
        <p:nvSpPr>
          <p:cNvPr id="69" name="Text 65"/>
          <p:cNvSpPr/>
          <p:nvPr/>
        </p:nvSpPr>
        <p:spPr>
          <a:xfrm>
            <a:off x="822960" y="5029200"/>
            <a:ext cx="48459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u="none" strike="noStrike">
                <a:solidFill>
                  <a:srgbClr val="1E2A35"/>
                </a:solidFill>
                <a:effectLst/>
                <a:uFillTx/>
                <a:latin typeface="Calibri"/>
                <a:ea typeface="Calibri"/>
              </a:rPr>
              <a:t>La IA adivina la columna, el redondeo, y qué hace con el texto, los vacíos y los duplicados.</a:t>
            </a:r>
            <a:endParaRPr lang="en-US" sz="1200" b="0" u="none" strike="noStrike">
              <a:solidFill>
                <a:srgbClr val="000000"/>
              </a:solidFill>
              <a:effectLst/>
              <a:uFillTx/>
              <a:latin typeface="Arial"/>
            </a:endParaRPr>
          </a:p>
        </p:txBody>
      </p:sp>
      <p:sp>
        <p:nvSpPr>
          <p:cNvPr id="70" name="Shape 26"/>
          <p:cNvSpPr/>
          <p:nvPr/>
        </p:nvSpPr>
        <p:spPr>
          <a:xfrm>
            <a:off x="6245280" y="4160520"/>
            <a:ext cx="5394600" cy="1691280"/>
          </a:xfrm>
          <a:prstGeom prst="roundRect">
            <a:avLst>
              <a:gd name="adj" fmla="val 3243"/>
            </a:avLst>
          </a:prstGeom>
          <a:solidFill>
            <a:srgbClr val="E7F2EA"/>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 name="Text 66"/>
          <p:cNvSpPr/>
          <p:nvPr/>
        </p:nvSpPr>
        <p:spPr>
          <a:xfrm>
            <a:off x="6519600" y="4297680"/>
            <a:ext cx="484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2E6E49"/>
                </a:solidFill>
                <a:effectLst/>
                <a:uFillTx/>
                <a:latin typeface="Calibri"/>
                <a:ea typeface="Calibri"/>
              </a:rPr>
              <a:t>PRECISO</a:t>
            </a:r>
            <a:endParaRPr lang="en-US" sz="1200" b="0" u="none" strike="noStrike">
              <a:solidFill>
                <a:srgbClr val="000000"/>
              </a:solidFill>
              <a:effectLst/>
              <a:uFillTx/>
              <a:latin typeface="Arial"/>
            </a:endParaRPr>
          </a:p>
        </p:txBody>
      </p:sp>
      <p:sp>
        <p:nvSpPr>
          <p:cNvPr id="72" name="Text 67"/>
          <p:cNvSpPr/>
          <p:nvPr/>
        </p:nvSpPr>
        <p:spPr>
          <a:xfrm>
            <a:off x="6519600" y="4599360"/>
            <a:ext cx="48459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u="none" strike="noStrike">
                <a:solidFill>
                  <a:srgbClr val="1E2A35"/>
                </a:solidFill>
                <a:effectLst/>
                <a:uFillTx/>
                <a:latin typeface="Calibri"/>
                <a:ea typeface="Calibri"/>
              </a:rPr>
              <a:t>«promedio de monto_apoyo por entidad, tratando el texto como número, ignorando vacías y contando cada folio una sola vez; redondea a pesos y dame el conteo»</a:t>
            </a:r>
            <a:endParaRPr lang="en-US" sz="1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Errores comunes al usar IA para análisis cuantitativo</a:t>
            </a:r>
            <a:endParaRPr lang="en-US" sz="2900" b="0" u="none" strike="noStrike">
              <a:solidFill>
                <a:srgbClr val="000000"/>
              </a:solidFill>
              <a:effectLst/>
              <a:uFillTx/>
              <a:latin typeface="Arial"/>
            </a:endParaRPr>
          </a:p>
        </p:txBody>
      </p:sp>
      <p:sp>
        <p:nvSpPr>
          <p:cNvPr id="74"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Ustedes dominan la estadística. Un asistente moderno cada vez acierta más en lo mecánico, ponderar o el error correcto; lo que no puede saber es su contexto. El riesgo es un número que corre, se ve bien, y está mal.</a:t>
            </a:r>
            <a:endParaRPr lang="en-US" sz="1400" b="0" u="none" strike="noStrike">
              <a:solidFill>
                <a:srgbClr val="000000"/>
              </a:solidFill>
              <a:effectLst/>
              <a:uFillTx/>
              <a:latin typeface="Arial"/>
            </a:endParaRPr>
          </a:p>
        </p:txBody>
      </p:sp>
      <p:sp>
        <p:nvSpPr>
          <p:cNvPr id="75" name="Shape 2"/>
          <p:cNvSpPr/>
          <p:nvPr/>
        </p:nvSpPr>
        <p:spPr>
          <a:xfrm>
            <a:off x="548640" y="2240280"/>
            <a:ext cx="3501720" cy="2925720"/>
          </a:xfrm>
          <a:prstGeom prst="roundRect">
            <a:avLst>
              <a:gd name="adj" fmla="val 1875"/>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Shape 3"/>
          <p:cNvSpPr/>
          <p:nvPr/>
        </p:nvSpPr>
        <p:spPr>
          <a:xfrm>
            <a:off x="804600" y="2514600"/>
            <a:ext cx="502560" cy="5025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Text 4"/>
          <p:cNvSpPr/>
          <p:nvPr/>
        </p:nvSpPr>
        <p:spPr>
          <a:xfrm>
            <a:off x="804600" y="251460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1</a:t>
            </a:r>
            <a:endParaRPr lang="en-US" sz="2000" b="0" u="none" strike="noStrike">
              <a:solidFill>
                <a:srgbClr val="000000"/>
              </a:solidFill>
              <a:effectLst/>
              <a:uFillTx/>
              <a:latin typeface="Arial"/>
            </a:endParaRPr>
          </a:p>
        </p:txBody>
      </p:sp>
      <p:sp>
        <p:nvSpPr>
          <p:cNvPr id="78" name="Text 5"/>
          <p:cNvSpPr/>
          <p:nvPr/>
        </p:nvSpPr>
        <p:spPr>
          <a:xfrm>
            <a:off x="804600" y="3154680"/>
            <a:ext cx="298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E2A35"/>
                </a:solidFill>
                <a:effectLst/>
                <a:uFillTx/>
                <a:latin typeface="Calibri"/>
                <a:ea typeface="Calibri"/>
              </a:rPr>
              <a:t>El diseño</a:t>
            </a:r>
            <a:endParaRPr lang="en-US" sz="1600" b="0" u="none" strike="noStrike">
              <a:solidFill>
                <a:srgbClr val="000000"/>
              </a:solidFill>
              <a:effectLst/>
              <a:uFillTx/>
              <a:latin typeface="Arial"/>
            </a:endParaRPr>
          </a:p>
        </p:txBody>
      </p:sp>
      <p:sp>
        <p:nvSpPr>
          <p:cNvPr id="79" name="Text 6"/>
          <p:cNvSpPr/>
          <p:nvPr/>
        </p:nvSpPr>
        <p:spPr>
          <a:xfrm>
            <a:off x="804600" y="3657600"/>
            <a:ext cx="29898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2000"/>
              </a:lnSpc>
              <a:tabLst>
                <a:tab pos="0" algn="l"/>
              </a:tabLst>
            </a:pPr>
            <a:r>
              <a:rPr lang="en-US" sz="1250" b="0" u="none" strike="noStrike">
                <a:solidFill>
                  <a:srgbClr val="60707E"/>
                </a:solidFill>
                <a:effectLst/>
                <a:uFillTx/>
                <a:latin typeface="Calibri"/>
                <a:ea typeface="Calibri"/>
              </a:rPr>
              <a:t>La IA promedia como si fuera muestra simple. Ignora los factores de expansión, y el número deja de ser poblacional.</a:t>
            </a:r>
            <a:endParaRPr lang="en-US" sz="1250" b="0" u="none" strike="noStrike">
              <a:solidFill>
                <a:srgbClr val="000000"/>
              </a:solidFill>
              <a:effectLst/>
              <a:uFillTx/>
              <a:latin typeface="Arial"/>
            </a:endParaRPr>
          </a:p>
        </p:txBody>
      </p:sp>
      <p:sp>
        <p:nvSpPr>
          <p:cNvPr id="80" name="Shape 7"/>
          <p:cNvSpPr/>
          <p:nvPr/>
        </p:nvSpPr>
        <p:spPr>
          <a:xfrm>
            <a:off x="804600" y="4635720"/>
            <a:ext cx="2990160" cy="360"/>
          </a:xfrm>
          <a:prstGeom prst="line">
            <a:avLst/>
          </a:prstGeom>
          <a:ln w="9525">
            <a:solidFill>
              <a:srgbClr val="D5DC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1" name="Text 8"/>
          <p:cNvSpPr/>
          <p:nvPr/>
        </p:nvSpPr>
        <p:spPr>
          <a:xfrm>
            <a:off x="804600" y="4690800"/>
            <a:ext cx="298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CB5E2E"/>
                </a:solidFill>
                <a:effectLst/>
                <a:uFillTx/>
                <a:latin typeface="Calibri"/>
                <a:ea typeface="Calibri"/>
              </a:rPr>
              <a:t>Bloque 1</a:t>
            </a:r>
            <a:endParaRPr lang="en-US" sz="1150" b="0" u="none" strike="noStrike">
              <a:solidFill>
                <a:srgbClr val="000000"/>
              </a:solidFill>
              <a:effectLst/>
              <a:uFillTx/>
              <a:latin typeface="Arial"/>
            </a:endParaRPr>
          </a:p>
        </p:txBody>
      </p:sp>
      <p:sp>
        <p:nvSpPr>
          <p:cNvPr id="82" name="Shape 9"/>
          <p:cNvSpPr/>
          <p:nvPr/>
        </p:nvSpPr>
        <p:spPr>
          <a:xfrm>
            <a:off x="4343400" y="2240280"/>
            <a:ext cx="3501720" cy="2925720"/>
          </a:xfrm>
          <a:prstGeom prst="roundRect">
            <a:avLst>
              <a:gd name="adj" fmla="val 1875"/>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 name="Shape 10"/>
          <p:cNvSpPr/>
          <p:nvPr/>
        </p:nvSpPr>
        <p:spPr>
          <a:xfrm>
            <a:off x="4599360" y="2514600"/>
            <a:ext cx="502560" cy="5025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 name="Text 11"/>
          <p:cNvSpPr/>
          <p:nvPr/>
        </p:nvSpPr>
        <p:spPr>
          <a:xfrm>
            <a:off x="4599360" y="251460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2</a:t>
            </a:r>
            <a:endParaRPr lang="en-US" sz="2000" b="0" u="none" strike="noStrike">
              <a:solidFill>
                <a:srgbClr val="000000"/>
              </a:solidFill>
              <a:effectLst/>
              <a:uFillTx/>
              <a:latin typeface="Arial"/>
            </a:endParaRPr>
          </a:p>
        </p:txBody>
      </p:sp>
      <p:sp>
        <p:nvSpPr>
          <p:cNvPr id="85" name="Text 12"/>
          <p:cNvSpPr/>
          <p:nvPr/>
        </p:nvSpPr>
        <p:spPr>
          <a:xfrm>
            <a:off x="4599360" y="3154680"/>
            <a:ext cx="298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E2A35"/>
                </a:solidFill>
                <a:effectLst/>
                <a:uFillTx/>
                <a:latin typeface="Calibri"/>
                <a:ea typeface="Calibri"/>
              </a:rPr>
              <a:t>El ruido</a:t>
            </a:r>
            <a:endParaRPr lang="en-US" sz="1600" b="0" u="none" strike="noStrike">
              <a:solidFill>
                <a:srgbClr val="000000"/>
              </a:solidFill>
              <a:effectLst/>
              <a:uFillTx/>
              <a:latin typeface="Arial"/>
            </a:endParaRPr>
          </a:p>
        </p:txBody>
      </p:sp>
      <p:sp>
        <p:nvSpPr>
          <p:cNvPr id="86" name="Text 13"/>
          <p:cNvSpPr/>
          <p:nvPr/>
        </p:nvSpPr>
        <p:spPr>
          <a:xfrm>
            <a:off x="4599360" y="3657600"/>
            <a:ext cx="29898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2000"/>
              </a:lnSpc>
              <a:tabLst>
                <a:tab pos="0" algn="l"/>
              </a:tabLst>
            </a:pPr>
            <a:r>
              <a:rPr lang="en-US" sz="1250" b="0" u="none" strike="noStrike">
                <a:solidFill>
                  <a:srgbClr val="60707E"/>
                </a:solidFill>
                <a:effectLst/>
                <a:uFillTx/>
                <a:latin typeface="Calibri"/>
                <a:ea typeface="Calibri"/>
              </a:rPr>
              <a:t>Reporta el error estándar ingenuo. Promete una precisión que no existe, y así una conclusión firme se cuela sin fundamento.</a:t>
            </a:r>
            <a:endParaRPr lang="en-US" sz="1250" b="0" u="none" strike="noStrike">
              <a:solidFill>
                <a:srgbClr val="000000"/>
              </a:solidFill>
              <a:effectLst/>
              <a:uFillTx/>
              <a:latin typeface="Arial"/>
            </a:endParaRPr>
          </a:p>
        </p:txBody>
      </p:sp>
      <p:sp>
        <p:nvSpPr>
          <p:cNvPr id="87" name="Shape 14"/>
          <p:cNvSpPr/>
          <p:nvPr/>
        </p:nvSpPr>
        <p:spPr>
          <a:xfrm>
            <a:off x="4599360" y="4635720"/>
            <a:ext cx="2990160" cy="360"/>
          </a:xfrm>
          <a:prstGeom prst="line">
            <a:avLst/>
          </a:prstGeom>
          <a:ln w="9525">
            <a:solidFill>
              <a:srgbClr val="D5DC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8" name="Text 15"/>
          <p:cNvSpPr/>
          <p:nvPr/>
        </p:nvSpPr>
        <p:spPr>
          <a:xfrm>
            <a:off x="4599360" y="4690800"/>
            <a:ext cx="298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CB5E2E"/>
                </a:solidFill>
                <a:effectLst/>
                <a:uFillTx/>
                <a:latin typeface="Calibri"/>
                <a:ea typeface="Calibri"/>
              </a:rPr>
              <a:t>Bloque 2</a:t>
            </a:r>
            <a:endParaRPr lang="en-US" sz="1150" b="0" u="none" strike="noStrike">
              <a:solidFill>
                <a:srgbClr val="000000"/>
              </a:solidFill>
              <a:effectLst/>
              <a:uFillTx/>
              <a:latin typeface="Arial"/>
            </a:endParaRPr>
          </a:p>
        </p:txBody>
      </p:sp>
      <p:sp>
        <p:nvSpPr>
          <p:cNvPr id="89" name="Shape 16"/>
          <p:cNvSpPr/>
          <p:nvPr/>
        </p:nvSpPr>
        <p:spPr>
          <a:xfrm>
            <a:off x="8138160" y="2240280"/>
            <a:ext cx="3501720" cy="2925720"/>
          </a:xfrm>
          <a:prstGeom prst="roundRect">
            <a:avLst>
              <a:gd name="adj" fmla="val 1875"/>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 name="Shape 17"/>
          <p:cNvSpPr/>
          <p:nvPr/>
        </p:nvSpPr>
        <p:spPr>
          <a:xfrm>
            <a:off x="8394120" y="2514600"/>
            <a:ext cx="502560" cy="50256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 name="Text 18"/>
          <p:cNvSpPr/>
          <p:nvPr/>
        </p:nvSpPr>
        <p:spPr>
          <a:xfrm>
            <a:off x="8394120" y="2514600"/>
            <a:ext cx="502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3</a:t>
            </a:r>
            <a:endParaRPr lang="en-US" sz="2000" b="0" u="none" strike="noStrike">
              <a:solidFill>
                <a:srgbClr val="000000"/>
              </a:solidFill>
              <a:effectLst/>
              <a:uFillTx/>
              <a:latin typeface="Arial"/>
            </a:endParaRPr>
          </a:p>
        </p:txBody>
      </p:sp>
      <p:sp>
        <p:nvSpPr>
          <p:cNvPr id="92" name="Text 19"/>
          <p:cNvSpPr/>
          <p:nvPr/>
        </p:nvSpPr>
        <p:spPr>
          <a:xfrm>
            <a:off x="8394120" y="3154680"/>
            <a:ext cx="298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E2A35"/>
                </a:solidFill>
                <a:effectLst/>
                <a:uFillTx/>
                <a:latin typeface="Calibri"/>
                <a:ea typeface="Calibri"/>
              </a:rPr>
              <a:t>La agregación</a:t>
            </a:r>
            <a:endParaRPr lang="en-US" sz="1600" b="0" u="none" strike="noStrike">
              <a:solidFill>
                <a:srgbClr val="000000"/>
              </a:solidFill>
              <a:effectLst/>
              <a:uFillTx/>
              <a:latin typeface="Arial"/>
            </a:endParaRPr>
          </a:p>
        </p:txBody>
      </p:sp>
      <p:sp>
        <p:nvSpPr>
          <p:cNvPr id="93" name="Text 20"/>
          <p:cNvSpPr/>
          <p:nvPr/>
        </p:nvSpPr>
        <p:spPr>
          <a:xfrm>
            <a:off x="8394120" y="3657600"/>
            <a:ext cx="29898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2000"/>
              </a:lnSpc>
              <a:tabLst>
                <a:tab pos="0" algn="l"/>
              </a:tabLst>
            </a:pPr>
            <a:r>
              <a:rPr lang="en-US" sz="1250" b="0" u="none" strike="noStrike">
                <a:solidFill>
                  <a:srgbClr val="60707E"/>
                </a:solidFill>
                <a:effectLst/>
                <a:uFillTx/>
                <a:latin typeface="Calibri"/>
                <a:ea typeface="Calibri"/>
              </a:rPr>
              <a:t>Lee el número agregado. Pero al condicionar por subgrupo, la relación puede invertirse por completo.</a:t>
            </a:r>
            <a:endParaRPr lang="en-US" sz="1250" b="0" u="none" strike="noStrike">
              <a:solidFill>
                <a:srgbClr val="000000"/>
              </a:solidFill>
              <a:effectLst/>
              <a:uFillTx/>
              <a:latin typeface="Arial"/>
            </a:endParaRPr>
          </a:p>
        </p:txBody>
      </p:sp>
      <p:sp>
        <p:nvSpPr>
          <p:cNvPr id="94" name="Shape 21"/>
          <p:cNvSpPr/>
          <p:nvPr/>
        </p:nvSpPr>
        <p:spPr>
          <a:xfrm>
            <a:off x="8394120" y="4635720"/>
            <a:ext cx="2990160" cy="360"/>
          </a:xfrm>
          <a:prstGeom prst="line">
            <a:avLst/>
          </a:prstGeom>
          <a:ln w="9525">
            <a:solidFill>
              <a:srgbClr val="D5DCE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5" name="Text 22"/>
          <p:cNvSpPr/>
          <p:nvPr/>
        </p:nvSpPr>
        <p:spPr>
          <a:xfrm>
            <a:off x="8394120" y="4690800"/>
            <a:ext cx="298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CB5E2E"/>
                </a:solidFill>
                <a:effectLst/>
                <a:uFillTx/>
                <a:latin typeface="Calibri"/>
                <a:ea typeface="Calibri"/>
              </a:rPr>
              <a:t>Bloque 3</a:t>
            </a:r>
            <a:endParaRPr lang="en-US" sz="1150" b="0" u="none" strike="noStrike">
              <a:solidFill>
                <a:srgbClr val="000000"/>
              </a:solidFill>
              <a:effectLst/>
              <a:uFillTx/>
              <a:latin typeface="Arial"/>
            </a:endParaRPr>
          </a:p>
        </p:txBody>
      </p:sp>
      <p:sp>
        <p:nvSpPr>
          <p:cNvPr id="96" name="Shape 23"/>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 name="Shape 24"/>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 name="Text 25"/>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La IA escribe el código en segundos. Si el estimador respeta el diseño, si la incertidumbre es honesta y si los subgrupos confirman el agregado, eso lo deciden ustedes.</a:t>
            </a:r>
            <a:endParaRPr lang="en-US" sz="12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La encuesta sintética para hoy</a:t>
            </a:r>
            <a:endParaRPr lang="en-US" sz="2900" b="0" u="none" strike="noStrike">
              <a:solidFill>
                <a:srgbClr val="000000"/>
              </a:solidFill>
              <a:effectLst/>
              <a:uFillTx/>
              <a:latin typeface="Arial"/>
            </a:endParaRPr>
          </a:p>
        </p:txBody>
      </p:sp>
      <p:sp>
        <p:nvSpPr>
          <p:cNvPr id="100"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Un solo archivo para los tres bloques: datos_encuesta_sintetica.csv, 400 hogares de una encuesta ficticia. Cada bloque mira columnas distintas del mismo microdato.</a:t>
            </a:r>
            <a:endParaRPr lang="en-US" sz="1400" b="0" u="none" strike="noStrike">
              <a:solidFill>
                <a:srgbClr val="000000"/>
              </a:solidFill>
              <a:effectLst/>
              <a:uFillTx/>
              <a:latin typeface="Arial"/>
            </a:endParaRPr>
          </a:p>
        </p:txBody>
      </p:sp>
      <p:sp>
        <p:nvSpPr>
          <p:cNvPr id="101" name="Shape 2"/>
          <p:cNvSpPr/>
          <p:nvPr/>
        </p:nvSpPr>
        <p:spPr>
          <a:xfrm>
            <a:off x="548640" y="1783080"/>
            <a:ext cx="2468520" cy="49356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2" name="Text 3"/>
          <p:cNvSpPr/>
          <p:nvPr/>
        </p:nvSpPr>
        <p:spPr>
          <a:xfrm>
            <a:off x="548640" y="178308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Variable</a:t>
            </a:r>
            <a:endParaRPr lang="en-US" sz="1200" b="0" u="none" strike="noStrike">
              <a:solidFill>
                <a:srgbClr val="000000"/>
              </a:solidFill>
              <a:effectLst/>
              <a:uFillTx/>
              <a:latin typeface="Arial"/>
            </a:endParaRPr>
          </a:p>
        </p:txBody>
      </p:sp>
      <p:sp>
        <p:nvSpPr>
          <p:cNvPr id="103" name="Shape 4"/>
          <p:cNvSpPr/>
          <p:nvPr/>
        </p:nvSpPr>
        <p:spPr>
          <a:xfrm>
            <a:off x="3017520" y="1783080"/>
            <a:ext cx="5943240" cy="49356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 name="Text 5"/>
          <p:cNvSpPr/>
          <p:nvPr/>
        </p:nvSpPr>
        <p:spPr>
          <a:xfrm>
            <a:off x="3017520" y="1783080"/>
            <a:ext cx="59432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Qué es</a:t>
            </a:r>
            <a:endParaRPr lang="en-US" sz="1200" b="0" u="none" strike="noStrike">
              <a:solidFill>
                <a:srgbClr val="000000"/>
              </a:solidFill>
              <a:effectLst/>
              <a:uFillTx/>
              <a:latin typeface="Arial"/>
            </a:endParaRPr>
          </a:p>
        </p:txBody>
      </p:sp>
      <p:sp>
        <p:nvSpPr>
          <p:cNvPr id="105" name="Shape 6"/>
          <p:cNvSpPr/>
          <p:nvPr/>
        </p:nvSpPr>
        <p:spPr>
          <a:xfrm>
            <a:off x="8961120" y="1783080"/>
            <a:ext cx="2678760" cy="49356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 name="Text 7"/>
          <p:cNvSpPr/>
          <p:nvPr/>
        </p:nvSpPr>
        <p:spPr>
          <a:xfrm>
            <a:off x="8961120" y="1783080"/>
            <a:ext cx="26787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Se usa en</a:t>
            </a:r>
            <a:endParaRPr lang="en-US" sz="1200" b="0" u="none" strike="noStrike">
              <a:solidFill>
                <a:srgbClr val="000000"/>
              </a:solidFill>
              <a:effectLst/>
              <a:uFillTx/>
              <a:latin typeface="Arial"/>
            </a:endParaRPr>
          </a:p>
        </p:txBody>
      </p:sp>
      <p:sp>
        <p:nvSpPr>
          <p:cNvPr id="107" name="Shape 8"/>
          <p:cNvSpPr/>
          <p:nvPr/>
        </p:nvSpPr>
        <p:spPr>
          <a:xfrm>
            <a:off x="548640" y="2277000"/>
            <a:ext cx="246852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 name="Text 9"/>
          <p:cNvSpPr/>
          <p:nvPr/>
        </p:nvSpPr>
        <p:spPr>
          <a:xfrm>
            <a:off x="594360" y="2277000"/>
            <a:ext cx="2377080" cy="49356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estrato</a:t>
            </a:r>
            <a:endParaRPr lang="en-US" sz="1250" b="0" u="none" strike="noStrike">
              <a:solidFill>
                <a:srgbClr val="000000"/>
              </a:solidFill>
              <a:effectLst/>
              <a:uFillTx/>
              <a:latin typeface="Arial"/>
            </a:endParaRPr>
          </a:p>
        </p:txBody>
      </p:sp>
      <p:sp>
        <p:nvSpPr>
          <p:cNvPr id="109" name="Shape 10"/>
          <p:cNvSpPr/>
          <p:nvPr/>
        </p:nvSpPr>
        <p:spPr>
          <a:xfrm>
            <a:off x="3017520" y="2277000"/>
            <a:ext cx="594324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 name="Text 11"/>
          <p:cNvSpPr/>
          <p:nvPr/>
        </p:nvSpPr>
        <p:spPr>
          <a:xfrm>
            <a:off x="3063240" y="2277000"/>
            <a:ext cx="585180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Nivel de marginación del hogar: Alta, Media o Baja</a:t>
            </a:r>
            <a:endParaRPr lang="en-US" sz="1250" b="0" u="none" strike="noStrike">
              <a:solidFill>
                <a:srgbClr val="000000"/>
              </a:solidFill>
              <a:effectLst/>
              <a:uFillTx/>
              <a:latin typeface="Arial"/>
            </a:endParaRPr>
          </a:p>
        </p:txBody>
      </p:sp>
      <p:sp>
        <p:nvSpPr>
          <p:cNvPr id="111" name="Shape 12"/>
          <p:cNvSpPr/>
          <p:nvPr/>
        </p:nvSpPr>
        <p:spPr>
          <a:xfrm>
            <a:off x="8961120" y="2277000"/>
            <a:ext cx="267876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13"/>
          <p:cNvSpPr/>
          <p:nvPr/>
        </p:nvSpPr>
        <p:spPr>
          <a:xfrm>
            <a:off x="9006840" y="2277000"/>
            <a:ext cx="25873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Todo</a:t>
            </a:r>
            <a:endParaRPr lang="en-US" sz="1250" b="0" u="none" strike="noStrike">
              <a:solidFill>
                <a:srgbClr val="000000"/>
              </a:solidFill>
              <a:effectLst/>
              <a:uFillTx/>
              <a:latin typeface="Arial"/>
            </a:endParaRPr>
          </a:p>
        </p:txBody>
      </p:sp>
      <p:sp>
        <p:nvSpPr>
          <p:cNvPr id="113" name="Shape 14"/>
          <p:cNvSpPr/>
          <p:nvPr/>
        </p:nvSpPr>
        <p:spPr>
          <a:xfrm>
            <a:off x="548640" y="2770560"/>
            <a:ext cx="2468520" cy="493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 name="Text 15"/>
          <p:cNvSpPr/>
          <p:nvPr/>
        </p:nvSpPr>
        <p:spPr>
          <a:xfrm>
            <a:off x="594360" y="2770560"/>
            <a:ext cx="2377080" cy="49356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upm  ·  factor</a:t>
            </a:r>
            <a:endParaRPr lang="en-US" sz="1250" b="0" u="none" strike="noStrike">
              <a:solidFill>
                <a:srgbClr val="000000"/>
              </a:solidFill>
              <a:effectLst/>
              <a:uFillTx/>
              <a:latin typeface="Arial"/>
            </a:endParaRPr>
          </a:p>
        </p:txBody>
      </p:sp>
      <p:sp>
        <p:nvSpPr>
          <p:cNvPr id="115" name="Shape 16"/>
          <p:cNvSpPr/>
          <p:nvPr/>
        </p:nvSpPr>
        <p:spPr>
          <a:xfrm>
            <a:off x="3017520" y="2770560"/>
            <a:ext cx="5943240" cy="493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Text 17"/>
          <p:cNvSpPr/>
          <p:nvPr/>
        </p:nvSpPr>
        <p:spPr>
          <a:xfrm>
            <a:off x="3063240" y="2770560"/>
            <a:ext cx="585180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Conglomerado (unidad primaria de muestreo) y factor de expansión</a:t>
            </a:r>
            <a:endParaRPr lang="en-US" sz="1250" b="0" u="none" strike="noStrike">
              <a:solidFill>
                <a:srgbClr val="000000"/>
              </a:solidFill>
              <a:effectLst/>
              <a:uFillTx/>
              <a:latin typeface="Arial"/>
            </a:endParaRPr>
          </a:p>
        </p:txBody>
      </p:sp>
      <p:sp>
        <p:nvSpPr>
          <p:cNvPr id="117" name="Shape 18"/>
          <p:cNvSpPr/>
          <p:nvPr/>
        </p:nvSpPr>
        <p:spPr>
          <a:xfrm>
            <a:off x="8961120" y="2770560"/>
            <a:ext cx="2678760" cy="493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19"/>
          <p:cNvSpPr/>
          <p:nvPr/>
        </p:nvSpPr>
        <p:spPr>
          <a:xfrm>
            <a:off x="9006840" y="2770560"/>
            <a:ext cx="25873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Diseño e inferencia</a:t>
            </a:r>
            <a:endParaRPr lang="en-US" sz="1250" b="0" u="none" strike="noStrike">
              <a:solidFill>
                <a:srgbClr val="000000"/>
              </a:solidFill>
              <a:effectLst/>
              <a:uFillTx/>
              <a:latin typeface="Arial"/>
            </a:endParaRPr>
          </a:p>
        </p:txBody>
      </p:sp>
      <p:sp>
        <p:nvSpPr>
          <p:cNvPr id="119" name="Shape 20"/>
          <p:cNvSpPr/>
          <p:nvPr/>
        </p:nvSpPr>
        <p:spPr>
          <a:xfrm>
            <a:off x="548640" y="3264480"/>
            <a:ext cx="246852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 name="Text 21"/>
          <p:cNvSpPr/>
          <p:nvPr/>
        </p:nvSpPr>
        <p:spPr>
          <a:xfrm>
            <a:off x="594360" y="3264480"/>
            <a:ext cx="2377080" cy="49356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ingreso</a:t>
            </a:r>
            <a:endParaRPr lang="en-US" sz="1250" b="0" u="none" strike="noStrike">
              <a:solidFill>
                <a:srgbClr val="000000"/>
              </a:solidFill>
              <a:effectLst/>
              <a:uFillTx/>
              <a:latin typeface="Arial"/>
            </a:endParaRPr>
          </a:p>
        </p:txBody>
      </p:sp>
      <p:sp>
        <p:nvSpPr>
          <p:cNvPr id="121" name="Shape 22"/>
          <p:cNvSpPr/>
          <p:nvPr/>
        </p:nvSpPr>
        <p:spPr>
          <a:xfrm>
            <a:off x="3017520" y="3264480"/>
            <a:ext cx="594324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 name="Text 23"/>
          <p:cNvSpPr/>
          <p:nvPr/>
        </p:nvSpPr>
        <p:spPr>
          <a:xfrm>
            <a:off x="3063240" y="3264480"/>
            <a:ext cx="585180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Ingreso mensual del hogar, en pesos</a:t>
            </a:r>
            <a:endParaRPr lang="en-US" sz="1250" b="0" u="none" strike="noStrike">
              <a:solidFill>
                <a:srgbClr val="000000"/>
              </a:solidFill>
              <a:effectLst/>
              <a:uFillTx/>
              <a:latin typeface="Arial"/>
            </a:endParaRPr>
          </a:p>
        </p:txBody>
      </p:sp>
      <p:sp>
        <p:nvSpPr>
          <p:cNvPr id="123" name="Shape 24"/>
          <p:cNvSpPr/>
          <p:nvPr/>
        </p:nvSpPr>
        <p:spPr>
          <a:xfrm>
            <a:off x="8961120" y="3264480"/>
            <a:ext cx="267876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 name="Text 25"/>
          <p:cNvSpPr/>
          <p:nvPr/>
        </p:nvSpPr>
        <p:spPr>
          <a:xfrm>
            <a:off x="9006840" y="3264480"/>
            <a:ext cx="25873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Bloque 1</a:t>
            </a:r>
            <a:endParaRPr lang="en-US" sz="1250" b="0" u="none" strike="noStrike">
              <a:solidFill>
                <a:srgbClr val="000000"/>
              </a:solidFill>
              <a:effectLst/>
              <a:uFillTx/>
              <a:latin typeface="Arial"/>
            </a:endParaRPr>
          </a:p>
        </p:txBody>
      </p:sp>
      <p:sp>
        <p:nvSpPr>
          <p:cNvPr id="125" name="Shape 26"/>
          <p:cNvSpPr/>
          <p:nvPr/>
        </p:nvSpPr>
        <p:spPr>
          <a:xfrm>
            <a:off x="548640" y="3758040"/>
            <a:ext cx="2468520" cy="493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 name="Text 27"/>
          <p:cNvSpPr/>
          <p:nvPr/>
        </p:nvSpPr>
        <p:spPr>
          <a:xfrm>
            <a:off x="594360" y="3758040"/>
            <a:ext cx="2377080" cy="49356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programa</a:t>
            </a:r>
            <a:endParaRPr lang="en-US" sz="1250" b="0" u="none" strike="noStrike">
              <a:solidFill>
                <a:srgbClr val="000000"/>
              </a:solidFill>
              <a:effectLst/>
              <a:uFillTx/>
              <a:latin typeface="Arial"/>
            </a:endParaRPr>
          </a:p>
        </p:txBody>
      </p:sp>
      <p:sp>
        <p:nvSpPr>
          <p:cNvPr id="127" name="Shape 28"/>
          <p:cNvSpPr/>
          <p:nvPr/>
        </p:nvSpPr>
        <p:spPr>
          <a:xfrm>
            <a:off x="3017520" y="3758040"/>
            <a:ext cx="5943240" cy="493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 name="Text 29"/>
          <p:cNvSpPr/>
          <p:nvPr/>
        </p:nvSpPr>
        <p:spPr>
          <a:xfrm>
            <a:off x="3063240" y="3758040"/>
            <a:ext cx="585180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Recibe el apoyo: 0 = no, 1 = sí (el tratamiento)</a:t>
            </a:r>
            <a:endParaRPr lang="en-US" sz="1250" b="0" u="none" strike="noStrike">
              <a:solidFill>
                <a:srgbClr val="000000"/>
              </a:solidFill>
              <a:effectLst/>
              <a:uFillTx/>
              <a:latin typeface="Arial"/>
            </a:endParaRPr>
          </a:p>
        </p:txBody>
      </p:sp>
      <p:sp>
        <p:nvSpPr>
          <p:cNvPr id="129" name="Shape 30"/>
          <p:cNvSpPr/>
          <p:nvPr/>
        </p:nvSpPr>
        <p:spPr>
          <a:xfrm>
            <a:off x="8961120" y="3758040"/>
            <a:ext cx="2678760" cy="49356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Text 31"/>
          <p:cNvSpPr/>
          <p:nvPr/>
        </p:nvSpPr>
        <p:spPr>
          <a:xfrm>
            <a:off x="9006840" y="3758040"/>
            <a:ext cx="25873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Bloques 2 y 3</a:t>
            </a:r>
            <a:endParaRPr lang="en-US" sz="1250" b="0" u="none" strike="noStrike">
              <a:solidFill>
                <a:srgbClr val="000000"/>
              </a:solidFill>
              <a:effectLst/>
              <a:uFillTx/>
              <a:latin typeface="Arial"/>
            </a:endParaRPr>
          </a:p>
        </p:txBody>
      </p:sp>
      <p:sp>
        <p:nvSpPr>
          <p:cNvPr id="131" name="Shape 32"/>
          <p:cNvSpPr/>
          <p:nvPr/>
        </p:nvSpPr>
        <p:spPr>
          <a:xfrm>
            <a:off x="548640" y="4251960"/>
            <a:ext cx="246852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 name="Text 33"/>
          <p:cNvSpPr/>
          <p:nvPr/>
        </p:nvSpPr>
        <p:spPr>
          <a:xfrm>
            <a:off x="594360" y="4251960"/>
            <a:ext cx="2377080" cy="49356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score</a:t>
            </a:r>
            <a:endParaRPr lang="en-US" sz="1250" b="0" u="none" strike="noStrike">
              <a:solidFill>
                <a:srgbClr val="000000"/>
              </a:solidFill>
              <a:effectLst/>
              <a:uFillTx/>
              <a:latin typeface="Arial"/>
            </a:endParaRPr>
          </a:p>
        </p:txBody>
      </p:sp>
      <p:sp>
        <p:nvSpPr>
          <p:cNvPr id="133" name="Shape 34"/>
          <p:cNvSpPr/>
          <p:nvPr/>
        </p:nvSpPr>
        <p:spPr>
          <a:xfrm>
            <a:off x="3017520" y="4251960"/>
            <a:ext cx="594324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35"/>
          <p:cNvSpPr/>
          <p:nvPr/>
        </p:nvSpPr>
        <p:spPr>
          <a:xfrm>
            <a:off x="3063240" y="4251960"/>
            <a:ext cx="585180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Índice de resultado de 0 a 100 (p. ej. seguridad alimentaria)</a:t>
            </a:r>
            <a:endParaRPr lang="en-US" sz="1250" b="0" u="none" strike="noStrike">
              <a:solidFill>
                <a:srgbClr val="000000"/>
              </a:solidFill>
              <a:effectLst/>
              <a:uFillTx/>
              <a:latin typeface="Arial"/>
            </a:endParaRPr>
          </a:p>
        </p:txBody>
      </p:sp>
      <p:sp>
        <p:nvSpPr>
          <p:cNvPr id="135" name="Shape 36"/>
          <p:cNvSpPr/>
          <p:nvPr/>
        </p:nvSpPr>
        <p:spPr>
          <a:xfrm>
            <a:off x="8961120" y="4251960"/>
            <a:ext cx="2678760" cy="49356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 name="Text 37"/>
          <p:cNvSpPr/>
          <p:nvPr/>
        </p:nvSpPr>
        <p:spPr>
          <a:xfrm>
            <a:off x="9006840" y="4251960"/>
            <a:ext cx="25873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Bloques 2 y 3</a:t>
            </a:r>
            <a:endParaRPr lang="en-US" sz="1250" b="0" u="none" strike="noStrike">
              <a:solidFill>
                <a:srgbClr val="000000"/>
              </a:solidFill>
              <a:effectLst/>
              <a:uFillTx/>
              <a:latin typeface="Arial"/>
            </a:endParaRPr>
          </a:p>
        </p:txBody>
      </p:sp>
      <p:sp>
        <p:nvSpPr>
          <p:cNvPr id="137" name="Shape 38"/>
          <p:cNvSpPr/>
          <p:nvPr/>
        </p:nvSpPr>
        <p:spPr>
          <a:xfrm>
            <a:off x="548640" y="4709160"/>
            <a:ext cx="11091240" cy="1005480"/>
          </a:xfrm>
          <a:prstGeom prst="roundRect">
            <a:avLst>
              <a:gd name="adj" fmla="val 5455"/>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 name="Text 39"/>
          <p:cNvSpPr/>
          <p:nvPr/>
        </p:nvSpPr>
        <p:spPr>
          <a:xfrm>
            <a:off x="822960" y="4846320"/>
            <a:ext cx="10542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CB5E2E"/>
                </a:solidFill>
                <a:effectLst/>
                <a:uFillTx/>
                <a:latin typeface="Calibri"/>
                <a:ea typeface="Calibri"/>
              </a:rPr>
              <a:t>Los tres bloques son el mismo dataset, no tres</a:t>
            </a:r>
            <a:endParaRPr lang="en-US" sz="1400" b="0" u="none" strike="noStrike">
              <a:solidFill>
                <a:srgbClr val="000000"/>
              </a:solidFill>
              <a:effectLst/>
              <a:uFillTx/>
              <a:latin typeface="Arial"/>
            </a:endParaRPr>
          </a:p>
        </p:txBody>
      </p:sp>
      <p:sp>
        <p:nvSpPr>
          <p:cNvPr id="139" name="Text 40"/>
          <p:cNvSpPr/>
          <p:nvPr/>
        </p:nvSpPr>
        <p:spPr>
          <a:xfrm>
            <a:off x="822960" y="5175360"/>
            <a:ext cx="105426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2000"/>
              </a:lnSpc>
              <a:tabLst>
                <a:tab pos="0" algn="l"/>
              </a:tabLst>
            </a:pPr>
            <a:r>
              <a:rPr lang="en-US" sz="1250" b="0" u="none" strike="noStrike">
                <a:solidFill>
                  <a:srgbClr val="1E2A35"/>
                </a:solidFill>
                <a:effectLst/>
                <a:uFillTx/>
                <a:latin typeface="Calibri"/>
                <a:ea typeface="Calibri"/>
              </a:rPr>
              <a:t>El Bloque 1 estima el ingreso; los Bloques 2 y 3 estudian el efecto del programa sobre el score. Todo sobre estos 400 hogares, con su estrato, su UPM y su factor de expansión.</a:t>
            </a:r>
            <a:endParaRPr lang="en-US" sz="1250" b="0" u="none" strike="noStrike">
              <a:solidFill>
                <a:srgbClr val="000000"/>
              </a:solidFill>
              <a:effectLst/>
              <a:uFillTx/>
              <a:latin typeface="Arial"/>
            </a:endParaRPr>
          </a:p>
        </p:txBody>
      </p:sp>
      <p:sp>
        <p:nvSpPr>
          <p:cNvPr id="140" name="Shape 41"/>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1" name="Shape 42"/>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2" name="Text 43"/>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Es el mismo microdato de la tarea. Cuando en las próximas láminas veas «el programa» o «el score», son estas columnas, sobre estos mismos hogares.</a:t>
            </a:r>
            <a:endParaRPr lang="en-US" sz="125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293B"/>
        </a:solidFill>
        <a:effectLst/>
      </p:bgPr>
    </p:bg>
    <p:spTree>
      <p:nvGrpSpPr>
        <p:cNvPr id="1" name=""/>
        <p:cNvGrpSpPr/>
        <p:nvPr/>
      </p:nvGrpSpPr>
      <p:grpSpPr>
        <a:xfrm>
          <a:off x="0" y="0"/>
          <a:ext cx="0" cy="0"/>
          <a:chOff x="0" y="0"/>
          <a:chExt cx="0" cy="0"/>
        </a:xfrm>
      </p:grpSpPr>
      <p:sp>
        <p:nvSpPr>
          <p:cNvPr id="143" name="Shape 0"/>
          <p:cNvSpPr/>
          <p:nvPr/>
        </p:nvSpPr>
        <p:spPr>
          <a:xfrm>
            <a:off x="822960" y="2468880"/>
            <a:ext cx="1371240" cy="13712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4" name="Text 1"/>
          <p:cNvSpPr/>
          <p:nvPr/>
        </p:nvSpPr>
        <p:spPr>
          <a:xfrm>
            <a:off x="822960" y="246888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FFFFFF"/>
                </a:solidFill>
                <a:effectLst/>
                <a:uFillTx/>
                <a:latin typeface="Cambria"/>
                <a:ea typeface="Cambria"/>
              </a:rPr>
              <a:t>1</a:t>
            </a:r>
            <a:endParaRPr lang="en-US" sz="4000" b="0" u="none" strike="noStrike">
              <a:solidFill>
                <a:srgbClr val="FFFFFF"/>
              </a:solidFill>
              <a:effectLst/>
              <a:uFillTx/>
              <a:latin typeface="Arial"/>
            </a:endParaRPr>
          </a:p>
        </p:txBody>
      </p:sp>
      <p:sp>
        <p:nvSpPr>
          <p:cNvPr id="145" name="Text 2"/>
          <p:cNvSpPr/>
          <p:nvPr/>
        </p:nvSpPr>
        <p:spPr>
          <a:xfrm>
            <a:off x="2514600" y="267012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E58A5B"/>
                </a:solidFill>
                <a:effectLst/>
                <a:uFillTx/>
                <a:latin typeface="Calibri"/>
                <a:ea typeface="Calibri"/>
              </a:rPr>
              <a:t>BLOQUE 1</a:t>
            </a:r>
            <a:endParaRPr lang="en-US" sz="1400" b="0" u="none" strike="noStrike">
              <a:solidFill>
                <a:srgbClr val="FFFFFF"/>
              </a:solidFill>
              <a:effectLst/>
              <a:uFillTx/>
              <a:latin typeface="Arial"/>
            </a:endParaRPr>
          </a:p>
        </p:txBody>
      </p:sp>
      <p:sp>
        <p:nvSpPr>
          <p:cNvPr id="146" name="Text 3"/>
          <p:cNvSpPr/>
          <p:nvPr/>
        </p:nvSpPr>
        <p:spPr>
          <a:xfrm>
            <a:off x="2514600" y="3072240"/>
            <a:ext cx="9052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libri"/>
                <a:ea typeface="Calibri"/>
              </a:rPr>
              <a:t>Diseño muestral: por qué el promedio crudo miente</a:t>
            </a:r>
            <a:endParaRPr lang="en-US" sz="2900" b="0" u="none" strike="noStrike">
              <a:solidFill>
                <a:srgbClr val="FFFFFF"/>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Bloque 1, en concreto: el promedio de ingreso</a:t>
            </a:r>
            <a:endParaRPr lang="en-US" sz="2900" b="0" u="none" strike="noStrike">
              <a:solidFill>
                <a:srgbClr val="000000"/>
              </a:solidFill>
              <a:effectLst/>
              <a:uFillTx/>
              <a:latin typeface="Arial"/>
            </a:endParaRPr>
          </a:p>
        </p:txBody>
      </p:sp>
      <p:sp>
        <p:nvSpPr>
          <p:cNvPr id="148"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La columna, la operación y lo que vamos a contrastar. Todo sale del microdato de hoy.</a:t>
            </a:r>
            <a:endParaRPr lang="en-US" sz="1400" b="0" u="none" strike="noStrike">
              <a:solidFill>
                <a:srgbClr val="000000"/>
              </a:solidFill>
              <a:effectLst/>
              <a:uFillTx/>
              <a:latin typeface="Arial"/>
            </a:endParaRPr>
          </a:p>
        </p:txBody>
      </p:sp>
      <p:sp>
        <p:nvSpPr>
          <p:cNvPr id="149" name="Shape 2"/>
          <p:cNvSpPr/>
          <p:nvPr/>
        </p:nvSpPr>
        <p:spPr>
          <a:xfrm>
            <a:off x="548640" y="2194560"/>
            <a:ext cx="3501720" cy="2697120"/>
          </a:xfrm>
          <a:prstGeom prst="roundRect">
            <a:avLst>
              <a:gd name="adj" fmla="val 203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0" name="Text 3"/>
          <p:cNvSpPr/>
          <p:nvPr/>
        </p:nvSpPr>
        <p:spPr>
          <a:xfrm>
            <a:off x="80460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LA COLUMNA</a:t>
            </a:r>
            <a:endParaRPr lang="en-US" sz="1200" b="0" u="none" strike="noStrike">
              <a:solidFill>
                <a:srgbClr val="000000"/>
              </a:solidFill>
              <a:effectLst/>
              <a:uFillTx/>
              <a:latin typeface="Arial"/>
            </a:endParaRPr>
          </a:p>
        </p:txBody>
      </p:sp>
      <p:sp>
        <p:nvSpPr>
          <p:cNvPr id="151" name="Text 4"/>
          <p:cNvSpPr/>
          <p:nvPr/>
        </p:nvSpPr>
        <p:spPr>
          <a:xfrm>
            <a:off x="80460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1E2A35"/>
                </a:solidFill>
                <a:effectLst/>
                <a:uFillTx/>
                <a:latin typeface="Cambria"/>
                <a:ea typeface="Cambria"/>
              </a:rPr>
              <a:t>ingreso</a:t>
            </a:r>
            <a:endParaRPr lang="en-US" sz="1600" b="0" u="none" strike="noStrike">
              <a:solidFill>
                <a:srgbClr val="000000"/>
              </a:solidFill>
              <a:effectLst/>
              <a:uFillTx/>
              <a:latin typeface="Arial"/>
            </a:endParaRPr>
          </a:p>
        </p:txBody>
      </p:sp>
      <p:sp>
        <p:nvSpPr>
          <p:cNvPr id="152" name="Text 5"/>
          <p:cNvSpPr/>
          <p:nvPr/>
        </p:nvSpPr>
        <p:spPr>
          <a:xfrm>
            <a:off x="80460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El ingreso mensual del hogar. Un número por hogar.</a:t>
            </a:r>
            <a:endParaRPr lang="en-US" sz="1200" b="0" u="none" strike="noStrike">
              <a:solidFill>
                <a:srgbClr val="000000"/>
              </a:solidFill>
              <a:effectLst/>
              <a:uFillTx/>
              <a:latin typeface="Arial"/>
            </a:endParaRPr>
          </a:p>
        </p:txBody>
      </p:sp>
      <p:sp>
        <p:nvSpPr>
          <p:cNvPr id="153" name="Shape 6"/>
          <p:cNvSpPr/>
          <p:nvPr/>
        </p:nvSpPr>
        <p:spPr>
          <a:xfrm>
            <a:off x="4343400" y="2194560"/>
            <a:ext cx="3501720" cy="2697120"/>
          </a:xfrm>
          <a:prstGeom prst="roundRect">
            <a:avLst>
              <a:gd name="adj" fmla="val 203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4" name="Text 7"/>
          <p:cNvSpPr/>
          <p:nvPr/>
        </p:nvSpPr>
        <p:spPr>
          <a:xfrm>
            <a:off x="459936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LA OPERACIÓN</a:t>
            </a:r>
            <a:endParaRPr lang="en-US" sz="1200" b="0" u="none" strike="noStrike">
              <a:solidFill>
                <a:srgbClr val="000000"/>
              </a:solidFill>
              <a:effectLst/>
              <a:uFillTx/>
              <a:latin typeface="Arial"/>
            </a:endParaRPr>
          </a:p>
        </p:txBody>
      </p:sp>
      <p:sp>
        <p:nvSpPr>
          <p:cNvPr id="155" name="Text 8"/>
          <p:cNvSpPr/>
          <p:nvPr/>
        </p:nvSpPr>
        <p:spPr>
          <a:xfrm>
            <a:off x="459936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1E2A35"/>
                </a:solidFill>
                <a:effectLst/>
                <a:uFillTx/>
                <a:latin typeface="Cambria"/>
                <a:ea typeface="Cambria"/>
              </a:rPr>
              <a:t>la media</a:t>
            </a:r>
            <a:endParaRPr lang="en-US" sz="1600" b="0" u="none" strike="noStrike">
              <a:solidFill>
                <a:srgbClr val="000000"/>
              </a:solidFill>
              <a:effectLst/>
              <a:uFillTx/>
              <a:latin typeface="Arial"/>
            </a:endParaRPr>
          </a:p>
        </p:txBody>
      </p:sp>
      <p:sp>
        <p:nvSpPr>
          <p:cNvPr id="156" name="Text 9"/>
          <p:cNvSpPr/>
          <p:nvPr/>
        </p:nvSpPr>
        <p:spPr>
          <a:xfrm>
            <a:off x="459936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El ingreso promedio de los hogares de la encuesta.</a:t>
            </a:r>
            <a:endParaRPr lang="en-US" sz="1200" b="0" u="none" strike="noStrike">
              <a:solidFill>
                <a:srgbClr val="000000"/>
              </a:solidFill>
              <a:effectLst/>
              <a:uFillTx/>
              <a:latin typeface="Arial"/>
            </a:endParaRPr>
          </a:p>
        </p:txBody>
      </p:sp>
      <p:sp>
        <p:nvSpPr>
          <p:cNvPr id="157" name="Shape 10"/>
          <p:cNvSpPr/>
          <p:nvPr/>
        </p:nvSpPr>
        <p:spPr>
          <a:xfrm>
            <a:off x="8138160" y="2194560"/>
            <a:ext cx="3501720" cy="2697120"/>
          </a:xfrm>
          <a:prstGeom prst="roundRect">
            <a:avLst>
              <a:gd name="adj" fmla="val 2034"/>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8" name="Text 11"/>
          <p:cNvSpPr/>
          <p:nvPr/>
        </p:nvSpPr>
        <p:spPr>
          <a:xfrm>
            <a:off x="839412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EL CONTRASTE</a:t>
            </a:r>
            <a:endParaRPr lang="en-US" sz="1200" b="0" u="none" strike="noStrike">
              <a:solidFill>
                <a:srgbClr val="000000"/>
              </a:solidFill>
              <a:effectLst/>
              <a:uFillTx/>
              <a:latin typeface="Arial"/>
            </a:endParaRPr>
          </a:p>
        </p:txBody>
      </p:sp>
      <p:sp>
        <p:nvSpPr>
          <p:cNvPr id="159" name="Text 12"/>
          <p:cNvSpPr/>
          <p:nvPr/>
        </p:nvSpPr>
        <p:spPr>
          <a:xfrm>
            <a:off x="839412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A23B22"/>
                </a:solidFill>
                <a:effectLst/>
                <a:uFillTx/>
                <a:latin typeface="Cambria"/>
                <a:ea typeface="Cambria"/>
              </a:rPr>
              <a:t>crudo </a:t>
            </a:r>
            <a:r>
              <a:rPr lang="en-US" sz="1600" b="1" u="none" strike="noStrike">
                <a:solidFill>
                  <a:srgbClr val="60707E"/>
                </a:solidFill>
                <a:effectLst/>
                <a:uFillTx/>
                <a:latin typeface="Cambria"/>
                <a:ea typeface="Cambria"/>
              </a:rPr>
              <a:t>vs </a:t>
            </a:r>
            <a:r>
              <a:rPr lang="en-US" sz="1600" b="1" u="none" strike="noStrike">
                <a:solidFill>
                  <a:srgbClr val="2E6E49"/>
                </a:solidFill>
                <a:effectLst/>
                <a:uFillTx/>
                <a:latin typeface="Cambria"/>
                <a:ea typeface="Cambria"/>
              </a:rPr>
              <a:t>ponderado</a:t>
            </a:r>
            <a:endParaRPr lang="en-US" sz="1600" b="0" u="none" strike="noStrike">
              <a:solidFill>
                <a:srgbClr val="000000"/>
              </a:solidFill>
              <a:effectLst/>
              <a:uFillTx/>
              <a:latin typeface="Arial"/>
            </a:endParaRPr>
          </a:p>
        </p:txBody>
      </p:sp>
      <p:sp>
        <p:nvSpPr>
          <p:cNvPr id="160" name="Text 13"/>
          <p:cNvSpPr/>
          <p:nvPr/>
        </p:nvSpPr>
        <p:spPr>
          <a:xfrm>
            <a:off x="839412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mean(ingreso) contra svymean con el diseño.</a:t>
            </a:r>
            <a:endParaRPr lang="en-US" sz="1200" b="0" u="none" strike="noStrike">
              <a:solidFill>
                <a:srgbClr val="000000"/>
              </a:solidFill>
              <a:effectLst/>
              <a:uFillTx/>
              <a:latin typeface="Arial"/>
            </a:endParaRPr>
          </a:p>
        </p:txBody>
      </p:sp>
      <p:sp>
        <p:nvSpPr>
          <p:cNvPr id="161" name="Shape 14"/>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2" name="Shape 15"/>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Text 16"/>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En una frase: calculamos el ingreso promedio, y comparamos el promedio crudo contra el ponderado con el diseño.</a:t>
            </a:r>
            <a:endParaRPr lang="en-US" sz="125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Una encuesta no es una muestra simple</a:t>
            </a:r>
            <a:endParaRPr lang="en-US" sz="2900" b="0" u="none" strike="noStrike">
              <a:solidFill>
                <a:srgbClr val="000000"/>
              </a:solidFill>
              <a:effectLst/>
              <a:uFillTx/>
              <a:latin typeface="Arial"/>
            </a:endParaRPr>
          </a:p>
        </p:txBody>
      </p:sp>
      <p:sp>
        <p:nvSpPr>
          <p:cNvPr id="165"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Se muestrea distinto a propósito, y por eso cada registro trae un peso. Ignorarlo cambia el número.</a:t>
            </a:r>
            <a:endParaRPr lang="en-US" sz="1400" b="0" u="none" strike="noStrike">
              <a:solidFill>
                <a:srgbClr val="000000"/>
              </a:solidFill>
              <a:effectLst/>
              <a:uFillTx/>
              <a:latin typeface="Arial"/>
            </a:endParaRPr>
          </a:p>
        </p:txBody>
      </p:sp>
      <p:sp>
        <p:nvSpPr>
          <p:cNvPr id="166" name="Shape 2"/>
          <p:cNvSpPr/>
          <p:nvPr/>
        </p:nvSpPr>
        <p:spPr>
          <a:xfrm>
            <a:off x="548640" y="1920240"/>
            <a:ext cx="3501720" cy="1828440"/>
          </a:xfrm>
          <a:prstGeom prst="roundRect">
            <a:avLst>
              <a:gd name="adj" fmla="val 3000"/>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7" name="Text 3"/>
          <p:cNvSpPr/>
          <p:nvPr/>
        </p:nvSpPr>
        <p:spPr>
          <a:xfrm>
            <a:off x="77724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E2A35"/>
                </a:solidFill>
                <a:effectLst/>
                <a:uFillTx/>
                <a:latin typeface="Calibri"/>
                <a:ea typeface="Calibri"/>
              </a:rPr>
              <a:t>Estratos</a:t>
            </a:r>
            <a:endParaRPr lang="en-US" sz="1550" b="0" u="none" strike="noStrike">
              <a:solidFill>
                <a:srgbClr val="000000"/>
              </a:solidFill>
              <a:effectLst/>
              <a:uFillTx/>
              <a:latin typeface="Arial"/>
            </a:endParaRPr>
          </a:p>
        </p:txBody>
      </p:sp>
      <p:sp>
        <p:nvSpPr>
          <p:cNvPr id="168" name="Text 4"/>
          <p:cNvSpPr/>
          <p:nvPr/>
        </p:nvSpPr>
        <p:spPr>
          <a:xfrm>
            <a:off x="77724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Se muestrea distinto por diseño: unos grupos se sobre-representan para medirlos con precisión.</a:t>
            </a:r>
            <a:endParaRPr lang="en-US" sz="1250" b="0" u="none" strike="noStrike">
              <a:solidFill>
                <a:srgbClr val="000000"/>
              </a:solidFill>
              <a:effectLst/>
              <a:uFillTx/>
              <a:latin typeface="Arial"/>
            </a:endParaRPr>
          </a:p>
        </p:txBody>
      </p:sp>
      <p:sp>
        <p:nvSpPr>
          <p:cNvPr id="169" name="Shape 5"/>
          <p:cNvSpPr/>
          <p:nvPr/>
        </p:nvSpPr>
        <p:spPr>
          <a:xfrm>
            <a:off x="4343400" y="1920240"/>
            <a:ext cx="3501720" cy="1828440"/>
          </a:xfrm>
          <a:prstGeom prst="roundRect">
            <a:avLst>
              <a:gd name="adj" fmla="val 3000"/>
            </a:avLst>
          </a:prstGeom>
          <a:solidFill>
            <a:srgbClr val="E7F2EA"/>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6"/>
          <p:cNvSpPr/>
          <p:nvPr/>
        </p:nvSpPr>
        <p:spPr>
          <a:xfrm>
            <a:off x="457200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E6E49"/>
                </a:solidFill>
                <a:effectLst/>
                <a:uFillTx/>
                <a:latin typeface="Calibri"/>
                <a:ea typeface="Calibri"/>
              </a:rPr>
              <a:t>Factor de expansión</a:t>
            </a:r>
            <a:endParaRPr lang="en-US" sz="1550" b="0" u="none" strike="noStrike">
              <a:solidFill>
                <a:srgbClr val="000000"/>
              </a:solidFill>
              <a:effectLst/>
              <a:uFillTx/>
              <a:latin typeface="Arial"/>
            </a:endParaRPr>
          </a:p>
        </p:txBody>
      </p:sp>
      <p:sp>
        <p:nvSpPr>
          <p:cNvPr id="171" name="Text 7"/>
          <p:cNvSpPr/>
          <p:nvPr/>
        </p:nvSpPr>
        <p:spPr>
          <a:xfrm>
            <a:off x="457200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Cada registro pesa lo que representa en la población. Uno puede valer por 1,500 hogares y otro por 4,000.</a:t>
            </a:r>
            <a:endParaRPr lang="en-US" sz="1250" b="0" u="none" strike="noStrike">
              <a:solidFill>
                <a:srgbClr val="000000"/>
              </a:solidFill>
              <a:effectLst/>
              <a:uFillTx/>
              <a:latin typeface="Arial"/>
            </a:endParaRPr>
          </a:p>
        </p:txBody>
      </p:sp>
      <p:sp>
        <p:nvSpPr>
          <p:cNvPr id="172" name="Shape 8"/>
          <p:cNvSpPr/>
          <p:nvPr/>
        </p:nvSpPr>
        <p:spPr>
          <a:xfrm>
            <a:off x="8138160" y="1920240"/>
            <a:ext cx="3501720" cy="1828440"/>
          </a:xfrm>
          <a:prstGeom prst="roundRect">
            <a:avLst>
              <a:gd name="adj" fmla="val 3000"/>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3" name="Text 9"/>
          <p:cNvSpPr/>
          <p:nvPr/>
        </p:nvSpPr>
        <p:spPr>
          <a:xfrm>
            <a:off x="836676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A23B22"/>
                </a:solidFill>
                <a:effectLst/>
                <a:uFillTx/>
                <a:latin typeface="Calibri"/>
                <a:ea typeface="Calibri"/>
              </a:rPr>
              <a:t>La trampa</a:t>
            </a:r>
            <a:endParaRPr lang="en-US" sz="1550" b="0" u="none" strike="noStrike">
              <a:solidFill>
                <a:srgbClr val="000000"/>
              </a:solidFill>
              <a:effectLst/>
              <a:uFillTx/>
              <a:latin typeface="Arial"/>
            </a:endParaRPr>
          </a:p>
        </p:txBody>
      </p:sp>
      <p:sp>
        <p:nvSpPr>
          <p:cNvPr id="174" name="Text 10"/>
          <p:cNvSpPr/>
          <p:nvPr/>
        </p:nvSpPr>
        <p:spPr>
          <a:xfrm>
            <a:off x="836676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Un promedio crudo trata a todos igual. Devuelve el promedio de la muestra, no el de la población.</a:t>
            </a:r>
            <a:endParaRPr lang="en-US" sz="1250" b="0" u="none" strike="noStrike">
              <a:solidFill>
                <a:srgbClr val="000000"/>
              </a:solidFill>
              <a:effectLst/>
              <a:uFillTx/>
              <a:latin typeface="Arial"/>
            </a:endParaRPr>
          </a:p>
        </p:txBody>
      </p:sp>
      <p:sp>
        <p:nvSpPr>
          <p:cNvPr id="175" name="Shape 11"/>
          <p:cNvSpPr/>
          <p:nvPr/>
        </p:nvSpPr>
        <p:spPr>
          <a:xfrm>
            <a:off x="548640" y="4023360"/>
            <a:ext cx="11091240" cy="1371240"/>
          </a:xfrm>
          <a:prstGeom prst="roundRect">
            <a:avLst>
              <a:gd name="adj" fmla="val 4000"/>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6" name="Text 12"/>
          <p:cNvSpPr/>
          <p:nvPr/>
        </p:nvSpPr>
        <p:spPr>
          <a:xfrm>
            <a:off x="868680" y="4187880"/>
            <a:ext cx="1045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E58A5B"/>
                </a:solidFill>
                <a:effectLst/>
                <a:uFillTx/>
                <a:latin typeface="Calibri"/>
                <a:ea typeface="Calibri"/>
              </a:rPr>
              <a:t>Por qué existe el factor de expansión</a:t>
            </a:r>
            <a:endParaRPr lang="en-US" sz="1500" b="0" u="none" strike="noStrike">
              <a:solidFill>
                <a:srgbClr val="000000"/>
              </a:solidFill>
              <a:effectLst/>
              <a:uFillTx/>
              <a:latin typeface="Arial"/>
            </a:endParaRPr>
          </a:p>
        </p:txBody>
      </p:sp>
      <p:sp>
        <p:nvSpPr>
          <p:cNvPr id="177" name="Text 13"/>
          <p:cNvSpPr/>
          <p:nvPr/>
        </p:nvSpPr>
        <p:spPr>
          <a:xfrm>
            <a:off x="868680" y="4572000"/>
            <a:ext cx="104511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300" b="0" u="none" strike="noStrike">
                <a:solidFill>
                  <a:srgbClr val="E4EAF0"/>
                </a:solidFill>
                <a:effectLst/>
                <a:uFillTx/>
                <a:latin typeface="Calibri"/>
                <a:ea typeface="Calibri"/>
              </a:rPr>
              <a:t>En una muestra simple, todos pesan igual y el promedio crudo sirve. En ENIGH, ENOE y casi cualquier encuesta oficial, no: el diseño sobre-representa a unos y sub-representa a otros, y el factor corrige esa distorsión para que el estimado hable de la población, no de la muestra.</a:t>
            </a:r>
            <a:endParaRPr lang="en-US" sz="1300" b="0" u="none" strike="noStrike">
              <a:solidFill>
                <a:srgbClr val="000000"/>
              </a:solidFill>
              <a:effectLst/>
              <a:uFillTx/>
              <a:latin typeface="Arial"/>
            </a:endParaRPr>
          </a:p>
        </p:txBody>
      </p:sp>
      <p:sp>
        <p:nvSpPr>
          <p:cNvPr id="178" name="Shape 14"/>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9" name="Shape 15"/>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0" name="Text 16"/>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Si la IA promedia una encuesta con mean(), está asumiendo muestra simple. Casi nunca lo es, y casi nunca lo dice.</a:t>
            </a:r>
            <a:endParaRPr lang="en-US" sz="12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El promedio crudo contra el ponderado</a:t>
            </a:r>
            <a:endParaRPr lang="en-US" sz="2900" b="0" u="none" strike="noStrike">
              <a:solidFill>
                <a:srgbClr val="000000"/>
              </a:solidFill>
              <a:effectLst/>
              <a:uFillTx/>
              <a:latin typeface="Arial"/>
            </a:endParaRPr>
          </a:p>
        </p:txBody>
      </p:sp>
      <p:sp>
        <p:nvSpPr>
          <p:cNvPr id="182"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Una respuesta ingenua promedia crudo; el estimador de diseño usa los factores. Salida ilustrativa: los asistentes actuales muchas veces ya ponderan solos, pero el diseño y el número los verificas tú.</a:t>
            </a:r>
            <a:endParaRPr lang="en-US" sz="1400" b="0" u="none" strike="noStrike">
              <a:solidFill>
                <a:srgbClr val="000000"/>
              </a:solidFill>
              <a:effectLst/>
              <a:uFillTx/>
              <a:latin typeface="Arial"/>
            </a:endParaRPr>
          </a:p>
        </p:txBody>
      </p:sp>
      <p:sp>
        <p:nvSpPr>
          <p:cNvPr id="183" name="Shape 2"/>
          <p:cNvSpPr/>
          <p:nvPr/>
        </p:nvSpPr>
        <p:spPr>
          <a:xfrm>
            <a:off x="548640" y="1783080"/>
            <a:ext cx="255996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4" name="Text 3"/>
          <p:cNvSpPr/>
          <p:nvPr/>
        </p:nvSpPr>
        <p:spPr>
          <a:xfrm>
            <a:off x="548640" y="1783080"/>
            <a:ext cx="25599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Estrato</a:t>
            </a:r>
            <a:endParaRPr lang="en-US" sz="1200" b="0" u="none" strike="noStrike">
              <a:solidFill>
                <a:srgbClr val="000000"/>
              </a:solidFill>
              <a:effectLst/>
              <a:uFillTx/>
              <a:latin typeface="Arial"/>
            </a:endParaRPr>
          </a:p>
        </p:txBody>
      </p:sp>
      <p:sp>
        <p:nvSpPr>
          <p:cNvPr id="185" name="Shape 4"/>
          <p:cNvSpPr/>
          <p:nvPr/>
        </p:nvSpPr>
        <p:spPr>
          <a:xfrm>
            <a:off x="3108960" y="1783080"/>
            <a:ext cx="201132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6" name="Text 5"/>
          <p:cNvSpPr/>
          <p:nvPr/>
        </p:nvSpPr>
        <p:spPr>
          <a:xfrm>
            <a:off x="3108960" y="1783080"/>
            <a:ext cx="20113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 población</a:t>
            </a:r>
            <a:endParaRPr lang="en-US" sz="1200" b="0" u="none" strike="noStrike">
              <a:solidFill>
                <a:srgbClr val="000000"/>
              </a:solidFill>
              <a:effectLst/>
              <a:uFillTx/>
              <a:latin typeface="Arial"/>
            </a:endParaRPr>
          </a:p>
        </p:txBody>
      </p:sp>
      <p:sp>
        <p:nvSpPr>
          <p:cNvPr id="187" name="Shape 6"/>
          <p:cNvSpPr/>
          <p:nvPr/>
        </p:nvSpPr>
        <p:spPr>
          <a:xfrm>
            <a:off x="5120640" y="1783080"/>
            <a:ext cx="201132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8" name="Text 7"/>
          <p:cNvSpPr/>
          <p:nvPr/>
        </p:nvSpPr>
        <p:spPr>
          <a:xfrm>
            <a:off x="5120640" y="1783080"/>
            <a:ext cx="20113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 muestra</a:t>
            </a:r>
            <a:endParaRPr lang="en-US" sz="1200" b="0" u="none" strike="noStrike">
              <a:solidFill>
                <a:srgbClr val="000000"/>
              </a:solidFill>
              <a:effectLst/>
              <a:uFillTx/>
              <a:latin typeface="Arial"/>
            </a:endParaRPr>
          </a:p>
        </p:txBody>
      </p:sp>
      <p:sp>
        <p:nvSpPr>
          <p:cNvPr id="189" name="Shape 8"/>
          <p:cNvSpPr/>
          <p:nvPr/>
        </p:nvSpPr>
        <p:spPr>
          <a:xfrm>
            <a:off x="7132320" y="1783080"/>
            <a:ext cx="182844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0" name="Text 9"/>
          <p:cNvSpPr/>
          <p:nvPr/>
        </p:nvSpPr>
        <p:spPr>
          <a:xfrm>
            <a:off x="7132320" y="1783080"/>
            <a:ext cx="18284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Factor</a:t>
            </a:r>
            <a:endParaRPr lang="en-US" sz="1200" b="0" u="none" strike="noStrike">
              <a:solidFill>
                <a:srgbClr val="000000"/>
              </a:solidFill>
              <a:effectLst/>
              <a:uFillTx/>
              <a:latin typeface="Arial"/>
            </a:endParaRPr>
          </a:p>
        </p:txBody>
      </p:sp>
      <p:sp>
        <p:nvSpPr>
          <p:cNvPr id="191" name="Shape 10"/>
          <p:cNvSpPr/>
          <p:nvPr/>
        </p:nvSpPr>
        <p:spPr>
          <a:xfrm>
            <a:off x="8961120" y="1783080"/>
            <a:ext cx="267876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2" name="Text 11"/>
          <p:cNvSpPr/>
          <p:nvPr/>
        </p:nvSpPr>
        <p:spPr>
          <a:xfrm>
            <a:off x="8961120" y="1783080"/>
            <a:ext cx="26787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Ingreso medio</a:t>
            </a:r>
            <a:endParaRPr lang="en-US" sz="1200" b="0" u="none" strike="noStrike">
              <a:solidFill>
                <a:srgbClr val="000000"/>
              </a:solidFill>
              <a:effectLst/>
              <a:uFillTx/>
              <a:latin typeface="Arial"/>
            </a:endParaRPr>
          </a:p>
        </p:txBody>
      </p:sp>
      <p:sp>
        <p:nvSpPr>
          <p:cNvPr id="193" name="Shape 12"/>
          <p:cNvSpPr/>
          <p:nvPr/>
        </p:nvSpPr>
        <p:spPr>
          <a:xfrm>
            <a:off x="548640" y="2185560"/>
            <a:ext cx="255996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4" name="Text 13"/>
          <p:cNvSpPr/>
          <p:nvPr/>
        </p:nvSpPr>
        <p:spPr>
          <a:xfrm>
            <a:off x="594360" y="2185560"/>
            <a:ext cx="2468520" cy="40212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Alta marginación</a:t>
            </a:r>
            <a:endParaRPr lang="en-US" sz="1250" b="0" u="none" strike="noStrike">
              <a:solidFill>
                <a:srgbClr val="000000"/>
              </a:solidFill>
              <a:effectLst/>
              <a:uFillTx/>
              <a:latin typeface="Arial"/>
            </a:endParaRPr>
          </a:p>
        </p:txBody>
      </p:sp>
      <p:sp>
        <p:nvSpPr>
          <p:cNvPr id="195" name="Shape 14"/>
          <p:cNvSpPr/>
          <p:nvPr/>
        </p:nvSpPr>
        <p:spPr>
          <a:xfrm>
            <a:off x="3108960" y="2185560"/>
            <a:ext cx="201132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6" name="Text 15"/>
          <p:cNvSpPr/>
          <p:nvPr/>
        </p:nvSpPr>
        <p:spPr>
          <a:xfrm>
            <a:off x="3154680" y="2185560"/>
            <a:ext cx="19198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30%</a:t>
            </a:r>
            <a:endParaRPr lang="en-US" sz="1250" b="0" u="none" strike="noStrike">
              <a:solidFill>
                <a:srgbClr val="000000"/>
              </a:solidFill>
              <a:effectLst/>
              <a:uFillTx/>
              <a:latin typeface="Arial"/>
            </a:endParaRPr>
          </a:p>
        </p:txBody>
      </p:sp>
      <p:sp>
        <p:nvSpPr>
          <p:cNvPr id="197" name="Shape 16"/>
          <p:cNvSpPr/>
          <p:nvPr/>
        </p:nvSpPr>
        <p:spPr>
          <a:xfrm>
            <a:off x="5120640" y="2185560"/>
            <a:ext cx="201132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8" name="Text 17"/>
          <p:cNvSpPr/>
          <p:nvPr/>
        </p:nvSpPr>
        <p:spPr>
          <a:xfrm>
            <a:off x="5166360" y="2185560"/>
            <a:ext cx="19198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50%</a:t>
            </a:r>
            <a:endParaRPr lang="en-US" sz="1250" b="0" u="none" strike="noStrike">
              <a:solidFill>
                <a:srgbClr val="000000"/>
              </a:solidFill>
              <a:effectLst/>
              <a:uFillTx/>
              <a:latin typeface="Arial"/>
            </a:endParaRPr>
          </a:p>
        </p:txBody>
      </p:sp>
      <p:sp>
        <p:nvSpPr>
          <p:cNvPr id="199" name="Shape 18"/>
          <p:cNvSpPr/>
          <p:nvPr/>
        </p:nvSpPr>
        <p:spPr>
          <a:xfrm>
            <a:off x="7132320" y="2185560"/>
            <a:ext cx="182844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0" name="Text 19"/>
          <p:cNvSpPr/>
          <p:nvPr/>
        </p:nvSpPr>
        <p:spPr>
          <a:xfrm>
            <a:off x="7178040" y="2185560"/>
            <a:ext cx="17370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1,500</a:t>
            </a:r>
            <a:endParaRPr lang="en-US" sz="1250" b="0" u="none" strike="noStrike">
              <a:solidFill>
                <a:srgbClr val="000000"/>
              </a:solidFill>
              <a:effectLst/>
              <a:uFillTx/>
              <a:latin typeface="Arial"/>
            </a:endParaRPr>
          </a:p>
        </p:txBody>
      </p:sp>
      <p:sp>
        <p:nvSpPr>
          <p:cNvPr id="201" name="Shape 20"/>
          <p:cNvSpPr/>
          <p:nvPr/>
        </p:nvSpPr>
        <p:spPr>
          <a:xfrm>
            <a:off x="8961120" y="2185560"/>
            <a:ext cx="267876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Text 21"/>
          <p:cNvSpPr/>
          <p:nvPr/>
        </p:nvSpPr>
        <p:spPr>
          <a:xfrm>
            <a:off x="9006840" y="2185560"/>
            <a:ext cx="25873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4,192</a:t>
            </a:r>
            <a:endParaRPr lang="en-US" sz="1250" b="0" u="none" strike="noStrike">
              <a:solidFill>
                <a:srgbClr val="000000"/>
              </a:solidFill>
              <a:effectLst/>
              <a:uFillTx/>
              <a:latin typeface="Arial"/>
            </a:endParaRPr>
          </a:p>
        </p:txBody>
      </p:sp>
      <p:sp>
        <p:nvSpPr>
          <p:cNvPr id="203" name="Shape 22"/>
          <p:cNvSpPr/>
          <p:nvPr/>
        </p:nvSpPr>
        <p:spPr>
          <a:xfrm>
            <a:off x="548640" y="2587680"/>
            <a:ext cx="255996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4" name="Text 23"/>
          <p:cNvSpPr/>
          <p:nvPr/>
        </p:nvSpPr>
        <p:spPr>
          <a:xfrm>
            <a:off x="594360" y="2587680"/>
            <a:ext cx="2468520" cy="40212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Media marginación</a:t>
            </a:r>
            <a:endParaRPr lang="en-US" sz="1250" b="0" u="none" strike="noStrike">
              <a:solidFill>
                <a:srgbClr val="000000"/>
              </a:solidFill>
              <a:effectLst/>
              <a:uFillTx/>
              <a:latin typeface="Arial"/>
            </a:endParaRPr>
          </a:p>
        </p:txBody>
      </p:sp>
      <p:sp>
        <p:nvSpPr>
          <p:cNvPr id="205" name="Shape 24"/>
          <p:cNvSpPr/>
          <p:nvPr/>
        </p:nvSpPr>
        <p:spPr>
          <a:xfrm>
            <a:off x="3108960" y="2587680"/>
            <a:ext cx="201132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6" name="Text 25"/>
          <p:cNvSpPr/>
          <p:nvPr/>
        </p:nvSpPr>
        <p:spPr>
          <a:xfrm>
            <a:off x="3154680" y="2587680"/>
            <a:ext cx="19198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30%</a:t>
            </a:r>
            <a:endParaRPr lang="en-US" sz="1250" b="0" u="none" strike="noStrike">
              <a:solidFill>
                <a:srgbClr val="000000"/>
              </a:solidFill>
              <a:effectLst/>
              <a:uFillTx/>
              <a:latin typeface="Arial"/>
            </a:endParaRPr>
          </a:p>
        </p:txBody>
      </p:sp>
      <p:sp>
        <p:nvSpPr>
          <p:cNvPr id="207" name="Shape 26"/>
          <p:cNvSpPr/>
          <p:nvPr/>
        </p:nvSpPr>
        <p:spPr>
          <a:xfrm>
            <a:off x="5120640" y="2587680"/>
            <a:ext cx="201132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8" name="Text 27"/>
          <p:cNvSpPr/>
          <p:nvPr/>
        </p:nvSpPr>
        <p:spPr>
          <a:xfrm>
            <a:off x="5166360" y="2587680"/>
            <a:ext cx="19198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25%</a:t>
            </a:r>
            <a:endParaRPr lang="en-US" sz="1250" b="0" u="none" strike="noStrike">
              <a:solidFill>
                <a:srgbClr val="000000"/>
              </a:solidFill>
              <a:effectLst/>
              <a:uFillTx/>
              <a:latin typeface="Arial"/>
            </a:endParaRPr>
          </a:p>
        </p:txBody>
      </p:sp>
      <p:sp>
        <p:nvSpPr>
          <p:cNvPr id="209" name="Shape 28"/>
          <p:cNvSpPr/>
          <p:nvPr/>
        </p:nvSpPr>
        <p:spPr>
          <a:xfrm>
            <a:off x="7132320" y="2587680"/>
            <a:ext cx="182844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0" name="Text 29"/>
          <p:cNvSpPr/>
          <p:nvPr/>
        </p:nvSpPr>
        <p:spPr>
          <a:xfrm>
            <a:off x="7178040" y="2587680"/>
            <a:ext cx="17370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3,000</a:t>
            </a:r>
            <a:endParaRPr lang="en-US" sz="1250" b="0" u="none" strike="noStrike">
              <a:solidFill>
                <a:srgbClr val="000000"/>
              </a:solidFill>
              <a:effectLst/>
              <a:uFillTx/>
              <a:latin typeface="Arial"/>
            </a:endParaRPr>
          </a:p>
        </p:txBody>
      </p:sp>
      <p:sp>
        <p:nvSpPr>
          <p:cNvPr id="211" name="Shape 30"/>
          <p:cNvSpPr/>
          <p:nvPr/>
        </p:nvSpPr>
        <p:spPr>
          <a:xfrm>
            <a:off x="8961120" y="2587680"/>
            <a:ext cx="267876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2" name="Text 31"/>
          <p:cNvSpPr/>
          <p:nvPr/>
        </p:nvSpPr>
        <p:spPr>
          <a:xfrm>
            <a:off x="9006840" y="2587680"/>
            <a:ext cx="25873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6,941</a:t>
            </a:r>
            <a:endParaRPr lang="en-US" sz="1250" b="0" u="none" strike="noStrike">
              <a:solidFill>
                <a:srgbClr val="000000"/>
              </a:solidFill>
              <a:effectLst/>
              <a:uFillTx/>
              <a:latin typeface="Arial"/>
            </a:endParaRPr>
          </a:p>
        </p:txBody>
      </p:sp>
      <p:sp>
        <p:nvSpPr>
          <p:cNvPr id="213" name="Shape 32"/>
          <p:cNvSpPr/>
          <p:nvPr/>
        </p:nvSpPr>
        <p:spPr>
          <a:xfrm>
            <a:off x="548640" y="2990160"/>
            <a:ext cx="255996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4" name="Text 33"/>
          <p:cNvSpPr/>
          <p:nvPr/>
        </p:nvSpPr>
        <p:spPr>
          <a:xfrm>
            <a:off x="594360" y="2990160"/>
            <a:ext cx="2468520" cy="40212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Baja marginación</a:t>
            </a:r>
            <a:endParaRPr lang="en-US" sz="1250" b="0" u="none" strike="noStrike">
              <a:solidFill>
                <a:srgbClr val="000000"/>
              </a:solidFill>
              <a:effectLst/>
              <a:uFillTx/>
              <a:latin typeface="Arial"/>
            </a:endParaRPr>
          </a:p>
        </p:txBody>
      </p:sp>
      <p:sp>
        <p:nvSpPr>
          <p:cNvPr id="215" name="Shape 34"/>
          <p:cNvSpPr/>
          <p:nvPr/>
        </p:nvSpPr>
        <p:spPr>
          <a:xfrm>
            <a:off x="3108960" y="2990160"/>
            <a:ext cx="201132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6" name="Text 35"/>
          <p:cNvSpPr/>
          <p:nvPr/>
        </p:nvSpPr>
        <p:spPr>
          <a:xfrm>
            <a:off x="3154680" y="2990160"/>
            <a:ext cx="19198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40%</a:t>
            </a:r>
            <a:endParaRPr lang="en-US" sz="1250" b="0" u="none" strike="noStrike">
              <a:solidFill>
                <a:srgbClr val="000000"/>
              </a:solidFill>
              <a:effectLst/>
              <a:uFillTx/>
              <a:latin typeface="Arial"/>
            </a:endParaRPr>
          </a:p>
        </p:txBody>
      </p:sp>
      <p:sp>
        <p:nvSpPr>
          <p:cNvPr id="217" name="Shape 36"/>
          <p:cNvSpPr/>
          <p:nvPr/>
        </p:nvSpPr>
        <p:spPr>
          <a:xfrm>
            <a:off x="5120640" y="2990160"/>
            <a:ext cx="201132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8" name="Text 37"/>
          <p:cNvSpPr/>
          <p:nvPr/>
        </p:nvSpPr>
        <p:spPr>
          <a:xfrm>
            <a:off x="5166360" y="2990160"/>
            <a:ext cx="19198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25%</a:t>
            </a:r>
            <a:endParaRPr lang="en-US" sz="1250" b="0" u="none" strike="noStrike">
              <a:solidFill>
                <a:srgbClr val="000000"/>
              </a:solidFill>
              <a:effectLst/>
              <a:uFillTx/>
              <a:latin typeface="Arial"/>
            </a:endParaRPr>
          </a:p>
        </p:txBody>
      </p:sp>
      <p:sp>
        <p:nvSpPr>
          <p:cNvPr id="219" name="Shape 38"/>
          <p:cNvSpPr/>
          <p:nvPr/>
        </p:nvSpPr>
        <p:spPr>
          <a:xfrm>
            <a:off x="7132320" y="2990160"/>
            <a:ext cx="182844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0" name="Text 39"/>
          <p:cNvSpPr/>
          <p:nvPr/>
        </p:nvSpPr>
        <p:spPr>
          <a:xfrm>
            <a:off x="7178040" y="2990160"/>
            <a:ext cx="17370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4,000</a:t>
            </a:r>
            <a:endParaRPr lang="en-US" sz="1250" b="0" u="none" strike="noStrike">
              <a:solidFill>
                <a:srgbClr val="000000"/>
              </a:solidFill>
              <a:effectLst/>
              <a:uFillTx/>
              <a:latin typeface="Arial"/>
            </a:endParaRPr>
          </a:p>
        </p:txBody>
      </p:sp>
      <p:sp>
        <p:nvSpPr>
          <p:cNvPr id="221" name="Shape 40"/>
          <p:cNvSpPr/>
          <p:nvPr/>
        </p:nvSpPr>
        <p:spPr>
          <a:xfrm>
            <a:off x="8961120" y="2990160"/>
            <a:ext cx="267876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2" name="Text 41"/>
          <p:cNvSpPr/>
          <p:nvPr/>
        </p:nvSpPr>
        <p:spPr>
          <a:xfrm>
            <a:off x="9006840" y="2990160"/>
            <a:ext cx="25873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12,471</a:t>
            </a:r>
            <a:endParaRPr lang="en-US" sz="1250" b="0" u="none" strike="noStrike">
              <a:solidFill>
                <a:srgbClr val="000000"/>
              </a:solidFill>
              <a:effectLst/>
              <a:uFillTx/>
              <a:latin typeface="Arial"/>
            </a:endParaRPr>
          </a:p>
        </p:txBody>
      </p:sp>
      <p:sp>
        <p:nvSpPr>
          <p:cNvPr id="223" name="Shape 42"/>
          <p:cNvSpPr/>
          <p:nvPr/>
        </p:nvSpPr>
        <p:spPr>
          <a:xfrm>
            <a:off x="548640" y="3429000"/>
            <a:ext cx="5394600" cy="1416960"/>
          </a:xfrm>
          <a:prstGeom prst="roundRect">
            <a:avLst>
              <a:gd name="adj" fmla="val 3871"/>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4" name="Text 43"/>
          <p:cNvSpPr/>
          <p:nvPr/>
        </p:nvSpPr>
        <p:spPr>
          <a:xfrm>
            <a:off x="822960" y="359352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A23B22"/>
                </a:solidFill>
                <a:effectLst/>
                <a:uFillTx/>
                <a:latin typeface="Calibri"/>
                <a:ea typeface="Calibri"/>
              </a:rPr>
              <a:t>mean(ingreso)  ·  el camino ingenuo</a:t>
            </a:r>
            <a:endParaRPr lang="en-US" sz="1250" b="0" u="none" strike="noStrike">
              <a:solidFill>
                <a:srgbClr val="000000"/>
              </a:solidFill>
              <a:effectLst/>
              <a:uFillTx/>
              <a:latin typeface="Arial"/>
            </a:endParaRPr>
          </a:p>
        </p:txBody>
      </p:sp>
      <p:sp>
        <p:nvSpPr>
          <p:cNvPr id="225" name="Text 44"/>
          <p:cNvSpPr/>
          <p:nvPr/>
        </p:nvSpPr>
        <p:spPr>
          <a:xfrm>
            <a:off x="822960" y="3886200"/>
            <a:ext cx="48459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A23B22"/>
                </a:solidFill>
                <a:effectLst/>
                <a:uFillTx/>
                <a:latin typeface="Cambria"/>
                <a:ea typeface="Cambria"/>
              </a:rPr>
              <a:t>6,949</a:t>
            </a:r>
            <a:endParaRPr lang="en-US" sz="3400" b="0" u="none" strike="noStrike">
              <a:solidFill>
                <a:srgbClr val="000000"/>
              </a:solidFill>
              <a:effectLst/>
              <a:uFillTx/>
              <a:latin typeface="Arial"/>
            </a:endParaRPr>
          </a:p>
        </p:txBody>
      </p:sp>
      <p:sp>
        <p:nvSpPr>
          <p:cNvPr id="226" name="Text 45"/>
          <p:cNvSpPr/>
          <p:nvPr/>
        </p:nvSpPr>
        <p:spPr>
          <a:xfrm>
            <a:off x="822960" y="4507920"/>
            <a:ext cx="484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60707E"/>
                </a:solidFill>
                <a:effectLst/>
                <a:uFillTx/>
                <a:latin typeface="Calibri"/>
                <a:ea typeface="Calibri"/>
              </a:rPr>
              <a:t>el promedio de la muestra</a:t>
            </a:r>
            <a:endParaRPr lang="en-US" sz="1100" b="0" u="none" strike="noStrike">
              <a:solidFill>
                <a:srgbClr val="000000"/>
              </a:solidFill>
              <a:effectLst/>
              <a:uFillTx/>
              <a:latin typeface="Arial"/>
            </a:endParaRPr>
          </a:p>
        </p:txBody>
      </p:sp>
      <p:sp>
        <p:nvSpPr>
          <p:cNvPr id="227" name="Shape 46"/>
          <p:cNvSpPr/>
          <p:nvPr/>
        </p:nvSpPr>
        <p:spPr>
          <a:xfrm>
            <a:off x="6245280" y="3429000"/>
            <a:ext cx="5394600" cy="1416960"/>
          </a:xfrm>
          <a:prstGeom prst="roundRect">
            <a:avLst>
              <a:gd name="adj" fmla="val 3871"/>
            </a:avLst>
          </a:prstGeom>
          <a:solidFill>
            <a:srgbClr val="E7F2EA"/>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8" name="Text 47"/>
          <p:cNvSpPr/>
          <p:nvPr/>
        </p:nvSpPr>
        <p:spPr>
          <a:xfrm>
            <a:off x="6519600" y="359352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E6E49"/>
                </a:solidFill>
                <a:effectLst/>
                <a:uFillTx/>
                <a:latin typeface="Calibri"/>
                <a:ea typeface="Calibri"/>
              </a:rPr>
              <a:t>svymean con el diseño  ·  el correcto</a:t>
            </a:r>
            <a:endParaRPr lang="en-US" sz="1250" b="0" u="none" strike="noStrike">
              <a:solidFill>
                <a:srgbClr val="000000"/>
              </a:solidFill>
              <a:effectLst/>
              <a:uFillTx/>
              <a:latin typeface="Arial"/>
            </a:endParaRPr>
          </a:p>
        </p:txBody>
      </p:sp>
      <p:sp>
        <p:nvSpPr>
          <p:cNvPr id="229" name="Text 48"/>
          <p:cNvSpPr/>
          <p:nvPr/>
        </p:nvSpPr>
        <p:spPr>
          <a:xfrm>
            <a:off x="6519600" y="3886200"/>
            <a:ext cx="48459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2E6E49"/>
                </a:solidFill>
                <a:effectLst/>
                <a:uFillTx/>
                <a:latin typeface="Cambria"/>
                <a:ea typeface="Cambria"/>
              </a:rPr>
              <a:t>8,328</a:t>
            </a:r>
            <a:endParaRPr lang="en-US" sz="3400" b="0" u="none" strike="noStrike">
              <a:solidFill>
                <a:srgbClr val="000000"/>
              </a:solidFill>
              <a:effectLst/>
              <a:uFillTx/>
              <a:latin typeface="Arial"/>
            </a:endParaRPr>
          </a:p>
        </p:txBody>
      </p:sp>
      <p:sp>
        <p:nvSpPr>
          <p:cNvPr id="230" name="Text 49"/>
          <p:cNvSpPr/>
          <p:nvPr/>
        </p:nvSpPr>
        <p:spPr>
          <a:xfrm>
            <a:off x="6519600" y="4507920"/>
            <a:ext cx="484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60707E"/>
                </a:solidFill>
                <a:effectLst/>
                <a:uFillTx/>
                <a:latin typeface="Calibri"/>
                <a:ea typeface="Calibri"/>
              </a:rPr>
              <a:t>el ingreso poblacional (EE 232)</a:t>
            </a:r>
            <a:endParaRPr lang="en-US" sz="1100" b="0" u="none" strike="noStrike">
              <a:solidFill>
                <a:srgbClr val="000000"/>
              </a:solidFill>
              <a:effectLst/>
              <a:uFillTx/>
              <a:latin typeface="Arial"/>
            </a:endParaRPr>
          </a:p>
        </p:txBody>
      </p:sp>
      <p:sp>
        <p:nvSpPr>
          <p:cNvPr id="231" name="Shape 50"/>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Shape 51"/>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3" name="Text 52"/>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La muestra sobre-representa Alta marginación (50% vs 30% real), el estrato más pobre; por eso el crudo subestima el poblacional 16.6%.</a:t>
            </a:r>
            <a:endParaRPr lang="en-US" sz="1250" b="0" u="none" strike="noStrike">
              <a:solidFill>
                <a:srgbClr val="000000"/>
              </a:solidFill>
              <a:effectLst/>
              <a:uFillTx/>
              <a:latin typeface="Arial"/>
            </a:endParaRPr>
          </a:p>
        </p:txBody>
      </p:sp>
      <p:sp>
        <p:nvSpPr>
          <p:cNvPr id="234" name="Text 53"/>
          <p:cNvSpPr/>
          <p:nvPr/>
        </p:nvSpPr>
        <p:spPr>
          <a:xfrm>
            <a:off x="548640" y="6419160"/>
            <a:ext cx="110912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60707E"/>
                </a:solidFill>
                <a:effectLst/>
                <a:uFillTx/>
                <a:latin typeface="Calibri"/>
                <a:ea typeface="Calibri"/>
              </a:rPr>
              <a:t>En R: mean(datos$ingreso) contra svymean(~ingreso, diseño), con svydesign(ids = ~upm, strata = ~estrato, weights = ~factor).</a:t>
            </a:r>
            <a:endParaRPr lang="en-US" sz="9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93B"/>
        </a:solidFill>
        <a:effectLst/>
      </p:bgPr>
    </p:bg>
    <p:spTree>
      <p:nvGrpSpPr>
        <p:cNvPr id="1" name=""/>
        <p:cNvGrpSpPr/>
        <p:nvPr/>
      </p:nvGrpSpPr>
      <p:grpSpPr>
        <a:xfrm>
          <a:off x="0" y="0"/>
          <a:ext cx="0" cy="0"/>
          <a:chOff x="0" y="0"/>
          <a:chExt cx="0" cy="0"/>
        </a:xfrm>
      </p:grpSpPr>
      <p:sp>
        <p:nvSpPr>
          <p:cNvPr id="235" name="Shape 0"/>
          <p:cNvSpPr/>
          <p:nvPr/>
        </p:nvSpPr>
        <p:spPr>
          <a:xfrm>
            <a:off x="822960" y="2468880"/>
            <a:ext cx="1371240" cy="13712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6" name="Text 1"/>
          <p:cNvSpPr/>
          <p:nvPr/>
        </p:nvSpPr>
        <p:spPr>
          <a:xfrm>
            <a:off x="822960" y="246888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FFFFFF"/>
                </a:solidFill>
                <a:effectLst/>
                <a:uFillTx/>
                <a:latin typeface="Cambria"/>
                <a:ea typeface="Cambria"/>
              </a:rPr>
              <a:t>2</a:t>
            </a:r>
            <a:endParaRPr lang="en-US" sz="4000" b="0" u="none" strike="noStrike">
              <a:solidFill>
                <a:srgbClr val="FFFFFF"/>
              </a:solidFill>
              <a:effectLst/>
              <a:uFillTx/>
              <a:latin typeface="Arial"/>
            </a:endParaRPr>
          </a:p>
        </p:txBody>
      </p:sp>
      <p:sp>
        <p:nvSpPr>
          <p:cNvPr id="237" name="Text 2"/>
          <p:cNvSpPr/>
          <p:nvPr/>
        </p:nvSpPr>
        <p:spPr>
          <a:xfrm>
            <a:off x="2514600" y="267012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E58A5B"/>
                </a:solidFill>
                <a:effectLst/>
                <a:uFillTx/>
                <a:latin typeface="Calibri"/>
                <a:ea typeface="Calibri"/>
              </a:rPr>
              <a:t>BLOQUE 2</a:t>
            </a:r>
            <a:endParaRPr lang="en-US" sz="1400" b="0" u="none" strike="noStrike">
              <a:solidFill>
                <a:srgbClr val="FFFFFF"/>
              </a:solidFill>
              <a:effectLst/>
              <a:uFillTx/>
              <a:latin typeface="Arial"/>
            </a:endParaRPr>
          </a:p>
        </p:txBody>
      </p:sp>
      <p:sp>
        <p:nvSpPr>
          <p:cNvPr id="238" name="Text 3"/>
          <p:cNvSpPr/>
          <p:nvPr/>
        </p:nvSpPr>
        <p:spPr>
          <a:xfrm>
            <a:off x="2514600" y="3072240"/>
            <a:ext cx="9052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libri"/>
                <a:ea typeface="Calibri"/>
              </a:rPr>
              <a:t>Inferencia: el número trae ruido, y la IA lo subestima</a:t>
            </a:r>
            <a:endParaRPr lang="en-US" sz="2900" b="0" u="none" strike="noStrike">
              <a:solidFill>
                <a:srgbClr val="FFFFFF"/>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9"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Bloque 2, en concreto: el efecto de programa sobre score</a:t>
            </a:r>
            <a:endParaRPr lang="en-US" sz="2900" b="0" u="none" strike="noStrike">
              <a:solidFill>
                <a:srgbClr val="000000"/>
              </a:solidFill>
              <a:effectLst/>
              <a:uFillTx/>
              <a:latin typeface="Arial"/>
            </a:endParaRPr>
          </a:p>
        </p:txBody>
      </p:sp>
      <p:sp>
        <p:nvSpPr>
          <p:cNvPr id="240"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El mismo microdato. Aquí fijamos qué estimamos, y sobre esa cantidad medimos la incertidumbre.</a:t>
            </a:r>
            <a:endParaRPr lang="en-US" sz="1400" b="0" u="none" strike="noStrike">
              <a:solidFill>
                <a:srgbClr val="000000"/>
              </a:solidFill>
              <a:effectLst/>
              <a:uFillTx/>
              <a:latin typeface="Arial"/>
            </a:endParaRPr>
          </a:p>
        </p:txBody>
      </p:sp>
      <p:sp>
        <p:nvSpPr>
          <p:cNvPr id="241" name="Shape 2"/>
          <p:cNvSpPr/>
          <p:nvPr/>
        </p:nvSpPr>
        <p:spPr>
          <a:xfrm>
            <a:off x="548640" y="2194560"/>
            <a:ext cx="3501720" cy="2697120"/>
          </a:xfrm>
          <a:prstGeom prst="roundRect">
            <a:avLst>
              <a:gd name="adj" fmla="val 203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2" name="Text 3"/>
          <p:cNvSpPr/>
          <p:nvPr/>
        </p:nvSpPr>
        <p:spPr>
          <a:xfrm>
            <a:off x="80460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LAS COLUMNAS</a:t>
            </a:r>
            <a:endParaRPr lang="en-US" sz="1200" b="0" u="none" strike="noStrike">
              <a:solidFill>
                <a:srgbClr val="000000"/>
              </a:solidFill>
              <a:effectLst/>
              <a:uFillTx/>
              <a:latin typeface="Arial"/>
            </a:endParaRPr>
          </a:p>
        </p:txBody>
      </p:sp>
      <p:sp>
        <p:nvSpPr>
          <p:cNvPr id="243" name="Text 4"/>
          <p:cNvSpPr/>
          <p:nvPr/>
        </p:nvSpPr>
        <p:spPr>
          <a:xfrm>
            <a:off x="80460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1E2A35"/>
                </a:solidFill>
                <a:effectLst/>
                <a:uFillTx/>
                <a:latin typeface="Cambria"/>
                <a:ea typeface="Cambria"/>
              </a:rPr>
              <a:t>programa · score</a:t>
            </a:r>
            <a:endParaRPr lang="en-US" sz="1600" b="0" u="none" strike="noStrike">
              <a:solidFill>
                <a:srgbClr val="000000"/>
              </a:solidFill>
              <a:effectLst/>
              <a:uFillTx/>
              <a:latin typeface="Arial"/>
            </a:endParaRPr>
          </a:p>
        </p:txBody>
      </p:sp>
      <p:sp>
        <p:nvSpPr>
          <p:cNvPr id="244" name="Text 5"/>
          <p:cNvSpPr/>
          <p:nvPr/>
        </p:nvSpPr>
        <p:spPr>
          <a:xfrm>
            <a:off x="80460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programa: recibe el apoyo (0 o 1). score: índice de resultado, 0 a 100.</a:t>
            </a:r>
            <a:endParaRPr lang="en-US" sz="1200" b="0" u="none" strike="noStrike">
              <a:solidFill>
                <a:srgbClr val="000000"/>
              </a:solidFill>
              <a:effectLst/>
              <a:uFillTx/>
              <a:latin typeface="Arial"/>
            </a:endParaRPr>
          </a:p>
        </p:txBody>
      </p:sp>
      <p:sp>
        <p:nvSpPr>
          <p:cNvPr id="245" name="Shape 6"/>
          <p:cNvSpPr/>
          <p:nvPr/>
        </p:nvSpPr>
        <p:spPr>
          <a:xfrm>
            <a:off x="4343400" y="2194560"/>
            <a:ext cx="3501720" cy="2697120"/>
          </a:xfrm>
          <a:prstGeom prst="roundRect">
            <a:avLst>
              <a:gd name="adj" fmla="val 203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6" name="Text 7"/>
          <p:cNvSpPr/>
          <p:nvPr/>
        </p:nvSpPr>
        <p:spPr>
          <a:xfrm>
            <a:off x="459936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LA OPERACIÓN</a:t>
            </a:r>
            <a:endParaRPr lang="en-US" sz="1200" b="0" u="none" strike="noStrike">
              <a:solidFill>
                <a:srgbClr val="000000"/>
              </a:solidFill>
              <a:effectLst/>
              <a:uFillTx/>
              <a:latin typeface="Arial"/>
            </a:endParaRPr>
          </a:p>
        </p:txBody>
      </p:sp>
      <p:sp>
        <p:nvSpPr>
          <p:cNvPr id="247" name="Text 8"/>
          <p:cNvSpPr/>
          <p:nvPr/>
        </p:nvSpPr>
        <p:spPr>
          <a:xfrm>
            <a:off x="459936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1E2A35"/>
                </a:solidFill>
                <a:effectLst/>
                <a:uFillTx/>
                <a:latin typeface="Cambria"/>
                <a:ea typeface="Cambria"/>
              </a:rPr>
              <a:t>diferencia de medias</a:t>
            </a:r>
            <a:endParaRPr lang="en-US" sz="1600" b="0" u="none" strike="noStrike">
              <a:solidFill>
                <a:srgbClr val="000000"/>
              </a:solidFill>
              <a:effectLst/>
              <a:uFillTx/>
              <a:latin typeface="Arial"/>
            </a:endParaRPr>
          </a:p>
        </p:txBody>
      </p:sp>
      <p:sp>
        <p:nvSpPr>
          <p:cNvPr id="248" name="Text 9"/>
          <p:cNvSpPr/>
          <p:nvPr/>
        </p:nvSpPr>
        <p:spPr>
          <a:xfrm>
            <a:off x="459936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El score promedio con programa menos sin programa: el coeficiente de lm(score ~ programa), −4.5.</a:t>
            </a:r>
            <a:endParaRPr lang="en-US" sz="1200" b="0" u="none" strike="noStrike">
              <a:solidFill>
                <a:srgbClr val="000000"/>
              </a:solidFill>
              <a:effectLst/>
              <a:uFillTx/>
              <a:latin typeface="Arial"/>
            </a:endParaRPr>
          </a:p>
        </p:txBody>
      </p:sp>
      <p:sp>
        <p:nvSpPr>
          <p:cNvPr id="249" name="Shape 10"/>
          <p:cNvSpPr/>
          <p:nvPr/>
        </p:nvSpPr>
        <p:spPr>
          <a:xfrm>
            <a:off x="8138160" y="2194560"/>
            <a:ext cx="3501720" cy="2697120"/>
          </a:xfrm>
          <a:prstGeom prst="roundRect">
            <a:avLst>
              <a:gd name="adj" fmla="val 2034"/>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0" name="Text 11"/>
          <p:cNvSpPr/>
          <p:nvPr/>
        </p:nvSpPr>
        <p:spPr>
          <a:xfrm>
            <a:off x="839412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EL CONTRASTE</a:t>
            </a:r>
            <a:endParaRPr lang="en-US" sz="1200" b="0" u="none" strike="noStrike">
              <a:solidFill>
                <a:srgbClr val="000000"/>
              </a:solidFill>
              <a:effectLst/>
              <a:uFillTx/>
              <a:latin typeface="Arial"/>
            </a:endParaRPr>
          </a:p>
        </p:txBody>
      </p:sp>
      <p:sp>
        <p:nvSpPr>
          <p:cNvPr id="251" name="Text 12"/>
          <p:cNvSpPr/>
          <p:nvPr/>
        </p:nvSpPr>
        <p:spPr>
          <a:xfrm>
            <a:off x="839412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A23B22"/>
                </a:solidFill>
                <a:effectLst/>
                <a:uFillTx/>
                <a:latin typeface="Cambria"/>
                <a:ea typeface="Cambria"/>
              </a:rPr>
              <a:t>EE clásico </a:t>
            </a:r>
            <a:r>
              <a:rPr lang="en-US" sz="1600" b="1" u="none" strike="noStrike">
                <a:solidFill>
                  <a:srgbClr val="60707E"/>
                </a:solidFill>
                <a:effectLst/>
                <a:uFillTx/>
                <a:latin typeface="Cambria"/>
                <a:ea typeface="Cambria"/>
              </a:rPr>
              <a:t>vs </a:t>
            </a:r>
            <a:r>
              <a:rPr lang="en-US" sz="1600" b="1" u="none" strike="noStrike">
                <a:solidFill>
                  <a:srgbClr val="2E6E49"/>
                </a:solidFill>
                <a:effectLst/>
                <a:uFillTx/>
                <a:latin typeface="Cambria"/>
                <a:ea typeface="Cambria"/>
              </a:rPr>
              <a:t>conglomerado</a:t>
            </a:r>
            <a:endParaRPr lang="en-US" sz="1600" b="0" u="none" strike="noStrike">
              <a:solidFill>
                <a:srgbClr val="000000"/>
              </a:solidFill>
              <a:effectLst/>
              <a:uFillTx/>
              <a:latin typeface="Arial"/>
            </a:endParaRPr>
          </a:p>
        </p:txBody>
      </p:sp>
      <p:sp>
        <p:nvSpPr>
          <p:cNvPr id="252" name="Text 13"/>
          <p:cNvSpPr/>
          <p:nvPr/>
        </p:nvSpPr>
        <p:spPr>
          <a:xfrm>
            <a:off x="839412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El error estándar IID contra el que reconoce las UPM.</a:t>
            </a:r>
            <a:endParaRPr lang="en-US" sz="1200" b="0" u="none" strike="noStrike">
              <a:solidFill>
                <a:srgbClr val="000000"/>
              </a:solidFill>
              <a:effectLst/>
              <a:uFillTx/>
              <a:latin typeface="Arial"/>
            </a:endParaRPr>
          </a:p>
        </p:txBody>
      </p:sp>
      <p:sp>
        <p:nvSpPr>
          <p:cNvPr id="253" name="Shape 14"/>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4" name="Shape 15"/>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5" name="Text 16"/>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En una frase: estimamos la diferencia de score entre tratados y no tratados, y comparamos su error estándar clásico contra el correcto.</a:t>
            </a:r>
            <a:endParaRPr lang="en-US" sz="125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El error estándar dice cuánto podría cambiar el número</a:t>
            </a:r>
            <a:endParaRPr lang="en-US" sz="2900" b="0" u="none" strike="noStrike">
              <a:solidFill>
                <a:srgbClr val="000000"/>
              </a:solidFill>
              <a:effectLst/>
              <a:uFillTx/>
              <a:latin typeface="Arial"/>
            </a:endParaRPr>
          </a:p>
        </p:txBody>
      </p:sp>
      <p:sp>
        <p:nvSpPr>
          <p:cNvPr id="257"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Y el default lo calcula asumiendo cosas que una encuesta no cumple.</a:t>
            </a:r>
            <a:endParaRPr lang="en-US" sz="1400" b="0" u="none" strike="noStrike">
              <a:solidFill>
                <a:srgbClr val="000000"/>
              </a:solidFill>
              <a:effectLst/>
              <a:uFillTx/>
              <a:latin typeface="Arial"/>
            </a:endParaRPr>
          </a:p>
        </p:txBody>
      </p:sp>
      <p:sp>
        <p:nvSpPr>
          <p:cNvPr id="258" name="Shape 2"/>
          <p:cNvSpPr/>
          <p:nvPr/>
        </p:nvSpPr>
        <p:spPr>
          <a:xfrm>
            <a:off x="548640" y="1920240"/>
            <a:ext cx="3501720" cy="1828440"/>
          </a:xfrm>
          <a:prstGeom prst="roundRect">
            <a:avLst>
              <a:gd name="adj" fmla="val 3000"/>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9" name="Text 3"/>
          <p:cNvSpPr/>
          <p:nvPr/>
        </p:nvSpPr>
        <p:spPr>
          <a:xfrm>
            <a:off x="77724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E2A35"/>
                </a:solidFill>
                <a:effectLst/>
                <a:uFillTx/>
                <a:latin typeface="Calibri"/>
                <a:ea typeface="Calibri"/>
              </a:rPr>
              <a:t>Qué mide</a:t>
            </a:r>
            <a:endParaRPr lang="en-US" sz="1500" b="0" u="none" strike="noStrike">
              <a:solidFill>
                <a:srgbClr val="000000"/>
              </a:solidFill>
              <a:effectLst/>
              <a:uFillTx/>
              <a:latin typeface="Arial"/>
            </a:endParaRPr>
          </a:p>
        </p:txBody>
      </p:sp>
      <p:sp>
        <p:nvSpPr>
          <p:cNvPr id="260" name="Text 4"/>
          <p:cNvSpPr/>
          <p:nvPr/>
        </p:nvSpPr>
        <p:spPr>
          <a:xfrm>
            <a:off x="77724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Si repitieras el muestreo, ¿cuánto se movería el estimador? El error estándar pone número a ese vaivén.</a:t>
            </a:r>
            <a:endParaRPr lang="en-US" sz="1250" b="0" u="none" strike="noStrike">
              <a:solidFill>
                <a:srgbClr val="000000"/>
              </a:solidFill>
              <a:effectLst/>
              <a:uFillTx/>
              <a:latin typeface="Arial"/>
            </a:endParaRPr>
          </a:p>
        </p:txBody>
      </p:sp>
      <p:sp>
        <p:nvSpPr>
          <p:cNvPr id="261" name="Shape 5"/>
          <p:cNvSpPr/>
          <p:nvPr/>
        </p:nvSpPr>
        <p:spPr>
          <a:xfrm>
            <a:off x="4343400" y="1920240"/>
            <a:ext cx="3501720" cy="1828440"/>
          </a:xfrm>
          <a:prstGeom prst="roundRect">
            <a:avLst>
              <a:gd name="adj" fmla="val 3000"/>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2" name="Text 6"/>
          <p:cNvSpPr/>
          <p:nvPr/>
        </p:nvSpPr>
        <p:spPr>
          <a:xfrm>
            <a:off x="457200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23B22"/>
                </a:solidFill>
                <a:effectLst/>
                <a:uFillTx/>
                <a:latin typeface="Calibri"/>
                <a:ea typeface="Calibri"/>
              </a:rPr>
              <a:t>El default IID</a:t>
            </a:r>
            <a:endParaRPr lang="en-US" sz="1500" b="0" u="none" strike="noStrike">
              <a:solidFill>
                <a:srgbClr val="000000"/>
              </a:solidFill>
              <a:effectLst/>
              <a:uFillTx/>
              <a:latin typeface="Arial"/>
            </a:endParaRPr>
          </a:p>
        </p:txBody>
      </p:sp>
      <p:sp>
        <p:nvSpPr>
          <p:cNvPr id="263" name="Text 7"/>
          <p:cNvSpPr/>
          <p:nvPr/>
        </p:nvSpPr>
        <p:spPr>
          <a:xfrm>
            <a:off x="457200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Asume registros independientes e idénticos. Pero los hogares de una misma zona se parecen: hay conglomerados.</a:t>
            </a:r>
            <a:endParaRPr lang="en-US" sz="1250" b="0" u="none" strike="noStrike">
              <a:solidFill>
                <a:srgbClr val="000000"/>
              </a:solidFill>
              <a:effectLst/>
              <a:uFillTx/>
              <a:latin typeface="Arial"/>
            </a:endParaRPr>
          </a:p>
        </p:txBody>
      </p:sp>
      <p:sp>
        <p:nvSpPr>
          <p:cNvPr id="264" name="Shape 8"/>
          <p:cNvSpPr/>
          <p:nvPr/>
        </p:nvSpPr>
        <p:spPr>
          <a:xfrm>
            <a:off x="8138160" y="1920240"/>
            <a:ext cx="3501720" cy="1828440"/>
          </a:xfrm>
          <a:prstGeom prst="roundRect">
            <a:avLst>
              <a:gd name="adj" fmla="val 3000"/>
            </a:avLst>
          </a:prstGeom>
          <a:solidFill>
            <a:srgbClr val="FCF3DD"/>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9"/>
          <p:cNvSpPr/>
          <p:nvPr/>
        </p:nvSpPr>
        <p:spPr>
          <a:xfrm>
            <a:off x="836676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8A6D1F"/>
                </a:solidFill>
                <a:effectLst/>
                <a:uFillTx/>
                <a:latin typeface="Calibri"/>
                <a:ea typeface="Calibri"/>
              </a:rPr>
              <a:t>El borrado silencioso</a:t>
            </a:r>
            <a:endParaRPr lang="en-US" sz="1500" b="0" u="none" strike="noStrike">
              <a:solidFill>
                <a:srgbClr val="000000"/>
              </a:solidFill>
              <a:effectLst/>
              <a:uFillTx/>
              <a:latin typeface="Arial"/>
            </a:endParaRPr>
          </a:p>
        </p:txBody>
      </p:sp>
      <p:sp>
        <p:nvSpPr>
          <p:cNvPr id="266" name="Text 10"/>
          <p:cNvSpPr/>
          <p:nvPr/>
        </p:nvSpPr>
        <p:spPr>
          <a:xfrm>
            <a:off x="836676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Quitar renglones con cualquier vacío cambia la muestra sin avisar, y con ella el número y su error.</a:t>
            </a:r>
            <a:endParaRPr lang="en-US" sz="1250" b="0" u="none" strike="noStrike">
              <a:solidFill>
                <a:srgbClr val="000000"/>
              </a:solidFill>
              <a:effectLst/>
              <a:uFillTx/>
              <a:latin typeface="Arial"/>
            </a:endParaRPr>
          </a:p>
        </p:txBody>
      </p:sp>
      <p:sp>
        <p:nvSpPr>
          <p:cNvPr id="267" name="Shape 11"/>
          <p:cNvSpPr/>
          <p:nvPr/>
        </p:nvSpPr>
        <p:spPr>
          <a:xfrm>
            <a:off x="548640" y="4023360"/>
            <a:ext cx="11091240" cy="1371240"/>
          </a:xfrm>
          <a:prstGeom prst="roundRect">
            <a:avLst>
              <a:gd name="adj" fmla="val 4000"/>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8" name="Text 12"/>
          <p:cNvSpPr/>
          <p:nvPr/>
        </p:nvSpPr>
        <p:spPr>
          <a:xfrm>
            <a:off x="868680" y="4187880"/>
            <a:ext cx="1045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E58A5B"/>
                </a:solidFill>
                <a:effectLst/>
                <a:uFillTx/>
                <a:latin typeface="Calibri"/>
                <a:ea typeface="Calibri"/>
              </a:rPr>
              <a:t>Por qué el default falla en encuestas</a:t>
            </a:r>
            <a:endParaRPr lang="en-US" sz="1500" b="0" u="none" strike="noStrike">
              <a:solidFill>
                <a:srgbClr val="000000"/>
              </a:solidFill>
              <a:effectLst/>
              <a:uFillTx/>
              <a:latin typeface="Arial"/>
            </a:endParaRPr>
          </a:p>
        </p:txBody>
      </p:sp>
      <p:sp>
        <p:nvSpPr>
          <p:cNvPr id="269" name="Text 13"/>
          <p:cNvSpPr/>
          <p:nvPr/>
        </p:nvSpPr>
        <p:spPr>
          <a:xfrm>
            <a:off x="868680" y="4572000"/>
            <a:ext cx="104511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300" b="0" u="none" strike="noStrike">
                <a:solidFill>
                  <a:srgbClr val="E4EAF0"/>
                </a:solidFill>
                <a:effectLst/>
                <a:uFillTx/>
                <a:latin typeface="Calibri"/>
                <a:ea typeface="Calibri"/>
              </a:rPr>
              <a:t>Cuando los hogares se muestrean por conglomerados, dos del mismo bloque aportan menos información nueva que dos al azar. El error estándar clásico no lo sabe y sale demasiado chico: da certeza de más. El correcto reconoce el conglomerado y el estrato.</a:t>
            </a:r>
            <a:endParaRPr lang="en-US" sz="1300" b="0" u="none" strike="noStrike">
              <a:solidFill>
                <a:srgbClr val="000000"/>
              </a:solidFill>
              <a:effectLst/>
              <a:uFillTx/>
              <a:latin typeface="Arial"/>
            </a:endParaRPr>
          </a:p>
        </p:txBody>
      </p:sp>
      <p:sp>
        <p:nvSpPr>
          <p:cNvPr id="270" name="Shape 14"/>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Shape 15"/>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2" name="Text 16"/>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El error estándar clásico es el que viene por default en lm() y summary(). Con datos por conglomerado es el equivocado, lo escriba quien lo escriba.</a:t>
            </a:r>
            <a:endParaRPr lang="en-US" sz="12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3"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Mismo estimador, distinta certeza</a:t>
            </a:r>
            <a:endParaRPr lang="en-US" sz="2900" b="0" u="none" strike="noStrike">
              <a:solidFill>
                <a:srgbClr val="000000"/>
              </a:solidFill>
              <a:effectLst/>
              <a:uFillTx/>
              <a:latin typeface="Arial"/>
            </a:endParaRPr>
          </a:p>
        </p:txBody>
      </p:sp>
      <p:sp>
        <p:nvSpPr>
          <p:cNvPr id="274"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Sobre el mismo microdato. El efecto del programa sobre el score (el índice de resultado) no cambia; cambia lo que dice el error estándar, y con él la conclusión.</a:t>
            </a:r>
            <a:endParaRPr lang="en-US" sz="1400" b="0" u="none" strike="noStrike">
              <a:solidFill>
                <a:srgbClr val="000000"/>
              </a:solidFill>
              <a:effectLst/>
              <a:uFillTx/>
              <a:latin typeface="Arial"/>
            </a:endParaRPr>
          </a:p>
        </p:txBody>
      </p:sp>
      <p:sp>
        <p:nvSpPr>
          <p:cNvPr id="275" name="Shape 2"/>
          <p:cNvSpPr/>
          <p:nvPr/>
        </p:nvSpPr>
        <p:spPr>
          <a:xfrm>
            <a:off x="548640" y="1783080"/>
            <a:ext cx="11091240" cy="868320"/>
          </a:xfrm>
          <a:prstGeom prst="roundRect">
            <a:avLst>
              <a:gd name="adj" fmla="val 6316"/>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Text 3"/>
          <p:cNvSpPr/>
          <p:nvPr/>
        </p:nvSpPr>
        <p:spPr>
          <a:xfrm>
            <a:off x="868680" y="1783080"/>
            <a:ext cx="104511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1E2A35"/>
                </a:solidFill>
                <a:effectLst/>
                <a:uFillTx/>
                <a:latin typeface="Calibri"/>
              </a:rPr>
              <a:t>Efecto estimado del programa:  </a:t>
            </a:r>
            <a:r>
              <a:rPr lang="en-US" sz="1700" b="1" u="none" strike="noStrike">
                <a:solidFill>
                  <a:srgbClr val="1E2A35"/>
                </a:solidFill>
                <a:effectLst/>
                <a:uFillTx/>
                <a:latin typeface="Cambria"/>
                <a:ea typeface="Cambria"/>
              </a:rPr>
              <a:t>−4.5 puntos</a:t>
            </a:r>
            <a:r>
              <a:rPr lang="en-US" sz="1200" b="0" i="1" u="none" strike="noStrike">
                <a:solidFill>
                  <a:srgbClr val="60707E"/>
                </a:solidFill>
                <a:effectLst/>
                <a:uFillTx/>
                <a:latin typeface="Calibri"/>
                <a:ea typeface="Cambria"/>
              </a:rPr>
              <a:t>     (el punto no cambia; lo que cambia es su margen)</a:t>
            </a:r>
            <a:endParaRPr lang="en-US" sz="1200" b="0" u="none" strike="noStrike">
              <a:solidFill>
                <a:srgbClr val="000000"/>
              </a:solidFill>
              <a:effectLst/>
              <a:uFillTx/>
              <a:latin typeface="Arial"/>
            </a:endParaRPr>
          </a:p>
        </p:txBody>
      </p:sp>
      <p:sp>
        <p:nvSpPr>
          <p:cNvPr id="277" name="Shape 4"/>
          <p:cNvSpPr/>
          <p:nvPr/>
        </p:nvSpPr>
        <p:spPr>
          <a:xfrm>
            <a:off x="548640" y="2880360"/>
            <a:ext cx="5394600" cy="2011320"/>
          </a:xfrm>
          <a:prstGeom prst="roundRect">
            <a:avLst>
              <a:gd name="adj" fmla="val 2727"/>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5"/>
          <p:cNvSpPr/>
          <p:nvPr/>
        </p:nvSpPr>
        <p:spPr>
          <a:xfrm>
            <a:off x="822960" y="306324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A23B22"/>
                </a:solidFill>
                <a:effectLst/>
                <a:uFillTx/>
                <a:latin typeface="Calibri"/>
                <a:ea typeface="Calibri"/>
              </a:rPr>
              <a:t>ERROR ESTÁNDAR CLÁSICO (IID)</a:t>
            </a:r>
            <a:endParaRPr lang="en-US" sz="1200" b="0" u="none" strike="noStrike">
              <a:solidFill>
                <a:srgbClr val="000000"/>
              </a:solidFill>
              <a:effectLst/>
              <a:uFillTx/>
              <a:latin typeface="Arial"/>
            </a:endParaRPr>
          </a:p>
        </p:txBody>
      </p:sp>
      <p:sp>
        <p:nvSpPr>
          <p:cNvPr id="279" name="Text 6"/>
          <p:cNvSpPr/>
          <p:nvPr/>
        </p:nvSpPr>
        <p:spPr>
          <a:xfrm>
            <a:off x="822960" y="3410640"/>
            <a:ext cx="48459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A23B22"/>
                </a:solidFill>
                <a:effectLst/>
                <a:uFillTx/>
                <a:latin typeface="Cambria"/>
                <a:ea typeface="Cambria"/>
              </a:rPr>
              <a:t>± 1.46</a:t>
            </a:r>
            <a:endParaRPr lang="en-US" sz="2800" b="0" u="none" strike="noStrike">
              <a:solidFill>
                <a:srgbClr val="000000"/>
              </a:solidFill>
              <a:effectLst/>
              <a:uFillTx/>
              <a:latin typeface="Arial"/>
            </a:endParaRPr>
          </a:p>
        </p:txBody>
      </p:sp>
      <p:sp>
        <p:nvSpPr>
          <p:cNvPr id="280" name="Text 7"/>
          <p:cNvSpPr/>
          <p:nvPr/>
        </p:nvSpPr>
        <p:spPr>
          <a:xfrm>
            <a:off x="822960" y="4023360"/>
            <a:ext cx="48459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300" b="1" u="none" strike="noStrike">
                <a:solidFill>
                  <a:srgbClr val="1E2A35"/>
                </a:solidFill>
                <a:effectLst/>
                <a:uFillTx/>
                <a:latin typeface="Calibri"/>
                <a:ea typeface="Calibri"/>
              </a:rPr>
              <a:t>t = −3.1,  p = 0.002</a:t>
            </a:r>
            <a:endParaRPr lang="en-US" sz="1300" b="0" u="none" strike="noStrike">
              <a:solidFill>
                <a:srgbClr val="000000"/>
              </a:solidFill>
              <a:effectLst/>
              <a:uFillTx/>
              <a:latin typeface="Arial"/>
            </a:endParaRPr>
          </a:p>
          <a:p>
            <a:pPr defTabSz="914400">
              <a:lnSpc>
                <a:spcPct val="105000"/>
              </a:lnSpc>
              <a:tabLst>
                <a:tab pos="0" algn="l"/>
              </a:tabLst>
            </a:pPr>
            <a:r>
              <a:rPr lang="en-US" sz="1300" b="0" i="1" u="none" strike="noStrike">
                <a:solidFill>
                  <a:srgbClr val="60707E"/>
                </a:solidFill>
                <a:effectLst/>
                <a:uFillTx/>
                <a:latin typeface="Calibri"/>
                <a:ea typeface="Calibri"/>
              </a:rPr>
              <a:t>«claramente significativo»</a:t>
            </a:r>
            <a:endParaRPr lang="en-US" sz="1300" b="0" u="none" strike="noStrike">
              <a:solidFill>
                <a:srgbClr val="000000"/>
              </a:solidFill>
              <a:effectLst/>
              <a:uFillTx/>
              <a:latin typeface="Arial"/>
            </a:endParaRPr>
          </a:p>
        </p:txBody>
      </p:sp>
      <p:sp>
        <p:nvSpPr>
          <p:cNvPr id="281" name="Shape 8"/>
          <p:cNvSpPr/>
          <p:nvPr/>
        </p:nvSpPr>
        <p:spPr>
          <a:xfrm>
            <a:off x="6245280" y="2880360"/>
            <a:ext cx="5394600" cy="2011320"/>
          </a:xfrm>
          <a:prstGeom prst="roundRect">
            <a:avLst>
              <a:gd name="adj" fmla="val 2727"/>
            </a:avLst>
          </a:prstGeom>
          <a:solidFill>
            <a:srgbClr val="E7F2EA"/>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2" name="Text 9"/>
          <p:cNvSpPr/>
          <p:nvPr/>
        </p:nvSpPr>
        <p:spPr>
          <a:xfrm>
            <a:off x="6519600" y="306324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2E6E49"/>
                </a:solidFill>
                <a:effectLst/>
                <a:uFillTx/>
                <a:latin typeface="Calibri"/>
                <a:ea typeface="Calibri"/>
              </a:rPr>
              <a:t>ERROR ESTÁNDAR POR CONGLOMERADO</a:t>
            </a:r>
            <a:endParaRPr lang="en-US" sz="1200" b="0" u="none" strike="noStrike">
              <a:solidFill>
                <a:srgbClr val="000000"/>
              </a:solidFill>
              <a:effectLst/>
              <a:uFillTx/>
              <a:latin typeface="Arial"/>
            </a:endParaRPr>
          </a:p>
        </p:txBody>
      </p:sp>
      <p:sp>
        <p:nvSpPr>
          <p:cNvPr id="283" name="Text 10"/>
          <p:cNvSpPr/>
          <p:nvPr/>
        </p:nvSpPr>
        <p:spPr>
          <a:xfrm>
            <a:off x="6519600" y="3410640"/>
            <a:ext cx="48459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2E6E49"/>
                </a:solidFill>
                <a:effectLst/>
                <a:uFillTx/>
                <a:latin typeface="Cambria"/>
                <a:ea typeface="Cambria"/>
              </a:rPr>
              <a:t>± 2.19</a:t>
            </a:r>
            <a:endParaRPr lang="en-US" sz="2800" b="0" u="none" strike="noStrike">
              <a:solidFill>
                <a:srgbClr val="000000"/>
              </a:solidFill>
              <a:effectLst/>
              <a:uFillTx/>
              <a:latin typeface="Arial"/>
            </a:endParaRPr>
          </a:p>
        </p:txBody>
      </p:sp>
      <p:sp>
        <p:nvSpPr>
          <p:cNvPr id="284" name="Text 11"/>
          <p:cNvSpPr/>
          <p:nvPr/>
        </p:nvSpPr>
        <p:spPr>
          <a:xfrm>
            <a:off x="6519600" y="4023360"/>
            <a:ext cx="48459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300" b="1" u="none" strike="noStrike">
                <a:solidFill>
                  <a:srgbClr val="1E2A35"/>
                </a:solidFill>
                <a:effectLst/>
                <a:uFillTx/>
                <a:latin typeface="Calibri"/>
                <a:ea typeface="Calibri"/>
              </a:rPr>
              <a:t>t = −2.0,  p = 0.049</a:t>
            </a:r>
            <a:endParaRPr lang="en-US" sz="1300" b="0" u="none" strike="noStrike">
              <a:solidFill>
                <a:srgbClr val="000000"/>
              </a:solidFill>
              <a:effectLst/>
              <a:uFillTx/>
              <a:latin typeface="Arial"/>
            </a:endParaRPr>
          </a:p>
          <a:p>
            <a:pPr defTabSz="914400">
              <a:lnSpc>
                <a:spcPct val="105000"/>
              </a:lnSpc>
              <a:tabLst>
                <a:tab pos="0" algn="l"/>
              </a:tabLst>
            </a:pPr>
            <a:r>
              <a:rPr lang="en-US" sz="1300" b="0" i="1" u="none" strike="noStrike">
                <a:solidFill>
                  <a:srgbClr val="60707E"/>
                </a:solidFill>
                <a:effectLst/>
                <a:uFillTx/>
                <a:latin typeface="Calibri"/>
                <a:ea typeface="Calibri"/>
              </a:rPr>
              <a:t>apenas significativo, al filo</a:t>
            </a:r>
            <a:endParaRPr lang="en-US" sz="1300" b="0" u="none" strike="noStrike">
              <a:solidFill>
                <a:srgbClr val="000000"/>
              </a:solidFill>
              <a:effectLst/>
              <a:uFillTx/>
              <a:latin typeface="Arial"/>
            </a:endParaRPr>
          </a:p>
        </p:txBody>
      </p:sp>
      <p:sp>
        <p:nvSpPr>
          <p:cNvPr id="285" name="Shape 12"/>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6" name="Shape 13"/>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7" name="Text 14"/>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El default IID subestima la incertidumbre en un tercio. Con el error correcto la conclusión pasa de firme a frágil: la misma cifra, otra decisión.</a:t>
            </a:r>
            <a:endParaRPr lang="en-US" sz="12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5293B"/>
        </a:solidFill>
        <a:effectLst/>
      </p:bgPr>
    </p:bg>
    <p:spTree>
      <p:nvGrpSpPr>
        <p:cNvPr id="1" name=""/>
        <p:cNvGrpSpPr/>
        <p:nvPr/>
      </p:nvGrpSpPr>
      <p:grpSpPr>
        <a:xfrm>
          <a:off x="0" y="0"/>
          <a:ext cx="0" cy="0"/>
          <a:chOff x="0" y="0"/>
          <a:chExt cx="0" cy="0"/>
        </a:xfrm>
      </p:grpSpPr>
      <p:sp>
        <p:nvSpPr>
          <p:cNvPr id="288" name="Shape 0"/>
          <p:cNvSpPr/>
          <p:nvPr/>
        </p:nvSpPr>
        <p:spPr>
          <a:xfrm>
            <a:off x="822960" y="2468880"/>
            <a:ext cx="1371240" cy="13712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9" name="Text 1"/>
          <p:cNvSpPr/>
          <p:nvPr/>
        </p:nvSpPr>
        <p:spPr>
          <a:xfrm>
            <a:off x="822960" y="246888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FFFFFF"/>
                </a:solidFill>
                <a:effectLst/>
                <a:uFillTx/>
                <a:latin typeface="Cambria"/>
                <a:ea typeface="Cambria"/>
              </a:rPr>
              <a:t>3</a:t>
            </a:r>
            <a:endParaRPr lang="en-US" sz="4000" b="0" u="none" strike="noStrike">
              <a:solidFill>
                <a:srgbClr val="FFFFFF"/>
              </a:solidFill>
              <a:effectLst/>
              <a:uFillTx/>
              <a:latin typeface="Arial"/>
            </a:endParaRPr>
          </a:p>
        </p:txBody>
      </p:sp>
      <p:sp>
        <p:nvSpPr>
          <p:cNvPr id="290" name="Text 2"/>
          <p:cNvSpPr/>
          <p:nvPr/>
        </p:nvSpPr>
        <p:spPr>
          <a:xfrm>
            <a:off x="2514600" y="267012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E58A5B"/>
                </a:solidFill>
                <a:effectLst/>
                <a:uFillTx/>
                <a:latin typeface="Calibri"/>
                <a:ea typeface="Calibri"/>
              </a:rPr>
              <a:t>BLOQUE 3</a:t>
            </a:r>
            <a:endParaRPr lang="en-US" sz="1400" b="0" u="none" strike="noStrike">
              <a:solidFill>
                <a:srgbClr val="FFFFFF"/>
              </a:solidFill>
              <a:effectLst/>
              <a:uFillTx/>
              <a:latin typeface="Arial"/>
            </a:endParaRPr>
          </a:p>
        </p:txBody>
      </p:sp>
      <p:sp>
        <p:nvSpPr>
          <p:cNvPr id="291" name="Text 3"/>
          <p:cNvSpPr/>
          <p:nvPr/>
        </p:nvSpPr>
        <p:spPr>
          <a:xfrm>
            <a:off x="2514600" y="3072240"/>
            <a:ext cx="9052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libri"/>
                <a:ea typeface="Calibri"/>
              </a:rPr>
              <a:t>Agregación: relaciones que se invierten</a:t>
            </a:r>
            <a:endParaRPr lang="en-US" sz="2900" b="0" u="none" strike="noStrike">
              <a:solidFill>
                <a:srgbClr val="FFFFFF"/>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2"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Bloque 3, en concreto: ese mismo efecto, por estrato</a:t>
            </a:r>
            <a:endParaRPr lang="en-US" sz="2900" b="0" u="none" strike="noStrike">
              <a:solidFill>
                <a:srgbClr val="000000"/>
              </a:solidFill>
              <a:effectLst/>
              <a:uFillTx/>
              <a:latin typeface="Arial"/>
            </a:endParaRPr>
          </a:p>
        </p:txBody>
      </p:sp>
      <p:sp>
        <p:nvSpPr>
          <p:cNvPr id="293"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La misma diferencia del Bloque 2, ahora condicionada por el confusor. El Bloque 2 miró su margen; este mira su signo.</a:t>
            </a:r>
            <a:endParaRPr lang="en-US" sz="1400" b="0" u="none" strike="noStrike">
              <a:solidFill>
                <a:srgbClr val="000000"/>
              </a:solidFill>
              <a:effectLst/>
              <a:uFillTx/>
              <a:latin typeface="Arial"/>
            </a:endParaRPr>
          </a:p>
        </p:txBody>
      </p:sp>
      <p:sp>
        <p:nvSpPr>
          <p:cNvPr id="294" name="Shape 2"/>
          <p:cNvSpPr/>
          <p:nvPr/>
        </p:nvSpPr>
        <p:spPr>
          <a:xfrm>
            <a:off x="548640" y="2194560"/>
            <a:ext cx="3501720" cy="2697120"/>
          </a:xfrm>
          <a:prstGeom prst="roundRect">
            <a:avLst>
              <a:gd name="adj" fmla="val 203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5" name="Text 3"/>
          <p:cNvSpPr/>
          <p:nvPr/>
        </p:nvSpPr>
        <p:spPr>
          <a:xfrm>
            <a:off x="80460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LAS COLUMNAS</a:t>
            </a:r>
            <a:endParaRPr lang="en-US" sz="1200" b="0" u="none" strike="noStrike">
              <a:solidFill>
                <a:srgbClr val="000000"/>
              </a:solidFill>
              <a:effectLst/>
              <a:uFillTx/>
              <a:latin typeface="Arial"/>
            </a:endParaRPr>
          </a:p>
        </p:txBody>
      </p:sp>
      <p:sp>
        <p:nvSpPr>
          <p:cNvPr id="296" name="Text 4"/>
          <p:cNvSpPr/>
          <p:nvPr/>
        </p:nvSpPr>
        <p:spPr>
          <a:xfrm>
            <a:off x="80460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1E2A35"/>
                </a:solidFill>
                <a:effectLst/>
                <a:uFillTx/>
                <a:latin typeface="Cambria"/>
                <a:ea typeface="Cambria"/>
              </a:rPr>
              <a:t>programa · score · estrato</a:t>
            </a:r>
            <a:endParaRPr lang="en-US" sz="1600" b="0" u="none" strike="noStrike">
              <a:solidFill>
                <a:srgbClr val="000000"/>
              </a:solidFill>
              <a:effectLst/>
              <a:uFillTx/>
              <a:latin typeface="Arial"/>
            </a:endParaRPr>
          </a:p>
        </p:txBody>
      </p:sp>
      <p:sp>
        <p:nvSpPr>
          <p:cNvPr id="297" name="Text 5"/>
          <p:cNvSpPr/>
          <p:nvPr/>
        </p:nvSpPr>
        <p:spPr>
          <a:xfrm>
            <a:off x="80460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Las mismas dos, más estrato: el nivel de marginación (el confusor).</a:t>
            </a:r>
            <a:endParaRPr lang="en-US" sz="1200" b="0" u="none" strike="noStrike">
              <a:solidFill>
                <a:srgbClr val="000000"/>
              </a:solidFill>
              <a:effectLst/>
              <a:uFillTx/>
              <a:latin typeface="Arial"/>
            </a:endParaRPr>
          </a:p>
        </p:txBody>
      </p:sp>
      <p:sp>
        <p:nvSpPr>
          <p:cNvPr id="298" name="Shape 6"/>
          <p:cNvSpPr/>
          <p:nvPr/>
        </p:nvSpPr>
        <p:spPr>
          <a:xfrm>
            <a:off x="4343400" y="2194560"/>
            <a:ext cx="3501720" cy="2697120"/>
          </a:xfrm>
          <a:prstGeom prst="roundRect">
            <a:avLst>
              <a:gd name="adj" fmla="val 2034"/>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9" name="Text 7"/>
          <p:cNvSpPr/>
          <p:nvPr/>
        </p:nvSpPr>
        <p:spPr>
          <a:xfrm>
            <a:off x="459936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LA OPERACIÓN</a:t>
            </a:r>
            <a:endParaRPr lang="en-US" sz="1200" b="0" u="none" strike="noStrike">
              <a:solidFill>
                <a:srgbClr val="000000"/>
              </a:solidFill>
              <a:effectLst/>
              <a:uFillTx/>
              <a:latin typeface="Arial"/>
            </a:endParaRPr>
          </a:p>
        </p:txBody>
      </p:sp>
      <p:sp>
        <p:nvSpPr>
          <p:cNvPr id="300" name="Text 8"/>
          <p:cNvSpPr/>
          <p:nvPr/>
        </p:nvSpPr>
        <p:spPr>
          <a:xfrm>
            <a:off x="459936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1E2A35"/>
                </a:solidFill>
                <a:effectLst/>
                <a:uFillTx/>
                <a:latin typeface="Cambria"/>
                <a:ea typeface="Cambria"/>
              </a:rPr>
              <a:t>la misma diferencia, por estrato</a:t>
            </a:r>
            <a:endParaRPr lang="en-US" sz="1600" b="0" u="none" strike="noStrike">
              <a:solidFill>
                <a:srgbClr val="000000"/>
              </a:solidFill>
              <a:effectLst/>
              <a:uFillTx/>
              <a:latin typeface="Arial"/>
            </a:endParaRPr>
          </a:p>
        </p:txBody>
      </p:sp>
      <p:sp>
        <p:nvSpPr>
          <p:cNvPr id="301" name="Text 9"/>
          <p:cNvSpPr/>
          <p:nvPr/>
        </p:nvSpPr>
        <p:spPr>
          <a:xfrm>
            <a:off x="459936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El efecto del programa sobre score dentro de cada nivel de marginación.</a:t>
            </a:r>
            <a:endParaRPr lang="en-US" sz="1200" b="0" u="none" strike="noStrike">
              <a:solidFill>
                <a:srgbClr val="000000"/>
              </a:solidFill>
              <a:effectLst/>
              <a:uFillTx/>
              <a:latin typeface="Arial"/>
            </a:endParaRPr>
          </a:p>
        </p:txBody>
      </p:sp>
      <p:sp>
        <p:nvSpPr>
          <p:cNvPr id="302" name="Shape 10"/>
          <p:cNvSpPr/>
          <p:nvPr/>
        </p:nvSpPr>
        <p:spPr>
          <a:xfrm>
            <a:off x="8138160" y="2194560"/>
            <a:ext cx="3501720" cy="2697120"/>
          </a:xfrm>
          <a:prstGeom prst="roundRect">
            <a:avLst>
              <a:gd name="adj" fmla="val 2034"/>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3" name="Text 11"/>
          <p:cNvSpPr/>
          <p:nvPr/>
        </p:nvSpPr>
        <p:spPr>
          <a:xfrm>
            <a:off x="8394120" y="2432160"/>
            <a:ext cx="298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CB5E2E"/>
                </a:solidFill>
                <a:effectLst/>
                <a:uFillTx/>
                <a:latin typeface="Calibri"/>
                <a:ea typeface="Calibri"/>
              </a:rPr>
              <a:t>EL CONTRASTE</a:t>
            </a:r>
            <a:endParaRPr lang="en-US" sz="1200" b="0" u="none" strike="noStrike">
              <a:solidFill>
                <a:srgbClr val="000000"/>
              </a:solidFill>
              <a:effectLst/>
              <a:uFillTx/>
              <a:latin typeface="Arial"/>
            </a:endParaRPr>
          </a:p>
        </p:txBody>
      </p:sp>
      <p:sp>
        <p:nvSpPr>
          <p:cNvPr id="304" name="Text 12"/>
          <p:cNvSpPr/>
          <p:nvPr/>
        </p:nvSpPr>
        <p:spPr>
          <a:xfrm>
            <a:off x="8394120" y="2779920"/>
            <a:ext cx="2989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8000"/>
              </a:lnSpc>
              <a:tabLst>
                <a:tab pos="0" algn="l"/>
              </a:tabLst>
            </a:pPr>
            <a:r>
              <a:rPr lang="en-US" sz="1600" b="1" u="none" strike="noStrike">
                <a:solidFill>
                  <a:srgbClr val="A23B22"/>
                </a:solidFill>
                <a:effectLst/>
                <a:uFillTx/>
                <a:latin typeface="Cambria"/>
                <a:ea typeface="Cambria"/>
              </a:rPr>
              <a:t>agregado </a:t>
            </a:r>
            <a:r>
              <a:rPr lang="en-US" sz="1600" b="1" u="none" strike="noStrike">
                <a:solidFill>
                  <a:srgbClr val="60707E"/>
                </a:solidFill>
                <a:effectLst/>
                <a:uFillTx/>
                <a:latin typeface="Cambria"/>
                <a:ea typeface="Cambria"/>
              </a:rPr>
              <a:t>vs </a:t>
            </a:r>
            <a:r>
              <a:rPr lang="en-US" sz="1600" b="1" u="none" strike="noStrike">
                <a:solidFill>
                  <a:srgbClr val="2E6E49"/>
                </a:solidFill>
                <a:effectLst/>
                <a:uFillTx/>
                <a:latin typeface="Cambria"/>
                <a:ea typeface="Cambria"/>
              </a:rPr>
              <a:t>por subgrupo</a:t>
            </a:r>
            <a:endParaRPr lang="en-US" sz="1600" b="0" u="none" strike="noStrike">
              <a:solidFill>
                <a:srgbClr val="000000"/>
              </a:solidFill>
              <a:effectLst/>
              <a:uFillTx/>
              <a:latin typeface="Arial"/>
            </a:endParaRPr>
          </a:p>
        </p:txBody>
      </p:sp>
      <p:sp>
        <p:nvSpPr>
          <p:cNvPr id="305" name="Text 13"/>
          <p:cNvSpPr/>
          <p:nvPr/>
        </p:nvSpPr>
        <p:spPr>
          <a:xfrm>
            <a:off x="8394120" y="3767400"/>
            <a:ext cx="2989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3000"/>
              </a:lnSpc>
              <a:tabLst>
                <a:tab pos="0" algn="l"/>
              </a:tabLst>
            </a:pPr>
            <a:r>
              <a:rPr lang="en-US" sz="1200" b="0" u="none" strike="noStrike">
                <a:solidFill>
                  <a:srgbClr val="60707E"/>
                </a:solidFill>
                <a:effectLst/>
                <a:uFillTx/>
                <a:latin typeface="Calibri"/>
                <a:ea typeface="Calibri"/>
              </a:rPr>
              <a:t>El efecto en total contra el efecto en cada estrato. ¿Se invierte?</a:t>
            </a:r>
            <a:endParaRPr lang="en-US" sz="1200" b="0" u="none" strike="noStrike">
              <a:solidFill>
                <a:srgbClr val="000000"/>
              </a:solidFill>
              <a:effectLst/>
              <a:uFillTx/>
              <a:latin typeface="Arial"/>
            </a:endParaRPr>
          </a:p>
        </p:txBody>
      </p:sp>
      <p:sp>
        <p:nvSpPr>
          <p:cNvPr id="306" name="Shape 14"/>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7" name="Shape 15"/>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8" name="Text 16"/>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En una frase: tomamos el mismo efecto y lo miramos por estrato, para ver si el agregado dice lo contrario que los subgrupos.</a:t>
            </a:r>
            <a:endParaRPr lang="en-US" sz="12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9"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El agregado puede decir lo contrario que los subgrupos</a:t>
            </a:r>
            <a:endParaRPr lang="en-US" sz="2900" b="0" u="none" strike="noStrike">
              <a:solidFill>
                <a:srgbClr val="000000"/>
              </a:solidFill>
              <a:effectLst/>
              <a:uFillTx/>
              <a:latin typeface="Arial"/>
            </a:endParaRPr>
          </a:p>
        </p:txBody>
      </p:sp>
      <p:sp>
        <p:nvSpPr>
          <p:cNvPr id="310"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La paradoja de Simpson: una relación se invierte al condicionar. No es rara, y en evaluación es la regla, no la excepción.</a:t>
            </a:r>
            <a:endParaRPr lang="en-US" sz="1400" b="0" u="none" strike="noStrike">
              <a:solidFill>
                <a:srgbClr val="000000"/>
              </a:solidFill>
              <a:effectLst/>
              <a:uFillTx/>
              <a:latin typeface="Arial"/>
            </a:endParaRPr>
          </a:p>
        </p:txBody>
      </p:sp>
      <p:sp>
        <p:nvSpPr>
          <p:cNvPr id="311" name="Shape 2"/>
          <p:cNvSpPr/>
          <p:nvPr/>
        </p:nvSpPr>
        <p:spPr>
          <a:xfrm>
            <a:off x="548640" y="1920240"/>
            <a:ext cx="3501720" cy="1828440"/>
          </a:xfrm>
          <a:prstGeom prst="roundRect">
            <a:avLst>
              <a:gd name="adj" fmla="val 3000"/>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2" name="Text 3"/>
          <p:cNvSpPr/>
          <p:nvPr/>
        </p:nvSpPr>
        <p:spPr>
          <a:xfrm>
            <a:off x="77724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E2A35"/>
                </a:solidFill>
                <a:effectLst/>
                <a:uFillTx/>
                <a:latin typeface="Calibri"/>
                <a:ea typeface="Calibri"/>
              </a:rPr>
              <a:t>Qué es</a:t>
            </a:r>
            <a:endParaRPr lang="en-US" sz="1500" b="0" u="none" strike="noStrike">
              <a:solidFill>
                <a:srgbClr val="000000"/>
              </a:solidFill>
              <a:effectLst/>
              <a:uFillTx/>
              <a:latin typeface="Arial"/>
            </a:endParaRPr>
          </a:p>
        </p:txBody>
      </p:sp>
      <p:sp>
        <p:nvSpPr>
          <p:cNvPr id="313" name="Text 4"/>
          <p:cNvSpPr/>
          <p:nvPr/>
        </p:nvSpPr>
        <p:spPr>
          <a:xfrm>
            <a:off x="77724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En agregado, A supera a B; pero dentro de cada subgrupo, B supera a A. La conclusión se voltea.</a:t>
            </a:r>
            <a:endParaRPr lang="en-US" sz="1250" b="0" u="none" strike="noStrike">
              <a:solidFill>
                <a:srgbClr val="000000"/>
              </a:solidFill>
              <a:effectLst/>
              <a:uFillTx/>
              <a:latin typeface="Arial"/>
            </a:endParaRPr>
          </a:p>
        </p:txBody>
      </p:sp>
      <p:sp>
        <p:nvSpPr>
          <p:cNvPr id="314" name="Shape 5"/>
          <p:cNvSpPr/>
          <p:nvPr/>
        </p:nvSpPr>
        <p:spPr>
          <a:xfrm>
            <a:off x="4343400" y="1920240"/>
            <a:ext cx="3501720" cy="1828440"/>
          </a:xfrm>
          <a:prstGeom prst="roundRect">
            <a:avLst>
              <a:gd name="adj" fmla="val 3000"/>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5" name="Text 6"/>
          <p:cNvSpPr/>
          <p:nvPr/>
        </p:nvSpPr>
        <p:spPr>
          <a:xfrm>
            <a:off x="457200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E2A35"/>
                </a:solidFill>
                <a:effectLst/>
                <a:uFillTx/>
                <a:latin typeface="Calibri"/>
                <a:ea typeface="Calibri"/>
              </a:rPr>
              <a:t>Por qué pasa</a:t>
            </a:r>
            <a:endParaRPr lang="en-US" sz="1500" b="0" u="none" strike="noStrike">
              <a:solidFill>
                <a:srgbClr val="000000"/>
              </a:solidFill>
              <a:effectLst/>
              <a:uFillTx/>
              <a:latin typeface="Arial"/>
            </a:endParaRPr>
          </a:p>
        </p:txBody>
      </p:sp>
      <p:sp>
        <p:nvSpPr>
          <p:cNvPr id="316" name="Text 7"/>
          <p:cNvSpPr/>
          <p:nvPr/>
        </p:nvSpPr>
        <p:spPr>
          <a:xfrm>
            <a:off x="457200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Un factor confusor está mal repartido entre los grupos: no son comparables tal cual se juntan.</a:t>
            </a:r>
            <a:endParaRPr lang="en-US" sz="1250" b="0" u="none" strike="noStrike">
              <a:solidFill>
                <a:srgbClr val="000000"/>
              </a:solidFill>
              <a:effectLst/>
              <a:uFillTx/>
              <a:latin typeface="Arial"/>
            </a:endParaRPr>
          </a:p>
        </p:txBody>
      </p:sp>
      <p:sp>
        <p:nvSpPr>
          <p:cNvPr id="317" name="Shape 8"/>
          <p:cNvSpPr/>
          <p:nvPr/>
        </p:nvSpPr>
        <p:spPr>
          <a:xfrm>
            <a:off x="8138160" y="1920240"/>
            <a:ext cx="3501720" cy="1828440"/>
          </a:xfrm>
          <a:prstGeom prst="roundRect">
            <a:avLst>
              <a:gd name="adj" fmla="val 3000"/>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8" name="Text 9"/>
          <p:cNvSpPr/>
          <p:nvPr/>
        </p:nvSpPr>
        <p:spPr>
          <a:xfrm>
            <a:off x="8366760" y="2103120"/>
            <a:ext cx="304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23B22"/>
                </a:solidFill>
                <a:effectLst/>
                <a:uFillTx/>
                <a:latin typeface="Calibri"/>
                <a:ea typeface="Calibri"/>
              </a:rPr>
              <a:t>Dónde muerde</a:t>
            </a:r>
            <a:endParaRPr lang="en-US" sz="1500" b="0" u="none" strike="noStrike">
              <a:solidFill>
                <a:srgbClr val="000000"/>
              </a:solidFill>
              <a:effectLst/>
              <a:uFillTx/>
              <a:latin typeface="Arial"/>
            </a:endParaRPr>
          </a:p>
        </p:txBody>
      </p:sp>
      <p:sp>
        <p:nvSpPr>
          <p:cNvPr id="319" name="Text 10"/>
          <p:cNvSpPr/>
          <p:nvPr/>
        </p:nvSpPr>
        <p:spPr>
          <a:xfrm>
            <a:off x="8366760" y="2578680"/>
            <a:ext cx="30445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u="none" strike="noStrike">
                <a:solidFill>
                  <a:srgbClr val="1E2A35"/>
                </a:solidFill>
                <a:effectLst/>
                <a:uFillTx/>
                <a:latin typeface="Calibri"/>
                <a:ea typeface="Calibri"/>
              </a:rPr>
              <a:t>En evaluación: los que reciben el programa no son como los que no lo reciben. Comparar crudo engaña.</a:t>
            </a:r>
            <a:endParaRPr lang="en-US" sz="1250" b="0" u="none" strike="noStrike">
              <a:solidFill>
                <a:srgbClr val="000000"/>
              </a:solidFill>
              <a:effectLst/>
              <a:uFillTx/>
              <a:latin typeface="Arial"/>
            </a:endParaRPr>
          </a:p>
        </p:txBody>
      </p:sp>
      <p:sp>
        <p:nvSpPr>
          <p:cNvPr id="320" name="Shape 11"/>
          <p:cNvSpPr/>
          <p:nvPr/>
        </p:nvSpPr>
        <p:spPr>
          <a:xfrm>
            <a:off x="548640" y="4023360"/>
            <a:ext cx="11091240" cy="1371240"/>
          </a:xfrm>
          <a:prstGeom prst="roundRect">
            <a:avLst>
              <a:gd name="adj" fmla="val 4000"/>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1" name="Text 12"/>
          <p:cNvSpPr/>
          <p:nvPr/>
        </p:nvSpPr>
        <p:spPr>
          <a:xfrm>
            <a:off x="868680" y="4187880"/>
            <a:ext cx="1045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E58A5B"/>
                </a:solidFill>
                <a:effectLst/>
                <a:uFillTx/>
                <a:latin typeface="Calibri"/>
                <a:ea typeface="Calibri"/>
              </a:rPr>
              <a:t>Por qué le importa a una unidad de evaluación</a:t>
            </a:r>
            <a:endParaRPr lang="en-US" sz="1500" b="0" u="none" strike="noStrike">
              <a:solidFill>
                <a:srgbClr val="000000"/>
              </a:solidFill>
              <a:effectLst/>
              <a:uFillTx/>
              <a:latin typeface="Arial"/>
            </a:endParaRPr>
          </a:p>
        </p:txBody>
      </p:sp>
      <p:sp>
        <p:nvSpPr>
          <p:cNvPr id="322" name="Text 13"/>
          <p:cNvSpPr/>
          <p:nvPr/>
        </p:nvSpPr>
        <p:spPr>
          <a:xfrm>
            <a:off x="868680" y="4572000"/>
            <a:ext cx="104511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300" b="0" u="none" strike="noStrike">
                <a:solidFill>
                  <a:srgbClr val="E4EAF0"/>
                </a:solidFill>
                <a:effectLst/>
                <a:uFillTx/>
                <a:latin typeface="Calibri"/>
                <a:ea typeface="Calibri"/>
              </a:rPr>
              <a:t>Un programa suele dirigirse a quien más lo necesita, que arranca de una base más baja. Si comparas tratados contra no tratados sin condicionar por esa base, el programa puede parecer inútil o dañino cuando en realidad ayuda. La IA reporta el agregado; el que pregunta por el confusor es el analista.</a:t>
            </a:r>
            <a:endParaRPr lang="en-US" sz="1300" b="0" u="none" strike="noStrike">
              <a:solidFill>
                <a:srgbClr val="000000"/>
              </a:solidFill>
              <a:effectLst/>
              <a:uFillTx/>
              <a:latin typeface="Arial"/>
            </a:endParaRPr>
          </a:p>
        </p:txBody>
      </p:sp>
      <p:sp>
        <p:nvSpPr>
          <p:cNvPr id="323" name="Shape 14"/>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4" name="Shape 15"/>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5" name="Text 16"/>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Un modelo de chat te da el número agregado con confianza. No sabe qué confusor falta; esa pregunta es del que conoce el programa.</a:t>
            </a:r>
            <a:endParaRPr lang="en-US" sz="12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48E4E11-0B06-FD5D-C3B9-A20DC516B80D}"/>
                  </a:ext>
                </a:extLst>
              </p14:cNvPr>
              <p14:cNvContentPartPr/>
              <p14:nvPr/>
            </p14:nvContentPartPr>
            <p14:xfrm>
              <a:off x="1411560" y="1073520"/>
              <a:ext cx="7605000" cy="4509360"/>
            </p14:xfrm>
          </p:contentPart>
        </mc:Choice>
        <mc:Fallback>
          <p:pic>
            <p:nvPicPr>
              <p:cNvPr id="2" name="Ink 1">
                <a:extLst>
                  <a:ext uri="{FF2B5EF4-FFF2-40B4-BE49-F238E27FC236}">
                    <a16:creationId xmlns:a16="http://schemas.microsoft.com/office/drawing/2014/main" id="{648E4E11-0B06-FD5D-C3B9-A20DC516B80D}"/>
                  </a:ext>
                </a:extLst>
              </p:cNvPr>
              <p:cNvPicPr/>
              <p:nvPr/>
            </p:nvPicPr>
            <p:blipFill>
              <a:blip r:embed="rId3"/>
              <a:stretch>
                <a:fillRect/>
              </a:stretch>
            </p:blipFill>
            <p:spPr>
              <a:xfrm>
                <a:off x="1402200" y="1064160"/>
                <a:ext cx="7623720" cy="4528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6221146-A92E-D211-B86F-8906D3BE9C0B}"/>
                  </a:ext>
                </a:extLst>
              </p14:cNvPr>
              <p14:cNvContentPartPr/>
              <p14:nvPr/>
            </p14:nvContentPartPr>
            <p14:xfrm>
              <a:off x="1049760" y="3990600"/>
              <a:ext cx="2941200" cy="1418400"/>
            </p14:xfrm>
          </p:contentPart>
        </mc:Choice>
        <mc:Fallback>
          <p:pic>
            <p:nvPicPr>
              <p:cNvPr id="3" name="Ink 2">
                <a:extLst>
                  <a:ext uri="{FF2B5EF4-FFF2-40B4-BE49-F238E27FC236}">
                    <a16:creationId xmlns:a16="http://schemas.microsoft.com/office/drawing/2014/main" id="{96221146-A92E-D211-B86F-8906D3BE9C0B}"/>
                  </a:ext>
                </a:extLst>
              </p:cNvPr>
              <p:cNvPicPr/>
              <p:nvPr/>
            </p:nvPicPr>
            <p:blipFill>
              <a:blip r:embed="rId5"/>
              <a:stretch>
                <a:fillRect/>
              </a:stretch>
            </p:blipFill>
            <p:spPr>
              <a:xfrm>
                <a:off x="1040400" y="3981240"/>
                <a:ext cx="2959920" cy="1437120"/>
              </a:xfrm>
              <a:prstGeom prst="rect">
                <a:avLst/>
              </a:prstGeom>
            </p:spPr>
          </p:pic>
        </mc:Fallback>
      </mc:AlternateContent>
    </p:spTree>
    <p:extLst>
      <p:ext uri="{BB962C8B-B14F-4D97-AF65-F5344CB8AC3E}">
        <p14:creationId xmlns:p14="http://schemas.microsoft.com/office/powerpoint/2010/main" val="43547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6"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El programa «baja» el score, hasta que miras por estrato</a:t>
            </a:r>
            <a:endParaRPr lang="en-US" sz="2900" b="0" u="none" strike="noStrike">
              <a:solidFill>
                <a:srgbClr val="000000"/>
              </a:solidFill>
              <a:effectLst/>
              <a:uFillTx/>
              <a:latin typeface="Arial"/>
            </a:endParaRPr>
          </a:p>
        </p:txBody>
      </p:sp>
      <p:sp>
        <p:nvSpPr>
          <p:cNvPr id="327"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El demo en vivo. Aquí no es hipótesis: un asistente actual, pedido en código, concluye que el programa daña, y el signo se invierte al condicionar por estrato.</a:t>
            </a:r>
            <a:endParaRPr lang="en-US" sz="1400" b="0" u="none" strike="noStrike">
              <a:solidFill>
                <a:srgbClr val="000000"/>
              </a:solidFill>
              <a:effectLst/>
              <a:uFillTx/>
              <a:latin typeface="Arial"/>
            </a:endParaRPr>
          </a:p>
        </p:txBody>
      </p:sp>
      <p:sp>
        <p:nvSpPr>
          <p:cNvPr id="328" name="Shape 2"/>
          <p:cNvSpPr/>
          <p:nvPr/>
        </p:nvSpPr>
        <p:spPr>
          <a:xfrm>
            <a:off x="548640" y="1783080"/>
            <a:ext cx="5394600" cy="1234080"/>
          </a:xfrm>
          <a:prstGeom prst="roundRect">
            <a:avLst>
              <a:gd name="adj" fmla="val 4444"/>
            </a:avLst>
          </a:prstGeom>
          <a:solidFill>
            <a:srgbClr val="F9E7E3"/>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9" name="Text 3"/>
          <p:cNvSpPr/>
          <p:nvPr/>
        </p:nvSpPr>
        <p:spPr>
          <a:xfrm>
            <a:off x="822960" y="1929240"/>
            <a:ext cx="484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spc="99">
                <a:solidFill>
                  <a:srgbClr val="A23B22"/>
                </a:solidFill>
                <a:effectLst/>
                <a:uFillTx/>
                <a:latin typeface="Calibri"/>
                <a:ea typeface="Calibri"/>
              </a:rPr>
              <a:t>LO QUE REPORTA LA IA (AGREGADO)</a:t>
            </a:r>
            <a:endParaRPr lang="en-US" sz="1150" b="0" u="none" strike="noStrike">
              <a:solidFill>
                <a:srgbClr val="000000"/>
              </a:solidFill>
              <a:effectLst/>
              <a:uFillTx/>
              <a:latin typeface="Arial"/>
            </a:endParaRPr>
          </a:p>
        </p:txBody>
      </p:sp>
      <p:sp>
        <p:nvSpPr>
          <p:cNvPr id="330" name="Text 4"/>
          <p:cNvSpPr/>
          <p:nvPr/>
        </p:nvSpPr>
        <p:spPr>
          <a:xfrm>
            <a:off x="822960" y="2240280"/>
            <a:ext cx="484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1E2A35"/>
                </a:solidFill>
                <a:effectLst/>
                <a:uFillTx/>
                <a:latin typeface="Cambria"/>
                <a:ea typeface="Cambria"/>
              </a:rPr>
              <a:t>Sin programa 63.9   </a:t>
            </a:r>
            <a:r>
              <a:rPr lang="en-US" sz="1500" b="1" u="none" strike="noStrike">
                <a:solidFill>
                  <a:srgbClr val="A23B22"/>
                </a:solidFill>
                <a:effectLst/>
                <a:uFillTx/>
                <a:latin typeface="Cambria"/>
                <a:ea typeface="Cambria"/>
              </a:rPr>
              <a:t>vs   Con programa 59.5</a:t>
            </a:r>
            <a:endParaRPr lang="en-US" sz="1500" b="0" u="none" strike="noStrike">
              <a:solidFill>
                <a:srgbClr val="000000"/>
              </a:solidFill>
              <a:effectLst/>
              <a:uFillTx/>
              <a:latin typeface="Arial"/>
            </a:endParaRPr>
          </a:p>
        </p:txBody>
      </p:sp>
      <p:sp>
        <p:nvSpPr>
          <p:cNvPr id="331" name="Text 5"/>
          <p:cNvSpPr/>
          <p:nvPr/>
        </p:nvSpPr>
        <p:spPr>
          <a:xfrm>
            <a:off x="822960" y="262440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60707E"/>
                </a:solidFill>
                <a:effectLst/>
                <a:uFillTx/>
                <a:latin typeface="Calibri"/>
                <a:ea typeface="Calibri"/>
              </a:rPr>
              <a:t>el programa parece bajar el score 4 puntos</a:t>
            </a:r>
            <a:endParaRPr lang="en-US" sz="1200" b="0" u="none" strike="noStrike">
              <a:solidFill>
                <a:srgbClr val="000000"/>
              </a:solidFill>
              <a:effectLst/>
              <a:uFillTx/>
              <a:latin typeface="Arial"/>
            </a:endParaRPr>
          </a:p>
        </p:txBody>
      </p:sp>
      <p:sp>
        <p:nvSpPr>
          <p:cNvPr id="332" name="Shape 6"/>
          <p:cNvSpPr/>
          <p:nvPr/>
        </p:nvSpPr>
        <p:spPr>
          <a:xfrm>
            <a:off x="6245280" y="1783080"/>
            <a:ext cx="210276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3" name="Text 7"/>
          <p:cNvSpPr/>
          <p:nvPr/>
        </p:nvSpPr>
        <p:spPr>
          <a:xfrm>
            <a:off x="6245280" y="1783080"/>
            <a:ext cx="21027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Estrato</a:t>
            </a:r>
            <a:endParaRPr lang="en-US" sz="1200" b="0" u="none" strike="noStrike">
              <a:solidFill>
                <a:srgbClr val="000000"/>
              </a:solidFill>
              <a:effectLst/>
              <a:uFillTx/>
              <a:latin typeface="Arial"/>
            </a:endParaRPr>
          </a:p>
        </p:txBody>
      </p:sp>
      <p:sp>
        <p:nvSpPr>
          <p:cNvPr id="334" name="Shape 8"/>
          <p:cNvSpPr/>
          <p:nvPr/>
        </p:nvSpPr>
        <p:spPr>
          <a:xfrm>
            <a:off x="8348400" y="1783080"/>
            <a:ext cx="159984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5" name="Text 9"/>
          <p:cNvSpPr/>
          <p:nvPr/>
        </p:nvSpPr>
        <p:spPr>
          <a:xfrm>
            <a:off x="8348400" y="1783080"/>
            <a:ext cx="15998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Sin programa</a:t>
            </a:r>
            <a:endParaRPr lang="en-US" sz="1200" b="0" u="none" strike="noStrike">
              <a:solidFill>
                <a:srgbClr val="000000"/>
              </a:solidFill>
              <a:effectLst/>
              <a:uFillTx/>
              <a:latin typeface="Arial"/>
            </a:endParaRPr>
          </a:p>
        </p:txBody>
      </p:sp>
      <p:sp>
        <p:nvSpPr>
          <p:cNvPr id="336" name="Shape 10"/>
          <p:cNvSpPr/>
          <p:nvPr/>
        </p:nvSpPr>
        <p:spPr>
          <a:xfrm>
            <a:off x="9948600" y="1783080"/>
            <a:ext cx="1691280" cy="40212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7" name="Text 11"/>
          <p:cNvSpPr/>
          <p:nvPr/>
        </p:nvSpPr>
        <p:spPr>
          <a:xfrm>
            <a:off x="9948600" y="1783080"/>
            <a:ext cx="16912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Con programa</a:t>
            </a:r>
            <a:endParaRPr lang="en-US" sz="1200" b="0" u="none" strike="noStrike">
              <a:solidFill>
                <a:srgbClr val="000000"/>
              </a:solidFill>
              <a:effectLst/>
              <a:uFillTx/>
              <a:latin typeface="Arial"/>
            </a:endParaRPr>
          </a:p>
        </p:txBody>
      </p:sp>
      <p:sp>
        <p:nvSpPr>
          <p:cNvPr id="338" name="Shape 12"/>
          <p:cNvSpPr/>
          <p:nvPr/>
        </p:nvSpPr>
        <p:spPr>
          <a:xfrm>
            <a:off x="6245280" y="2185560"/>
            <a:ext cx="210276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9" name="Text 13"/>
          <p:cNvSpPr/>
          <p:nvPr/>
        </p:nvSpPr>
        <p:spPr>
          <a:xfrm>
            <a:off x="6291000" y="2185560"/>
            <a:ext cx="2011320" cy="40212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Alta</a:t>
            </a:r>
            <a:endParaRPr lang="en-US" sz="1250" b="0" u="none" strike="noStrike">
              <a:solidFill>
                <a:srgbClr val="000000"/>
              </a:solidFill>
              <a:effectLst/>
              <a:uFillTx/>
              <a:latin typeface="Arial"/>
            </a:endParaRPr>
          </a:p>
        </p:txBody>
      </p:sp>
      <p:sp>
        <p:nvSpPr>
          <p:cNvPr id="340" name="Shape 14"/>
          <p:cNvSpPr/>
          <p:nvPr/>
        </p:nvSpPr>
        <p:spPr>
          <a:xfrm>
            <a:off x="8348400" y="2185560"/>
            <a:ext cx="159984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1" name="Text 15"/>
          <p:cNvSpPr/>
          <p:nvPr/>
        </p:nvSpPr>
        <p:spPr>
          <a:xfrm>
            <a:off x="8394120" y="2185560"/>
            <a:ext cx="15084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42.2</a:t>
            </a:r>
            <a:endParaRPr lang="en-US" sz="1250" b="0" u="none" strike="noStrike">
              <a:solidFill>
                <a:srgbClr val="000000"/>
              </a:solidFill>
              <a:effectLst/>
              <a:uFillTx/>
              <a:latin typeface="Arial"/>
            </a:endParaRPr>
          </a:p>
        </p:txBody>
      </p:sp>
      <p:sp>
        <p:nvSpPr>
          <p:cNvPr id="342" name="Shape 16"/>
          <p:cNvSpPr/>
          <p:nvPr/>
        </p:nvSpPr>
        <p:spPr>
          <a:xfrm>
            <a:off x="9948600" y="2185560"/>
            <a:ext cx="169128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3" name="Text 17"/>
          <p:cNvSpPr/>
          <p:nvPr/>
        </p:nvSpPr>
        <p:spPr>
          <a:xfrm>
            <a:off x="9994320" y="2185560"/>
            <a:ext cx="15998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53.2</a:t>
            </a:r>
            <a:endParaRPr lang="en-US" sz="1250" b="0" u="none" strike="noStrike">
              <a:solidFill>
                <a:srgbClr val="000000"/>
              </a:solidFill>
              <a:effectLst/>
              <a:uFillTx/>
              <a:latin typeface="Arial"/>
            </a:endParaRPr>
          </a:p>
        </p:txBody>
      </p:sp>
      <p:sp>
        <p:nvSpPr>
          <p:cNvPr id="344" name="Shape 18"/>
          <p:cNvSpPr/>
          <p:nvPr/>
        </p:nvSpPr>
        <p:spPr>
          <a:xfrm>
            <a:off x="6245280" y="2587680"/>
            <a:ext cx="210276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5" name="Text 19"/>
          <p:cNvSpPr/>
          <p:nvPr/>
        </p:nvSpPr>
        <p:spPr>
          <a:xfrm>
            <a:off x="6291000" y="2587680"/>
            <a:ext cx="2011320" cy="40212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Media</a:t>
            </a:r>
            <a:endParaRPr lang="en-US" sz="1250" b="0" u="none" strike="noStrike">
              <a:solidFill>
                <a:srgbClr val="000000"/>
              </a:solidFill>
              <a:effectLst/>
              <a:uFillTx/>
              <a:latin typeface="Arial"/>
            </a:endParaRPr>
          </a:p>
        </p:txBody>
      </p:sp>
      <p:sp>
        <p:nvSpPr>
          <p:cNvPr id="346" name="Shape 20"/>
          <p:cNvSpPr/>
          <p:nvPr/>
        </p:nvSpPr>
        <p:spPr>
          <a:xfrm>
            <a:off x="8348400" y="2587680"/>
            <a:ext cx="159984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7" name="Text 21"/>
          <p:cNvSpPr/>
          <p:nvPr/>
        </p:nvSpPr>
        <p:spPr>
          <a:xfrm>
            <a:off x="8394120" y="2587680"/>
            <a:ext cx="15084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58.5</a:t>
            </a:r>
            <a:endParaRPr lang="en-US" sz="1250" b="0" u="none" strike="noStrike">
              <a:solidFill>
                <a:srgbClr val="000000"/>
              </a:solidFill>
              <a:effectLst/>
              <a:uFillTx/>
              <a:latin typeface="Arial"/>
            </a:endParaRPr>
          </a:p>
        </p:txBody>
      </p:sp>
      <p:sp>
        <p:nvSpPr>
          <p:cNvPr id="348" name="Shape 22"/>
          <p:cNvSpPr/>
          <p:nvPr/>
        </p:nvSpPr>
        <p:spPr>
          <a:xfrm>
            <a:off x="9948600" y="2587680"/>
            <a:ext cx="1691280" cy="40212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Text 23"/>
          <p:cNvSpPr/>
          <p:nvPr/>
        </p:nvSpPr>
        <p:spPr>
          <a:xfrm>
            <a:off x="9994320" y="2587680"/>
            <a:ext cx="15998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69.5</a:t>
            </a:r>
            <a:endParaRPr lang="en-US" sz="1250" b="0" u="none" strike="noStrike">
              <a:solidFill>
                <a:srgbClr val="000000"/>
              </a:solidFill>
              <a:effectLst/>
              <a:uFillTx/>
              <a:latin typeface="Arial"/>
            </a:endParaRPr>
          </a:p>
        </p:txBody>
      </p:sp>
      <p:sp>
        <p:nvSpPr>
          <p:cNvPr id="350" name="Shape 24"/>
          <p:cNvSpPr/>
          <p:nvPr/>
        </p:nvSpPr>
        <p:spPr>
          <a:xfrm>
            <a:off x="6245280" y="2990160"/>
            <a:ext cx="210276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1" name="Text 25"/>
          <p:cNvSpPr/>
          <p:nvPr/>
        </p:nvSpPr>
        <p:spPr>
          <a:xfrm>
            <a:off x="6291000" y="2990160"/>
            <a:ext cx="2011320" cy="40212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Baja</a:t>
            </a:r>
            <a:endParaRPr lang="en-US" sz="1250" b="0" u="none" strike="noStrike">
              <a:solidFill>
                <a:srgbClr val="000000"/>
              </a:solidFill>
              <a:effectLst/>
              <a:uFillTx/>
              <a:latin typeface="Arial"/>
            </a:endParaRPr>
          </a:p>
        </p:txBody>
      </p:sp>
      <p:sp>
        <p:nvSpPr>
          <p:cNvPr id="352" name="Shape 26"/>
          <p:cNvSpPr/>
          <p:nvPr/>
        </p:nvSpPr>
        <p:spPr>
          <a:xfrm>
            <a:off x="8348400" y="2990160"/>
            <a:ext cx="159984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3" name="Text 27"/>
          <p:cNvSpPr/>
          <p:nvPr/>
        </p:nvSpPr>
        <p:spPr>
          <a:xfrm>
            <a:off x="8394120" y="2990160"/>
            <a:ext cx="15084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76.8</a:t>
            </a:r>
            <a:endParaRPr lang="en-US" sz="1250" b="0" u="none" strike="noStrike">
              <a:solidFill>
                <a:srgbClr val="000000"/>
              </a:solidFill>
              <a:effectLst/>
              <a:uFillTx/>
              <a:latin typeface="Arial"/>
            </a:endParaRPr>
          </a:p>
        </p:txBody>
      </p:sp>
      <p:sp>
        <p:nvSpPr>
          <p:cNvPr id="354" name="Shape 28"/>
          <p:cNvSpPr/>
          <p:nvPr/>
        </p:nvSpPr>
        <p:spPr>
          <a:xfrm>
            <a:off x="9948600" y="2990160"/>
            <a:ext cx="1691280" cy="40212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5" name="Text 29"/>
          <p:cNvSpPr/>
          <p:nvPr/>
        </p:nvSpPr>
        <p:spPr>
          <a:xfrm>
            <a:off x="9994320" y="2990160"/>
            <a:ext cx="15998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88.4</a:t>
            </a:r>
            <a:endParaRPr lang="en-US" sz="1250" b="0" u="none" strike="noStrike">
              <a:solidFill>
                <a:srgbClr val="000000"/>
              </a:solidFill>
              <a:effectLst/>
              <a:uFillTx/>
              <a:latin typeface="Arial"/>
            </a:endParaRPr>
          </a:p>
        </p:txBody>
      </p:sp>
      <p:sp>
        <p:nvSpPr>
          <p:cNvPr id="356" name="Text 30"/>
          <p:cNvSpPr/>
          <p:nvPr/>
        </p:nvSpPr>
        <p:spPr>
          <a:xfrm>
            <a:off x="6245280" y="3438000"/>
            <a:ext cx="5394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2E6E49"/>
                </a:solidFill>
                <a:effectLst/>
                <a:uFillTx/>
                <a:latin typeface="Calibri"/>
                <a:ea typeface="Calibri"/>
              </a:rPr>
              <a:t>+11 en TODOS los estratos</a:t>
            </a:r>
            <a:endParaRPr lang="en-US" sz="1300" b="0" u="none" strike="noStrike">
              <a:solidFill>
                <a:srgbClr val="000000"/>
              </a:solidFill>
              <a:effectLst/>
              <a:uFillTx/>
              <a:latin typeface="Arial"/>
            </a:endParaRPr>
          </a:p>
        </p:txBody>
      </p:sp>
      <p:sp>
        <p:nvSpPr>
          <p:cNvPr id="357" name="Shape 31"/>
          <p:cNvSpPr/>
          <p:nvPr/>
        </p:nvSpPr>
        <p:spPr>
          <a:xfrm>
            <a:off x="548640" y="3977640"/>
            <a:ext cx="11091240" cy="1737000"/>
          </a:xfrm>
          <a:prstGeom prst="roundRect">
            <a:avLst>
              <a:gd name="adj" fmla="val 3158"/>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8" name="Text 32"/>
          <p:cNvSpPr/>
          <p:nvPr/>
        </p:nvSpPr>
        <p:spPr>
          <a:xfrm>
            <a:off x="868680" y="4142160"/>
            <a:ext cx="1045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E58A5B"/>
                </a:solidFill>
                <a:effectLst/>
                <a:uFillTx/>
                <a:latin typeface="Calibri"/>
                <a:ea typeface="Calibri"/>
              </a:rPr>
              <a:t>Por qué se invierte</a:t>
            </a:r>
            <a:endParaRPr lang="en-US" sz="1500" b="0" u="none" strike="noStrike">
              <a:solidFill>
                <a:srgbClr val="000000"/>
              </a:solidFill>
              <a:effectLst/>
              <a:uFillTx/>
              <a:latin typeface="Arial"/>
            </a:endParaRPr>
          </a:p>
        </p:txBody>
      </p:sp>
      <p:sp>
        <p:nvSpPr>
          <p:cNvPr id="359" name="Text 33"/>
          <p:cNvSpPr/>
          <p:nvPr/>
        </p:nvSpPr>
        <p:spPr>
          <a:xfrm>
            <a:off x="868680" y="4526280"/>
            <a:ext cx="104511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1" u="none" strike="noStrike">
                <a:solidFill>
                  <a:srgbClr val="FFFFFF"/>
                </a:solidFill>
                <a:effectLst/>
                <a:uFillTx/>
                <a:latin typeface="Calibri"/>
                <a:ea typeface="Calibri"/>
              </a:rPr>
              <a:t>El programa se concentró en Alta marginación: 165 de 232 tratados están ahí, el estrato de menor base. </a:t>
            </a:r>
            <a:r>
              <a:rPr lang="en-US" sz="1250" b="0" u="none" strike="noStrike">
                <a:solidFill>
                  <a:srgbClr val="E4EAF0"/>
                </a:solidFill>
                <a:effectLst/>
                <a:uFillTx/>
                <a:latin typeface="Calibri"/>
                <a:ea typeface="Calibri"/>
              </a:rPr>
              <a:t>Ese peso arrastra el promedio de los tratados hacia abajo, aunque dentro de cada estrato el programa suma 11 puntos parejos. El agregado mezcla el efecto del programa con la diferencia de base entre estratos.</a:t>
            </a:r>
            <a:endParaRPr lang="en-US" sz="1250" b="0" u="none" strike="noStrike">
              <a:solidFill>
                <a:srgbClr val="000000"/>
              </a:solidFill>
              <a:effectLst/>
              <a:uFillTx/>
              <a:latin typeface="Arial"/>
            </a:endParaRPr>
          </a:p>
        </p:txBody>
      </p:sp>
      <p:sp>
        <p:nvSpPr>
          <p:cNvPr id="360" name="Text 34"/>
          <p:cNvSpPr/>
          <p:nvPr/>
        </p:nvSpPr>
        <p:spPr>
          <a:xfrm>
            <a:off x="548640" y="6419160"/>
            <a:ext cx="110912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60707E"/>
                </a:solidFill>
                <a:effectLst/>
                <a:uFillTx/>
                <a:latin typeface="Calibri"/>
                <a:ea typeface="Calibri"/>
              </a:rPr>
              <a:t>Salida real de DeepSeek-V3.2 (sept. 2026): usó el diseño muestral correctamente y aun así concluyó «score significativamente menor» (p = 0.004). El efecto real por estrato: +11. Correr no es estar bien.</a:t>
            </a:r>
            <a:endParaRPr lang="en-US" sz="9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1"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El mismo análisis, tres errores</a:t>
            </a:r>
            <a:endParaRPr lang="en-US" sz="2900" b="0" u="none" strike="noStrike">
              <a:solidFill>
                <a:srgbClr val="000000"/>
              </a:solidFill>
              <a:effectLst/>
              <a:uFillTx/>
              <a:latin typeface="Arial"/>
            </a:endParaRPr>
          </a:p>
        </p:txBody>
      </p:sp>
      <p:sp>
        <p:nvSpPr>
          <p:cNvPr id="362"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El análisis ingenuo, lm(score ~ programa), corre. Y está mal por tres razones a la vez. Un asistente moderno arregla las dos primeras solo; la tercera necesita su contexto.</a:t>
            </a:r>
            <a:endParaRPr lang="en-US" sz="1400" b="0" u="none" strike="noStrike">
              <a:solidFill>
                <a:srgbClr val="000000"/>
              </a:solidFill>
              <a:effectLst/>
              <a:uFillTx/>
              <a:latin typeface="Arial"/>
            </a:endParaRPr>
          </a:p>
        </p:txBody>
      </p:sp>
      <p:sp>
        <p:nvSpPr>
          <p:cNvPr id="363" name="Shape 2"/>
          <p:cNvSpPr/>
          <p:nvPr/>
        </p:nvSpPr>
        <p:spPr>
          <a:xfrm>
            <a:off x="548640" y="1874520"/>
            <a:ext cx="3017160" cy="56664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4" name="Text 3"/>
          <p:cNvSpPr/>
          <p:nvPr/>
        </p:nvSpPr>
        <p:spPr>
          <a:xfrm>
            <a:off x="548640" y="1874520"/>
            <a:ext cx="30171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El error</a:t>
            </a:r>
            <a:endParaRPr lang="en-US" sz="1200" b="0" u="none" strike="noStrike">
              <a:solidFill>
                <a:srgbClr val="000000"/>
              </a:solidFill>
              <a:effectLst/>
              <a:uFillTx/>
              <a:latin typeface="Arial"/>
            </a:endParaRPr>
          </a:p>
        </p:txBody>
      </p:sp>
      <p:sp>
        <p:nvSpPr>
          <p:cNvPr id="365" name="Shape 4"/>
          <p:cNvSpPr/>
          <p:nvPr/>
        </p:nvSpPr>
        <p:spPr>
          <a:xfrm>
            <a:off x="3566160" y="1874520"/>
            <a:ext cx="3657240" cy="56664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6" name="Text 5"/>
          <p:cNvSpPr/>
          <p:nvPr/>
        </p:nvSpPr>
        <p:spPr>
          <a:xfrm>
            <a:off x="3566160" y="1874520"/>
            <a:ext cx="3657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Lo que da el default</a:t>
            </a:r>
            <a:endParaRPr lang="en-US" sz="1200" b="0" u="none" strike="noStrike">
              <a:solidFill>
                <a:srgbClr val="000000"/>
              </a:solidFill>
              <a:effectLst/>
              <a:uFillTx/>
              <a:latin typeface="Arial"/>
            </a:endParaRPr>
          </a:p>
        </p:txBody>
      </p:sp>
      <p:sp>
        <p:nvSpPr>
          <p:cNvPr id="367" name="Shape 6"/>
          <p:cNvSpPr/>
          <p:nvPr/>
        </p:nvSpPr>
        <p:spPr>
          <a:xfrm>
            <a:off x="7223760" y="1874520"/>
            <a:ext cx="4416120" cy="566640"/>
          </a:xfrm>
          <a:prstGeom prst="rect">
            <a:avLst/>
          </a:prstGeom>
          <a:solidFill>
            <a:srgbClr val="15293B"/>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8" name="Text 7"/>
          <p:cNvSpPr/>
          <p:nvPr/>
        </p:nvSpPr>
        <p:spPr>
          <a:xfrm>
            <a:off x="7223760" y="1874520"/>
            <a:ext cx="44161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La corrección</a:t>
            </a:r>
            <a:endParaRPr lang="en-US" sz="1200" b="0" u="none" strike="noStrike">
              <a:solidFill>
                <a:srgbClr val="000000"/>
              </a:solidFill>
              <a:effectLst/>
              <a:uFillTx/>
              <a:latin typeface="Arial"/>
            </a:endParaRPr>
          </a:p>
        </p:txBody>
      </p:sp>
      <p:sp>
        <p:nvSpPr>
          <p:cNvPr id="369" name="Shape 8"/>
          <p:cNvSpPr/>
          <p:nvPr/>
        </p:nvSpPr>
        <p:spPr>
          <a:xfrm>
            <a:off x="548640" y="2441520"/>
            <a:ext cx="3017160" cy="56664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0" name="Text 9"/>
          <p:cNvSpPr/>
          <p:nvPr/>
        </p:nvSpPr>
        <p:spPr>
          <a:xfrm>
            <a:off x="594360" y="2441520"/>
            <a:ext cx="2925720" cy="56664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Signo (agregación)</a:t>
            </a:r>
            <a:endParaRPr lang="en-US" sz="1250" b="0" u="none" strike="noStrike">
              <a:solidFill>
                <a:srgbClr val="000000"/>
              </a:solidFill>
              <a:effectLst/>
              <a:uFillTx/>
              <a:latin typeface="Arial"/>
            </a:endParaRPr>
          </a:p>
        </p:txBody>
      </p:sp>
      <p:sp>
        <p:nvSpPr>
          <p:cNvPr id="371" name="Shape 10"/>
          <p:cNvSpPr/>
          <p:nvPr/>
        </p:nvSpPr>
        <p:spPr>
          <a:xfrm>
            <a:off x="3566160" y="2441520"/>
            <a:ext cx="3657240" cy="56664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2" name="Text 11"/>
          <p:cNvSpPr/>
          <p:nvPr/>
        </p:nvSpPr>
        <p:spPr>
          <a:xfrm>
            <a:off x="3611880" y="2441520"/>
            <a:ext cx="35658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efecto −4.5: el programa daña</a:t>
            </a:r>
            <a:endParaRPr lang="en-US" sz="1250" b="0" u="none" strike="noStrike">
              <a:solidFill>
                <a:srgbClr val="000000"/>
              </a:solidFill>
              <a:effectLst/>
              <a:uFillTx/>
              <a:latin typeface="Arial"/>
            </a:endParaRPr>
          </a:p>
        </p:txBody>
      </p:sp>
      <p:sp>
        <p:nvSpPr>
          <p:cNvPr id="373" name="Shape 12"/>
          <p:cNvSpPr/>
          <p:nvPr/>
        </p:nvSpPr>
        <p:spPr>
          <a:xfrm>
            <a:off x="7223760" y="2441520"/>
            <a:ext cx="4416120" cy="56664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13"/>
          <p:cNvSpPr/>
          <p:nvPr/>
        </p:nvSpPr>
        <p:spPr>
          <a:xfrm>
            <a:off x="7269480" y="2441520"/>
            <a:ext cx="43246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estratificar: +11 por estrato, ayuda</a:t>
            </a:r>
            <a:endParaRPr lang="en-US" sz="1250" b="0" u="none" strike="noStrike">
              <a:solidFill>
                <a:srgbClr val="000000"/>
              </a:solidFill>
              <a:effectLst/>
              <a:uFillTx/>
              <a:latin typeface="Arial"/>
            </a:endParaRPr>
          </a:p>
        </p:txBody>
      </p:sp>
      <p:sp>
        <p:nvSpPr>
          <p:cNvPr id="375" name="Shape 14"/>
          <p:cNvSpPr/>
          <p:nvPr/>
        </p:nvSpPr>
        <p:spPr>
          <a:xfrm>
            <a:off x="548640" y="3008520"/>
            <a:ext cx="3017160" cy="56664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6" name="Text 15"/>
          <p:cNvSpPr/>
          <p:nvPr/>
        </p:nvSpPr>
        <p:spPr>
          <a:xfrm>
            <a:off x="594360" y="3008520"/>
            <a:ext cx="2925720" cy="56664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Precisión (inferencia)</a:t>
            </a:r>
            <a:endParaRPr lang="en-US" sz="1250" b="0" u="none" strike="noStrike">
              <a:solidFill>
                <a:srgbClr val="000000"/>
              </a:solidFill>
              <a:effectLst/>
              <a:uFillTx/>
              <a:latin typeface="Arial"/>
            </a:endParaRPr>
          </a:p>
        </p:txBody>
      </p:sp>
      <p:sp>
        <p:nvSpPr>
          <p:cNvPr id="377" name="Shape 16"/>
          <p:cNvSpPr/>
          <p:nvPr/>
        </p:nvSpPr>
        <p:spPr>
          <a:xfrm>
            <a:off x="3566160" y="3008520"/>
            <a:ext cx="3657240" cy="56664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8" name="Text 17"/>
          <p:cNvSpPr/>
          <p:nvPr/>
        </p:nvSpPr>
        <p:spPr>
          <a:xfrm>
            <a:off x="3611880" y="3008520"/>
            <a:ext cx="35658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EE 1.46, p = 0.002: firme</a:t>
            </a:r>
            <a:endParaRPr lang="en-US" sz="1250" b="0" u="none" strike="noStrike">
              <a:solidFill>
                <a:srgbClr val="000000"/>
              </a:solidFill>
              <a:effectLst/>
              <a:uFillTx/>
              <a:latin typeface="Arial"/>
            </a:endParaRPr>
          </a:p>
        </p:txBody>
      </p:sp>
      <p:sp>
        <p:nvSpPr>
          <p:cNvPr id="379" name="Shape 18"/>
          <p:cNvSpPr/>
          <p:nvPr/>
        </p:nvSpPr>
        <p:spPr>
          <a:xfrm>
            <a:off x="7223760" y="3008520"/>
            <a:ext cx="4416120" cy="566640"/>
          </a:xfrm>
          <a:prstGeom prst="rect">
            <a:avLst/>
          </a:prstGeom>
          <a:solidFill>
            <a:srgbClr val="FFFFFF"/>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0" name="Text 19"/>
          <p:cNvSpPr/>
          <p:nvPr/>
        </p:nvSpPr>
        <p:spPr>
          <a:xfrm>
            <a:off x="7269480" y="3008520"/>
            <a:ext cx="43246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conglomerar: EE 2.19, p = 0.049, al filo</a:t>
            </a:r>
            <a:endParaRPr lang="en-US" sz="1250" b="0" u="none" strike="noStrike">
              <a:solidFill>
                <a:srgbClr val="000000"/>
              </a:solidFill>
              <a:effectLst/>
              <a:uFillTx/>
              <a:latin typeface="Arial"/>
            </a:endParaRPr>
          </a:p>
        </p:txBody>
      </p:sp>
      <p:sp>
        <p:nvSpPr>
          <p:cNvPr id="381" name="Shape 20"/>
          <p:cNvSpPr/>
          <p:nvPr/>
        </p:nvSpPr>
        <p:spPr>
          <a:xfrm>
            <a:off x="548640" y="3575160"/>
            <a:ext cx="3017160" cy="56664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2" name="Text 21"/>
          <p:cNvSpPr/>
          <p:nvPr/>
        </p:nvSpPr>
        <p:spPr>
          <a:xfrm>
            <a:off x="594360" y="3575160"/>
            <a:ext cx="2925720" cy="566640"/>
          </a:xfrm>
          <a:prstGeom prst="rect">
            <a:avLst/>
          </a:prstGeom>
          <a:noFill/>
          <a:ln w="0">
            <a:noFill/>
          </a:ln>
        </p:spPr>
        <p:style>
          <a:lnRef idx="0">
            <a:scrgbClr r="0" g="0" b="0"/>
          </a:lnRef>
          <a:fillRef idx="0">
            <a:scrgbClr r="0" g="0" b="0"/>
          </a:fillRef>
          <a:effectRef idx="0">
            <a:scrgbClr r="0" g="0" b="0"/>
          </a:effectRef>
          <a:fontRef idx="minor"/>
        </p:style>
        <p:txBody>
          <a:bodyPr lIns="76320" tIns="76320" rIns="76320" bIns="76320" anchor="ctr">
            <a:noAutofit/>
          </a:bodyPr>
          <a:lstStyle/>
          <a:p>
            <a:pPr defTabSz="914400">
              <a:lnSpc>
                <a:spcPct val="100000"/>
              </a:lnSpc>
              <a:tabLst>
                <a:tab pos="0" algn="l"/>
              </a:tabLst>
            </a:pPr>
            <a:r>
              <a:rPr lang="en-US" sz="1250" b="0" u="none" strike="noStrike">
                <a:solidFill>
                  <a:srgbClr val="1E2A35"/>
                </a:solidFill>
                <a:effectLst/>
                <a:uFillTx/>
                <a:latin typeface="Calibri"/>
                <a:ea typeface="Calibri"/>
              </a:rPr>
              <a:t>Escala (diseño)</a:t>
            </a:r>
            <a:endParaRPr lang="en-US" sz="1250" b="0" u="none" strike="noStrike">
              <a:solidFill>
                <a:srgbClr val="000000"/>
              </a:solidFill>
              <a:effectLst/>
              <a:uFillTx/>
              <a:latin typeface="Arial"/>
            </a:endParaRPr>
          </a:p>
        </p:txBody>
      </p:sp>
      <p:sp>
        <p:nvSpPr>
          <p:cNvPr id="383" name="Shape 22"/>
          <p:cNvSpPr/>
          <p:nvPr/>
        </p:nvSpPr>
        <p:spPr>
          <a:xfrm>
            <a:off x="3566160" y="3575160"/>
            <a:ext cx="3657240" cy="56664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4" name="Text 23"/>
          <p:cNvSpPr/>
          <p:nvPr/>
        </p:nvSpPr>
        <p:spPr>
          <a:xfrm>
            <a:off x="3611880" y="3575160"/>
            <a:ext cx="35658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si fuera media, sin ponderar</a:t>
            </a:r>
            <a:endParaRPr lang="en-US" sz="1250" b="0" u="none" strike="noStrike">
              <a:solidFill>
                <a:srgbClr val="000000"/>
              </a:solidFill>
              <a:effectLst/>
              <a:uFillTx/>
              <a:latin typeface="Arial"/>
            </a:endParaRPr>
          </a:p>
        </p:txBody>
      </p:sp>
      <p:sp>
        <p:nvSpPr>
          <p:cNvPr id="385" name="Shape 24"/>
          <p:cNvSpPr/>
          <p:nvPr/>
        </p:nvSpPr>
        <p:spPr>
          <a:xfrm>
            <a:off x="7223760" y="3575160"/>
            <a:ext cx="4416120" cy="566640"/>
          </a:xfrm>
          <a:prstGeom prst="rect">
            <a:avLst/>
          </a:prstGeom>
          <a:solidFill>
            <a:srgbClr val="EEF2F5"/>
          </a:solidFill>
          <a:ln w="6350">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6" name="Text 25"/>
          <p:cNvSpPr/>
          <p:nvPr/>
        </p:nvSpPr>
        <p:spPr>
          <a:xfrm>
            <a:off x="7269480" y="3575160"/>
            <a:ext cx="43246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1E2A35"/>
                </a:solidFill>
                <a:effectLst/>
                <a:uFillTx/>
                <a:latin typeface="Cambria"/>
                <a:ea typeface="Cambria"/>
              </a:rPr>
              <a:t>ponderar: usar los factores de expansión</a:t>
            </a:r>
            <a:endParaRPr lang="en-US" sz="1250" b="0" u="none" strike="noStrike">
              <a:solidFill>
                <a:srgbClr val="000000"/>
              </a:solidFill>
              <a:effectLst/>
              <a:uFillTx/>
              <a:latin typeface="Arial"/>
            </a:endParaRPr>
          </a:p>
        </p:txBody>
      </p:sp>
      <p:sp>
        <p:nvSpPr>
          <p:cNvPr id="387" name="Shape 26"/>
          <p:cNvSpPr/>
          <p:nvPr/>
        </p:nvSpPr>
        <p:spPr>
          <a:xfrm>
            <a:off x="548640" y="4251960"/>
            <a:ext cx="11091240" cy="1462680"/>
          </a:xfrm>
          <a:prstGeom prst="roundRect">
            <a:avLst>
              <a:gd name="adj" fmla="val 3750"/>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8" name="Text 27"/>
          <p:cNvSpPr/>
          <p:nvPr/>
        </p:nvSpPr>
        <p:spPr>
          <a:xfrm>
            <a:off x="868680" y="4416480"/>
            <a:ext cx="1045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E58A5B"/>
                </a:solidFill>
                <a:effectLst/>
                <a:uFillTx/>
                <a:latin typeface="Calibri"/>
                <a:ea typeface="Calibri"/>
              </a:rPr>
              <a:t>El estimador disciplinado: pondera, estratifica, conglomera</a:t>
            </a:r>
            <a:endParaRPr lang="en-US" sz="1600" b="0" u="none" strike="noStrike">
              <a:solidFill>
                <a:srgbClr val="000000"/>
              </a:solidFill>
              <a:effectLst/>
              <a:uFillTx/>
              <a:latin typeface="Arial"/>
            </a:endParaRPr>
          </a:p>
        </p:txBody>
      </p:sp>
      <p:sp>
        <p:nvSpPr>
          <p:cNvPr id="389" name="Text 28"/>
          <p:cNvSpPr/>
          <p:nvPr/>
        </p:nvSpPr>
        <p:spPr>
          <a:xfrm>
            <a:off x="868680" y="4800600"/>
            <a:ext cx="104511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300" b="0" u="none" strike="noStrike">
                <a:solidFill>
                  <a:srgbClr val="E4EAF0"/>
                </a:solidFill>
                <a:effectLst/>
                <a:uFillTx/>
                <a:latin typeface="Calibri"/>
                <a:ea typeface="Calibri"/>
              </a:rPr>
              <a:t>La IA escribe el código; ustedes especifican el diseño. No es que sepa menos estadística: es que aplica el default, y el default asume una muestra simple, independiente y homogénea que sus datos no son. Nombrar el diseño en el prompt es lo que separa un número que corre de uno que se defiende.</a:t>
            </a:r>
            <a:endParaRPr lang="en-US" sz="13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0"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Cómo pedirle el análisis, y qué no se le delega</a:t>
            </a:r>
            <a:endParaRPr lang="en-US" sz="2900" b="0" u="none" strike="noStrike">
              <a:solidFill>
                <a:srgbClr val="000000"/>
              </a:solidFill>
              <a:effectLst/>
              <a:uFillTx/>
              <a:latin typeface="Arial"/>
            </a:endParaRPr>
          </a:p>
        </p:txBody>
      </p:sp>
      <p:sp>
        <p:nvSpPr>
          <p:cNvPr id="391"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Un buen prompt cuantitativo nombra el diseño. El juicio estadístico se queda con ustedes.</a:t>
            </a:r>
            <a:endParaRPr lang="en-US" sz="1400" b="0" u="none" strike="noStrike">
              <a:solidFill>
                <a:srgbClr val="000000"/>
              </a:solidFill>
              <a:effectLst/>
              <a:uFillTx/>
              <a:latin typeface="Arial"/>
            </a:endParaRPr>
          </a:p>
        </p:txBody>
      </p:sp>
      <p:sp>
        <p:nvSpPr>
          <p:cNvPr id="392" name="Shape 2"/>
          <p:cNvSpPr/>
          <p:nvPr/>
        </p:nvSpPr>
        <p:spPr>
          <a:xfrm>
            <a:off x="548640" y="1920240"/>
            <a:ext cx="5394600" cy="3108600"/>
          </a:xfrm>
          <a:prstGeom prst="roundRect">
            <a:avLst>
              <a:gd name="adj" fmla="val 1765"/>
            </a:avLst>
          </a:prstGeom>
          <a:solidFill>
            <a:srgbClr val="E7F2EA"/>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3" name="Text 3"/>
          <p:cNvSpPr/>
          <p:nvPr/>
        </p:nvSpPr>
        <p:spPr>
          <a:xfrm>
            <a:off x="822960" y="212148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spc="99">
                <a:solidFill>
                  <a:srgbClr val="2E6E49"/>
                </a:solidFill>
                <a:effectLst/>
                <a:uFillTx/>
                <a:latin typeface="Calibri"/>
                <a:ea typeface="Calibri"/>
              </a:rPr>
              <a:t>UN BUEN PROMPT NOMBRA EL DISEÑO</a:t>
            </a:r>
            <a:endParaRPr lang="en-US" sz="1250" b="0" u="none" strike="noStrike">
              <a:solidFill>
                <a:srgbClr val="000000"/>
              </a:solidFill>
              <a:effectLst/>
              <a:uFillTx/>
              <a:latin typeface="Arial"/>
            </a:endParaRPr>
          </a:p>
        </p:txBody>
      </p:sp>
      <p:sp>
        <p:nvSpPr>
          <p:cNvPr id="394" name="Text 4"/>
          <p:cNvSpPr/>
          <p:nvPr/>
        </p:nvSpPr>
        <p:spPr>
          <a:xfrm>
            <a:off x="822960" y="2541960"/>
            <a:ext cx="4845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Declara los factores de expansión, los estratos y los conglomerados de la encuesta.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Pide explícitamente el error estándar correcto para el diseño, no el clásico.</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Pide el desglose por subgrupo antes de creerle al agregado.</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Pide que reporte cuántos casos se quedan fuera y por qué.</a:t>
            </a:r>
            <a:endParaRPr lang="en-US" sz="1250" b="0" u="none" strike="noStrike">
              <a:solidFill>
                <a:srgbClr val="000000"/>
              </a:solidFill>
              <a:effectLst/>
              <a:uFillTx/>
              <a:latin typeface="Arial"/>
            </a:endParaRPr>
          </a:p>
        </p:txBody>
      </p:sp>
      <p:sp>
        <p:nvSpPr>
          <p:cNvPr id="395" name="Shape 5"/>
          <p:cNvSpPr/>
          <p:nvPr/>
        </p:nvSpPr>
        <p:spPr>
          <a:xfrm>
            <a:off x="6245280" y="1920240"/>
            <a:ext cx="5394600" cy="3108600"/>
          </a:xfrm>
          <a:prstGeom prst="roundRect">
            <a:avLst>
              <a:gd name="adj" fmla="val 1765"/>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6" name="Text 6"/>
          <p:cNvSpPr/>
          <p:nvPr/>
        </p:nvSpPr>
        <p:spPr>
          <a:xfrm>
            <a:off x="6519600" y="212148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spc="99">
                <a:solidFill>
                  <a:srgbClr val="CB5E2E"/>
                </a:solidFill>
                <a:effectLst/>
                <a:uFillTx/>
                <a:latin typeface="Calibri"/>
                <a:ea typeface="Calibri"/>
              </a:rPr>
              <a:t>LO QUE NO SE DELEGA</a:t>
            </a:r>
            <a:endParaRPr lang="en-US" sz="1250" b="0" u="none" strike="noStrike">
              <a:solidFill>
                <a:srgbClr val="000000"/>
              </a:solidFill>
              <a:effectLst/>
              <a:uFillTx/>
              <a:latin typeface="Arial"/>
            </a:endParaRPr>
          </a:p>
        </p:txBody>
      </p:sp>
      <p:sp>
        <p:nvSpPr>
          <p:cNvPr id="397" name="Text 7"/>
          <p:cNvSpPr/>
          <p:nvPr/>
        </p:nvSpPr>
        <p:spPr>
          <a:xfrm>
            <a:off x="6519600" y="2541960"/>
            <a:ext cx="4845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Decidir el diseño del estimador: eso nace de cómo se levantó la encuesta.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Juzgar si dos grupos son comparables, o qué confusor falta.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Decidir si el signo y la magnitud tienen sentido para la política.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Firmar el número: la responsabilidad del resultado es humana.</a:t>
            </a:r>
            <a:endParaRPr lang="en-US" sz="1250" b="0" u="none" strike="noStrike">
              <a:solidFill>
                <a:srgbClr val="000000"/>
              </a:solidFill>
              <a:effectLst/>
              <a:uFillTx/>
              <a:latin typeface="Arial"/>
            </a:endParaRPr>
          </a:p>
        </p:txBody>
      </p:sp>
      <p:sp>
        <p:nvSpPr>
          <p:cNvPr id="398" name="Shape 8"/>
          <p:cNvSpPr/>
          <p:nvPr/>
        </p:nvSpPr>
        <p:spPr>
          <a:xfrm>
            <a:off x="548640" y="6053400"/>
            <a:ext cx="11091240" cy="603000"/>
          </a:xfrm>
          <a:prstGeom prst="rect">
            <a:avLst/>
          </a:prstGeom>
          <a:solidFill>
            <a:srgbClr val="FBEEE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9" name="Shape 9"/>
          <p:cNvSpPr/>
          <p:nvPr/>
        </p:nvSpPr>
        <p:spPr>
          <a:xfrm>
            <a:off x="749880" y="6272640"/>
            <a:ext cx="164160" cy="164160"/>
          </a:xfrm>
          <a:prstGeom prst="roundRect">
            <a:avLst>
              <a:gd name="adj" fmla="val 22222"/>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0" name="Text 10"/>
          <p:cNvSpPr/>
          <p:nvPr/>
        </p:nvSpPr>
        <p:spPr>
          <a:xfrm>
            <a:off x="1051560" y="6053400"/>
            <a:ext cx="104054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8C3E19"/>
                </a:solidFill>
                <a:effectLst/>
                <a:uFillTx/>
                <a:latin typeface="Calibri"/>
                <a:ea typeface="Calibri"/>
              </a:rPr>
              <a:t>La IA es un copiloto estadístico rapidísimo para el código. El diseño, la comparabilidad y el sentido del número son suyos, y no se delegan.</a:t>
            </a:r>
            <a:endParaRPr lang="en-US" sz="125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41620C0B-B308-A714-7DD4-D2D11F8E1609}"/>
            </a:ext>
          </a:extLst>
        </p:cNvPr>
        <p:cNvGrpSpPr/>
        <p:nvPr/>
      </p:nvGrpSpPr>
      <p:grpSpPr>
        <a:xfrm>
          <a:off x="0" y="0"/>
          <a:ext cx="0" cy="0"/>
          <a:chOff x="0" y="0"/>
          <a:chExt cx="0" cy="0"/>
        </a:xfrm>
      </p:grpSpPr>
      <p:sp>
        <p:nvSpPr>
          <p:cNvPr id="401" name="Shape 0">
            <a:extLst>
              <a:ext uri="{FF2B5EF4-FFF2-40B4-BE49-F238E27FC236}">
                <a16:creationId xmlns:a16="http://schemas.microsoft.com/office/drawing/2014/main" id="{36D10F93-99C6-D4D9-678E-A2D2C0745550}"/>
              </a:ext>
            </a:extLst>
          </p:cNvPr>
          <p:cNvSpPr/>
          <p:nvPr/>
        </p:nvSpPr>
        <p:spPr>
          <a:xfrm>
            <a:off x="822960" y="2468880"/>
            <a:ext cx="1371240" cy="13712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2" name="Text 1">
            <a:extLst>
              <a:ext uri="{FF2B5EF4-FFF2-40B4-BE49-F238E27FC236}">
                <a16:creationId xmlns:a16="http://schemas.microsoft.com/office/drawing/2014/main" id="{838271A5-1DAC-5B2A-55C1-6700674E8DAF}"/>
              </a:ext>
            </a:extLst>
          </p:cNvPr>
          <p:cNvSpPr/>
          <p:nvPr/>
        </p:nvSpPr>
        <p:spPr>
          <a:xfrm>
            <a:off x="822960" y="246888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dirty="0">
                <a:solidFill>
                  <a:srgbClr val="FFFFFF"/>
                </a:solidFill>
                <a:effectLst/>
                <a:uFillTx/>
                <a:latin typeface="Cambria"/>
                <a:ea typeface="Cambria"/>
              </a:rPr>
              <a:t>4</a:t>
            </a:r>
            <a:endParaRPr lang="en-US" sz="4000" b="0" u="none" strike="noStrike" dirty="0">
              <a:solidFill>
                <a:srgbClr val="FFFFFF"/>
              </a:solidFill>
              <a:effectLst/>
              <a:uFillTx/>
              <a:latin typeface="Arial"/>
            </a:endParaRPr>
          </a:p>
        </p:txBody>
      </p:sp>
      <p:sp>
        <p:nvSpPr>
          <p:cNvPr id="404" name="Text 3">
            <a:extLst>
              <a:ext uri="{FF2B5EF4-FFF2-40B4-BE49-F238E27FC236}">
                <a16:creationId xmlns:a16="http://schemas.microsoft.com/office/drawing/2014/main" id="{F3A01C1A-22A8-B2FB-8C79-E49480A58022}"/>
              </a:ext>
            </a:extLst>
          </p:cNvPr>
          <p:cNvSpPr/>
          <p:nvPr/>
        </p:nvSpPr>
        <p:spPr>
          <a:xfrm>
            <a:off x="2514600" y="3072240"/>
            <a:ext cx="9052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dirty="0">
                <a:solidFill>
                  <a:srgbClr val="FFFFFF"/>
                </a:solidFill>
                <a:effectLst/>
                <a:uFillTx/>
                <a:latin typeface="Calibri"/>
                <a:ea typeface="Calibri"/>
              </a:rPr>
              <a:t>Intro a </a:t>
            </a:r>
            <a:r>
              <a:rPr lang="en-US" sz="2900" b="1" u="none" strike="noStrike" dirty="0" err="1">
                <a:solidFill>
                  <a:srgbClr val="FFFFFF"/>
                </a:solidFill>
                <a:effectLst/>
                <a:uFillTx/>
                <a:latin typeface="Calibri"/>
                <a:ea typeface="Calibri"/>
              </a:rPr>
              <a:t>entornos</a:t>
            </a:r>
            <a:r>
              <a:rPr lang="en-US" sz="2900" b="1" u="none" strike="noStrike" dirty="0">
                <a:solidFill>
                  <a:srgbClr val="FFFFFF"/>
                </a:solidFill>
                <a:effectLst/>
                <a:uFillTx/>
                <a:latin typeface="Calibri"/>
                <a:ea typeface="Calibri"/>
              </a:rPr>
              <a:t> </a:t>
            </a:r>
            <a:r>
              <a:rPr lang="en-US" sz="2900" b="1" u="none" strike="noStrike" dirty="0" err="1">
                <a:solidFill>
                  <a:srgbClr val="FFFFFF"/>
                </a:solidFill>
                <a:effectLst/>
                <a:uFillTx/>
                <a:latin typeface="Calibri"/>
                <a:ea typeface="Calibri"/>
              </a:rPr>
              <a:t>reproducibles</a:t>
            </a:r>
            <a:endParaRPr lang="en-US" sz="2900" b="0" u="none" strike="noStrike" dirty="0">
              <a:solidFill>
                <a:srgbClr val="FFFFFF"/>
              </a:solidFill>
              <a:effectLst/>
              <a:uFillTx/>
              <a:latin typeface="Arial"/>
            </a:endParaRPr>
          </a:p>
        </p:txBody>
      </p:sp>
    </p:spTree>
    <p:extLst>
      <p:ext uri="{BB962C8B-B14F-4D97-AF65-F5344CB8AC3E}">
        <p14:creationId xmlns:p14="http://schemas.microsoft.com/office/powerpoint/2010/main" val="3167120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F4EFC1-E302-4C55-D4FB-9F78DACB69F7}"/>
              </a:ext>
            </a:extLst>
          </p:cNvPr>
          <p:cNvPicPr>
            <a:picLocks noChangeAspect="1"/>
          </p:cNvPicPr>
          <p:nvPr/>
        </p:nvPicPr>
        <p:blipFill>
          <a:blip r:embed="rId2"/>
          <a:stretch>
            <a:fillRect/>
          </a:stretch>
        </p:blipFill>
        <p:spPr>
          <a:xfrm>
            <a:off x="320842" y="0"/>
            <a:ext cx="11550315" cy="6858000"/>
          </a:xfrm>
          <a:prstGeom prst="rect">
            <a:avLst/>
          </a:prstGeom>
        </p:spPr>
      </p:pic>
    </p:spTree>
    <p:extLst>
      <p:ext uri="{BB962C8B-B14F-4D97-AF65-F5344CB8AC3E}">
        <p14:creationId xmlns:p14="http://schemas.microsoft.com/office/powerpoint/2010/main" val="976151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5293B"/>
        </a:solidFill>
        <a:effectLst/>
      </p:bgPr>
    </p:bg>
    <p:spTree>
      <p:nvGrpSpPr>
        <p:cNvPr id="1" name=""/>
        <p:cNvGrpSpPr/>
        <p:nvPr/>
      </p:nvGrpSpPr>
      <p:grpSpPr>
        <a:xfrm>
          <a:off x="0" y="0"/>
          <a:ext cx="0" cy="0"/>
          <a:chOff x="0" y="0"/>
          <a:chExt cx="0" cy="0"/>
        </a:xfrm>
      </p:grpSpPr>
      <p:sp>
        <p:nvSpPr>
          <p:cNvPr id="401" name="Shape 0"/>
          <p:cNvSpPr/>
          <p:nvPr/>
        </p:nvSpPr>
        <p:spPr>
          <a:xfrm>
            <a:off x="822960" y="2468880"/>
            <a:ext cx="1371240" cy="13712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2" name="Text 1"/>
          <p:cNvSpPr/>
          <p:nvPr/>
        </p:nvSpPr>
        <p:spPr>
          <a:xfrm>
            <a:off x="822960" y="246888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dirty="0">
                <a:solidFill>
                  <a:srgbClr val="FFFFFF"/>
                </a:solidFill>
                <a:latin typeface="Cambria"/>
                <a:ea typeface="Cambria"/>
              </a:rPr>
              <a:t>5</a:t>
            </a:r>
            <a:endParaRPr lang="en-US" sz="4000" b="0" u="none" strike="noStrike" dirty="0">
              <a:solidFill>
                <a:srgbClr val="FFFFFF"/>
              </a:solidFill>
              <a:effectLst/>
              <a:uFillTx/>
              <a:latin typeface="Arial"/>
            </a:endParaRPr>
          </a:p>
        </p:txBody>
      </p:sp>
      <p:sp>
        <p:nvSpPr>
          <p:cNvPr id="403" name="Text 2"/>
          <p:cNvSpPr/>
          <p:nvPr/>
        </p:nvSpPr>
        <p:spPr>
          <a:xfrm>
            <a:off x="2514600" y="267012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E58A5B"/>
                </a:solidFill>
                <a:effectLst/>
                <a:uFillTx/>
                <a:latin typeface="Calibri"/>
                <a:ea typeface="Calibri"/>
              </a:rPr>
              <a:t>PRÁCTICA Y TAREA</a:t>
            </a:r>
            <a:endParaRPr lang="en-US" sz="1400" b="0" u="none" strike="noStrike">
              <a:solidFill>
                <a:srgbClr val="FFFFFF"/>
              </a:solidFill>
              <a:effectLst/>
              <a:uFillTx/>
              <a:latin typeface="Arial"/>
            </a:endParaRPr>
          </a:p>
        </p:txBody>
      </p:sp>
      <p:sp>
        <p:nvSpPr>
          <p:cNvPr id="404" name="Text 3"/>
          <p:cNvSpPr/>
          <p:nvPr/>
        </p:nvSpPr>
        <p:spPr>
          <a:xfrm>
            <a:off x="2514600" y="3072240"/>
            <a:ext cx="9052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libri"/>
                <a:ea typeface="Calibri"/>
              </a:rPr>
              <a:t>Estimar con diseño, inferir bien, cazar a Simpson</a:t>
            </a:r>
            <a:endParaRPr lang="en-US" sz="29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5"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Su turno, y de tarea</a:t>
            </a:r>
            <a:endParaRPr lang="en-US" sz="2900" b="0" u="none" strike="noStrike">
              <a:solidFill>
                <a:srgbClr val="000000"/>
              </a:solidFill>
              <a:effectLst/>
              <a:uFillTx/>
              <a:latin typeface="Arial"/>
            </a:endParaRPr>
          </a:p>
        </p:txBody>
      </p:sp>
      <p:sp>
        <p:nvSpPr>
          <p:cNvPr id="406"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Sobre datos_encuesta_sintetica.csv: un microdato con forma de encuesta, con estratos, UPM y factores de expansión.</a:t>
            </a:r>
            <a:endParaRPr lang="en-US" sz="1400" b="0" u="none" strike="noStrike">
              <a:solidFill>
                <a:srgbClr val="000000"/>
              </a:solidFill>
              <a:effectLst/>
              <a:uFillTx/>
              <a:latin typeface="Arial"/>
            </a:endParaRPr>
          </a:p>
        </p:txBody>
      </p:sp>
      <p:sp>
        <p:nvSpPr>
          <p:cNvPr id="407" name="Shape 2"/>
          <p:cNvSpPr/>
          <p:nvPr/>
        </p:nvSpPr>
        <p:spPr>
          <a:xfrm>
            <a:off x="548640" y="1783080"/>
            <a:ext cx="3501720" cy="2742840"/>
          </a:xfrm>
          <a:prstGeom prst="roundRect">
            <a:avLst>
              <a:gd name="adj" fmla="val 2000"/>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8" name="Shape 3"/>
          <p:cNvSpPr/>
          <p:nvPr/>
        </p:nvSpPr>
        <p:spPr>
          <a:xfrm>
            <a:off x="777240" y="2039040"/>
            <a:ext cx="456840" cy="4568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9" name="Text 4"/>
          <p:cNvSpPr/>
          <p:nvPr/>
        </p:nvSpPr>
        <p:spPr>
          <a:xfrm>
            <a:off x="777240" y="20390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Cambria"/>
                <a:ea typeface="Cambria"/>
              </a:rPr>
              <a:t>1</a:t>
            </a:r>
            <a:endParaRPr lang="en-US" sz="1800" b="0" u="none" strike="noStrike">
              <a:solidFill>
                <a:srgbClr val="000000"/>
              </a:solidFill>
              <a:effectLst/>
              <a:uFillTx/>
              <a:latin typeface="Arial"/>
            </a:endParaRPr>
          </a:p>
        </p:txBody>
      </p:sp>
      <p:sp>
        <p:nvSpPr>
          <p:cNvPr id="410" name="Text 5"/>
          <p:cNvSpPr/>
          <p:nvPr/>
        </p:nvSpPr>
        <p:spPr>
          <a:xfrm>
            <a:off x="1371600" y="2075760"/>
            <a:ext cx="249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60707E"/>
                </a:solidFill>
                <a:effectLst/>
                <a:uFillTx/>
                <a:latin typeface="Calibri"/>
                <a:ea typeface="Calibri"/>
              </a:rPr>
              <a:t>diseño</a:t>
            </a:r>
            <a:endParaRPr lang="en-US" sz="1150" b="0" u="none" strike="noStrike">
              <a:solidFill>
                <a:srgbClr val="000000"/>
              </a:solidFill>
              <a:effectLst/>
              <a:uFillTx/>
              <a:latin typeface="Arial"/>
            </a:endParaRPr>
          </a:p>
        </p:txBody>
      </p:sp>
      <p:sp>
        <p:nvSpPr>
          <p:cNvPr id="411" name="Text 6"/>
          <p:cNvSpPr/>
          <p:nvPr/>
        </p:nvSpPr>
        <p:spPr>
          <a:xfrm>
            <a:off x="777240" y="2624400"/>
            <a:ext cx="3044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Ponderar el ingreso</a:t>
            </a:r>
            <a:endParaRPr lang="en-US" sz="1450" b="0" u="none" strike="noStrike">
              <a:solidFill>
                <a:srgbClr val="000000"/>
              </a:solidFill>
              <a:effectLst/>
              <a:uFillTx/>
              <a:latin typeface="Arial"/>
            </a:endParaRPr>
          </a:p>
        </p:txBody>
      </p:sp>
      <p:sp>
        <p:nvSpPr>
          <p:cNvPr id="412" name="Text 7"/>
          <p:cNvSpPr/>
          <p:nvPr/>
        </p:nvSpPr>
        <p:spPr>
          <a:xfrm>
            <a:off x="777240" y="3154680"/>
            <a:ext cx="30445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u="none" strike="noStrike">
                <a:solidFill>
                  <a:srgbClr val="1E2A35"/>
                </a:solidFill>
                <a:effectLst/>
                <a:uFillTx/>
                <a:latin typeface="Calibri"/>
                <a:ea typeface="Calibri"/>
              </a:rPr>
              <a:t>Estima el ingreso medio poblacional con svydesign y svymean, y compáralo con el promedio crudo. ¿Cuánto subestima el ingenuo?</a:t>
            </a:r>
            <a:endParaRPr lang="en-US" sz="1200" b="0" u="none" strike="noStrike">
              <a:solidFill>
                <a:srgbClr val="000000"/>
              </a:solidFill>
              <a:effectLst/>
              <a:uFillTx/>
              <a:latin typeface="Arial"/>
            </a:endParaRPr>
          </a:p>
        </p:txBody>
      </p:sp>
      <p:sp>
        <p:nvSpPr>
          <p:cNvPr id="413" name="Shape 8"/>
          <p:cNvSpPr/>
          <p:nvPr/>
        </p:nvSpPr>
        <p:spPr>
          <a:xfrm>
            <a:off x="4343400" y="1783080"/>
            <a:ext cx="3501720" cy="2742840"/>
          </a:xfrm>
          <a:prstGeom prst="roundRect">
            <a:avLst>
              <a:gd name="adj" fmla="val 2000"/>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Shape 9"/>
          <p:cNvSpPr/>
          <p:nvPr/>
        </p:nvSpPr>
        <p:spPr>
          <a:xfrm>
            <a:off x="4572000" y="2039040"/>
            <a:ext cx="456840" cy="4568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5" name="Text 10"/>
          <p:cNvSpPr/>
          <p:nvPr/>
        </p:nvSpPr>
        <p:spPr>
          <a:xfrm>
            <a:off x="4572000" y="20390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Cambria"/>
                <a:ea typeface="Cambria"/>
              </a:rPr>
              <a:t>2</a:t>
            </a:r>
            <a:endParaRPr lang="en-US" sz="1800" b="0" u="none" strike="noStrike">
              <a:solidFill>
                <a:srgbClr val="000000"/>
              </a:solidFill>
              <a:effectLst/>
              <a:uFillTx/>
              <a:latin typeface="Arial"/>
            </a:endParaRPr>
          </a:p>
        </p:txBody>
      </p:sp>
      <p:sp>
        <p:nvSpPr>
          <p:cNvPr id="416" name="Text 11"/>
          <p:cNvSpPr/>
          <p:nvPr/>
        </p:nvSpPr>
        <p:spPr>
          <a:xfrm>
            <a:off x="5166360" y="2075760"/>
            <a:ext cx="249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60707E"/>
                </a:solidFill>
                <a:effectLst/>
                <a:uFillTx/>
                <a:latin typeface="Calibri"/>
                <a:ea typeface="Calibri"/>
              </a:rPr>
              <a:t>inferencia</a:t>
            </a:r>
            <a:endParaRPr lang="en-US" sz="1150" b="0" u="none" strike="noStrike">
              <a:solidFill>
                <a:srgbClr val="000000"/>
              </a:solidFill>
              <a:effectLst/>
              <a:uFillTx/>
              <a:latin typeface="Arial"/>
            </a:endParaRPr>
          </a:p>
        </p:txBody>
      </p:sp>
      <p:sp>
        <p:nvSpPr>
          <p:cNvPr id="417" name="Text 12"/>
          <p:cNvSpPr/>
          <p:nvPr/>
        </p:nvSpPr>
        <p:spPr>
          <a:xfrm>
            <a:off x="4572000" y="2624400"/>
            <a:ext cx="3044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El error correcto</a:t>
            </a:r>
            <a:endParaRPr lang="en-US" sz="1450" b="0" u="none" strike="noStrike">
              <a:solidFill>
                <a:srgbClr val="000000"/>
              </a:solidFill>
              <a:effectLst/>
              <a:uFillTx/>
              <a:latin typeface="Arial"/>
            </a:endParaRPr>
          </a:p>
        </p:txBody>
      </p:sp>
      <p:sp>
        <p:nvSpPr>
          <p:cNvPr id="418" name="Text 13"/>
          <p:cNvSpPr/>
          <p:nvPr/>
        </p:nvSpPr>
        <p:spPr>
          <a:xfrm>
            <a:off x="4572000" y="3154680"/>
            <a:ext cx="30445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u="none" strike="noStrike">
                <a:solidFill>
                  <a:srgbClr val="1E2A35"/>
                </a:solidFill>
                <a:effectLst/>
                <a:uFillTx/>
                <a:latin typeface="Calibri"/>
                <a:ea typeface="Calibri"/>
              </a:rPr>
              <a:t>Estima el efecto del programa con el error estándar por conglomerado. ¿Sigue siendo significativo al usar el EE correcto?</a:t>
            </a:r>
            <a:endParaRPr lang="en-US" sz="1200" b="0" u="none" strike="noStrike">
              <a:solidFill>
                <a:srgbClr val="000000"/>
              </a:solidFill>
              <a:effectLst/>
              <a:uFillTx/>
              <a:latin typeface="Arial"/>
            </a:endParaRPr>
          </a:p>
        </p:txBody>
      </p:sp>
      <p:sp>
        <p:nvSpPr>
          <p:cNvPr id="419" name="Shape 14"/>
          <p:cNvSpPr/>
          <p:nvPr/>
        </p:nvSpPr>
        <p:spPr>
          <a:xfrm>
            <a:off x="8138160" y="1783080"/>
            <a:ext cx="3501720" cy="2742840"/>
          </a:xfrm>
          <a:prstGeom prst="roundRect">
            <a:avLst>
              <a:gd name="adj" fmla="val 2000"/>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Shape 15"/>
          <p:cNvSpPr/>
          <p:nvPr/>
        </p:nvSpPr>
        <p:spPr>
          <a:xfrm>
            <a:off x="8366760" y="2039040"/>
            <a:ext cx="456840" cy="456840"/>
          </a:xfrm>
          <a:prstGeom prst="ellipse">
            <a:avLst/>
          </a:prstGeom>
          <a:solidFill>
            <a:srgbClr val="CB5E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1" name="Text 16"/>
          <p:cNvSpPr/>
          <p:nvPr/>
        </p:nvSpPr>
        <p:spPr>
          <a:xfrm>
            <a:off x="8366760" y="20390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Cambria"/>
                <a:ea typeface="Cambria"/>
              </a:rPr>
              <a:t>3</a:t>
            </a:r>
            <a:endParaRPr lang="en-US" sz="1800" b="0" u="none" strike="noStrike">
              <a:solidFill>
                <a:srgbClr val="000000"/>
              </a:solidFill>
              <a:effectLst/>
              <a:uFillTx/>
              <a:latin typeface="Arial"/>
            </a:endParaRPr>
          </a:p>
        </p:txBody>
      </p:sp>
      <p:sp>
        <p:nvSpPr>
          <p:cNvPr id="422" name="Text 17"/>
          <p:cNvSpPr/>
          <p:nvPr/>
        </p:nvSpPr>
        <p:spPr>
          <a:xfrm>
            <a:off x="8961120" y="2075760"/>
            <a:ext cx="249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60707E"/>
                </a:solidFill>
                <a:effectLst/>
                <a:uFillTx/>
                <a:latin typeface="Calibri"/>
                <a:ea typeface="Calibri"/>
              </a:rPr>
              <a:t>agregación</a:t>
            </a:r>
            <a:endParaRPr lang="en-US" sz="1150" b="0" u="none" strike="noStrike">
              <a:solidFill>
                <a:srgbClr val="000000"/>
              </a:solidFill>
              <a:effectLst/>
              <a:uFillTx/>
              <a:latin typeface="Arial"/>
            </a:endParaRPr>
          </a:p>
        </p:txBody>
      </p:sp>
      <p:sp>
        <p:nvSpPr>
          <p:cNvPr id="423" name="Text 18"/>
          <p:cNvSpPr/>
          <p:nvPr/>
        </p:nvSpPr>
        <p:spPr>
          <a:xfrm>
            <a:off x="8366760" y="2624400"/>
            <a:ext cx="3044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u="none" strike="noStrike">
                <a:solidFill>
                  <a:srgbClr val="1E2A35"/>
                </a:solidFill>
                <a:effectLst/>
                <a:uFillTx/>
                <a:latin typeface="Calibri"/>
                <a:ea typeface="Calibri"/>
              </a:rPr>
              <a:t>Cazar a Simpson</a:t>
            </a:r>
            <a:endParaRPr lang="en-US" sz="1450" b="0" u="none" strike="noStrike">
              <a:solidFill>
                <a:srgbClr val="000000"/>
              </a:solidFill>
              <a:effectLst/>
              <a:uFillTx/>
              <a:latin typeface="Arial"/>
            </a:endParaRPr>
          </a:p>
        </p:txBody>
      </p:sp>
      <p:sp>
        <p:nvSpPr>
          <p:cNvPr id="424" name="Text 19"/>
          <p:cNvSpPr/>
          <p:nvPr/>
        </p:nvSpPr>
        <p:spPr>
          <a:xfrm>
            <a:off x="8366760" y="3154680"/>
            <a:ext cx="30445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u="none" strike="noStrike">
                <a:solidFill>
                  <a:srgbClr val="1E2A35"/>
                </a:solidFill>
                <a:effectLst/>
                <a:uFillTx/>
                <a:latin typeface="Calibri"/>
                <a:ea typeface="Calibri"/>
              </a:rPr>
              <a:t>Compara el efecto agregado del programa contra el efecto por estrato. Muestra dónde y por qué se invierte el signo.</a:t>
            </a:r>
            <a:endParaRPr lang="en-US" sz="1200" b="0" u="none" strike="noStrike">
              <a:solidFill>
                <a:srgbClr val="000000"/>
              </a:solidFill>
              <a:effectLst/>
              <a:uFillTx/>
              <a:latin typeface="Arial"/>
            </a:endParaRPr>
          </a:p>
        </p:txBody>
      </p:sp>
      <p:sp>
        <p:nvSpPr>
          <p:cNvPr id="425" name="Shape 20"/>
          <p:cNvSpPr/>
          <p:nvPr/>
        </p:nvSpPr>
        <p:spPr>
          <a:xfrm>
            <a:off x="548640" y="4754880"/>
            <a:ext cx="11091240" cy="959760"/>
          </a:xfrm>
          <a:prstGeom prst="roundRect">
            <a:avLst>
              <a:gd name="adj" fmla="val 5714"/>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6" name="Text 21"/>
          <p:cNvSpPr/>
          <p:nvPr/>
        </p:nvSpPr>
        <p:spPr>
          <a:xfrm>
            <a:off x="868680" y="4901040"/>
            <a:ext cx="2742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99">
                <a:solidFill>
                  <a:srgbClr val="E58A5B"/>
                </a:solidFill>
                <a:effectLst/>
                <a:uFillTx/>
                <a:latin typeface="Calibri"/>
                <a:ea typeface="Calibri"/>
              </a:rPr>
              <a:t>LA REGLA DURA</a:t>
            </a:r>
            <a:endParaRPr lang="en-US" sz="1300" b="0" u="none" strike="noStrike">
              <a:solidFill>
                <a:srgbClr val="000000"/>
              </a:solidFill>
              <a:effectLst/>
              <a:uFillTx/>
              <a:latin typeface="Arial"/>
            </a:endParaRPr>
          </a:p>
        </p:txBody>
      </p:sp>
      <p:sp>
        <p:nvSpPr>
          <p:cNvPr id="427" name="Text 22"/>
          <p:cNvSpPr/>
          <p:nvPr/>
        </p:nvSpPr>
        <p:spPr>
          <a:xfrm>
            <a:off x="868680" y="5212080"/>
            <a:ext cx="104511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E4EAF0"/>
                </a:solidFill>
                <a:effectLst/>
                <a:uFillTx/>
                <a:latin typeface="Calibri"/>
                <a:ea typeface="Calibri"/>
              </a:rPr>
              <a:t>Cada número va con su justificación en el texto: por qué ponderado, por qué ese error estándar, por qué condicionar por estrato. Un estimado sin su razón no cuenta.</a:t>
            </a:r>
            <a:endParaRPr lang="en-US" sz="1300" b="0" u="none" strike="noStrike">
              <a:solidFill>
                <a:srgbClr val="000000"/>
              </a:solidFill>
              <a:effectLst/>
              <a:uFillTx/>
              <a:latin typeface="Arial"/>
            </a:endParaRPr>
          </a:p>
        </p:txBody>
      </p:sp>
      <p:sp>
        <p:nvSpPr>
          <p:cNvPr id="428" name="Text 23"/>
          <p:cNvSpPr/>
          <p:nvPr/>
        </p:nvSpPr>
        <p:spPr>
          <a:xfrm>
            <a:off x="548640" y="5989320"/>
            <a:ext cx="110912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60707E"/>
                </a:solidFill>
                <a:effectLst/>
                <a:uFillTx/>
                <a:latin typeface="Calibri"/>
                <a:ea typeface="Calibri"/>
              </a:rPr>
              <a:t>Entregable: Laboratorio_S07.Rmd tejido a HTML (R con survey y estimatr). En clase se arranca la parte 1; las tres partes, más una auditoría por escrito de la salida de la IA del demo, se terminan de tarea.</a:t>
            </a:r>
            <a:endParaRPr lang="en-US" sz="9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9"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Qué se llevan y qué entregan</a:t>
            </a:r>
            <a:endParaRPr lang="en-US" sz="2900" b="0" u="none" strike="noStrike">
              <a:solidFill>
                <a:srgbClr val="000000"/>
              </a:solidFill>
              <a:effectLst/>
              <a:uFillTx/>
              <a:latin typeface="Arial"/>
            </a:endParaRPr>
          </a:p>
        </p:txBody>
      </p:sp>
      <p:sp>
        <p:nvSpPr>
          <p:cNvPr id="430"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Cierre del bloque de asistentes estadísticos y puente a la Sesión 8.</a:t>
            </a:r>
            <a:endParaRPr lang="en-US" sz="1400" b="0" u="none" strike="noStrike">
              <a:solidFill>
                <a:srgbClr val="000000"/>
              </a:solidFill>
              <a:effectLst/>
              <a:uFillTx/>
              <a:latin typeface="Arial"/>
            </a:endParaRPr>
          </a:p>
        </p:txBody>
      </p:sp>
      <p:sp>
        <p:nvSpPr>
          <p:cNvPr id="431" name="Shape 2"/>
          <p:cNvSpPr/>
          <p:nvPr/>
        </p:nvSpPr>
        <p:spPr>
          <a:xfrm>
            <a:off x="548640" y="1874520"/>
            <a:ext cx="5394600" cy="2285640"/>
          </a:xfrm>
          <a:prstGeom prst="roundRect">
            <a:avLst>
              <a:gd name="adj" fmla="val 2400"/>
            </a:avLst>
          </a:prstGeom>
          <a:solidFill>
            <a:srgbClr val="EEF2F5"/>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2" name="Text 3"/>
          <p:cNvSpPr/>
          <p:nvPr/>
        </p:nvSpPr>
        <p:spPr>
          <a:xfrm>
            <a:off x="822960" y="2057400"/>
            <a:ext cx="484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CB5E2E"/>
                </a:solidFill>
                <a:effectLst/>
                <a:uFillTx/>
                <a:latin typeface="Calibri"/>
                <a:ea typeface="Calibri"/>
              </a:rPr>
              <a:t>Las tres ideas del día</a:t>
            </a:r>
            <a:endParaRPr lang="en-US" sz="1500" b="0" u="none" strike="noStrike">
              <a:solidFill>
                <a:srgbClr val="000000"/>
              </a:solidFill>
              <a:effectLst/>
              <a:uFillTx/>
              <a:latin typeface="Arial"/>
            </a:endParaRPr>
          </a:p>
        </p:txBody>
      </p:sp>
      <p:sp>
        <p:nvSpPr>
          <p:cNvPr id="433" name="Text 4"/>
          <p:cNvSpPr/>
          <p:nvPr/>
        </p:nvSpPr>
        <p:spPr>
          <a:xfrm>
            <a:off x="822960" y="2468880"/>
            <a:ext cx="4845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Una encuesta no se promedia cruda: se pondera con los factores de expansión.</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El error estándar ingenuo promete precisión falsa; el diseño manda la inferencia.</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El agregado puede mentir: condiciona por subgrupo antes de concluir.</a:t>
            </a:r>
            <a:endParaRPr lang="en-US" sz="1300" b="0" u="none" strike="noStrike">
              <a:solidFill>
                <a:srgbClr val="000000"/>
              </a:solidFill>
              <a:effectLst/>
              <a:uFillTx/>
              <a:latin typeface="Arial"/>
            </a:endParaRPr>
          </a:p>
        </p:txBody>
      </p:sp>
      <p:sp>
        <p:nvSpPr>
          <p:cNvPr id="434" name="Shape 5"/>
          <p:cNvSpPr/>
          <p:nvPr/>
        </p:nvSpPr>
        <p:spPr>
          <a:xfrm>
            <a:off x="6245280" y="1874520"/>
            <a:ext cx="5394600" cy="2285640"/>
          </a:xfrm>
          <a:prstGeom prst="roundRect">
            <a:avLst>
              <a:gd name="adj" fmla="val 2400"/>
            </a:avLst>
          </a:prstGeom>
          <a:solidFill>
            <a:srgbClr val="FFFFFF"/>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5" name="Text 6"/>
          <p:cNvSpPr/>
          <p:nvPr/>
        </p:nvSpPr>
        <p:spPr>
          <a:xfrm>
            <a:off x="6519600" y="2057400"/>
            <a:ext cx="484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CB5E2E"/>
                </a:solidFill>
                <a:effectLst/>
                <a:uFillTx/>
                <a:latin typeface="Calibri"/>
                <a:ea typeface="Calibri"/>
              </a:rPr>
              <a:t>El entregable</a:t>
            </a:r>
            <a:endParaRPr lang="en-US" sz="1500" b="0" u="none" strike="noStrike">
              <a:solidFill>
                <a:srgbClr val="000000"/>
              </a:solidFill>
              <a:effectLst/>
              <a:uFillTx/>
              <a:latin typeface="Arial"/>
            </a:endParaRPr>
          </a:p>
        </p:txBody>
      </p:sp>
      <p:sp>
        <p:nvSpPr>
          <p:cNvPr id="436" name="Text 7"/>
          <p:cNvSpPr/>
          <p:nvPr/>
        </p:nvSpPr>
        <p:spPr>
          <a:xfrm>
            <a:off x="6519600" y="2468880"/>
            <a:ext cx="4845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Laboratorio_S07.Rmd tejido a HTML, con las tres tareas resueltas.</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El ingreso ponderado, el efecto con el error correcto y la reversión de Simpson.</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La justificación escrita de cada decisión de diseño.</a:t>
            </a:r>
            <a:endParaRPr lang="en-US" sz="1300" b="0" u="none" strike="noStrike">
              <a:solidFill>
                <a:srgbClr val="000000"/>
              </a:solidFill>
              <a:effectLst/>
              <a:uFillTx/>
              <a:latin typeface="Arial"/>
            </a:endParaRPr>
          </a:p>
        </p:txBody>
      </p:sp>
      <p:sp>
        <p:nvSpPr>
          <p:cNvPr id="437" name="Shape 8"/>
          <p:cNvSpPr/>
          <p:nvPr/>
        </p:nvSpPr>
        <p:spPr>
          <a:xfrm>
            <a:off x="548640" y="4434840"/>
            <a:ext cx="11091240" cy="1371240"/>
          </a:xfrm>
          <a:prstGeom prst="roundRect">
            <a:avLst>
              <a:gd name="adj" fmla="val 4000"/>
            </a:avLst>
          </a:prstGeom>
          <a:solidFill>
            <a:srgbClr val="15293B"/>
          </a:solidFill>
          <a:ln w="9525">
            <a:solidFill>
              <a:srgbClr val="D5DCE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8" name="Text 9"/>
          <p:cNvSpPr/>
          <p:nvPr/>
        </p:nvSpPr>
        <p:spPr>
          <a:xfrm>
            <a:off x="868680" y="4599360"/>
            <a:ext cx="1045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E58A5B"/>
                </a:solidFill>
                <a:effectLst/>
                <a:uFillTx/>
                <a:latin typeface="Calibri"/>
                <a:ea typeface="Calibri"/>
              </a:rPr>
              <a:t>Lo que abre la Sesión 8</a:t>
            </a:r>
            <a:endParaRPr lang="en-US" sz="1600" b="0" u="none" strike="noStrike">
              <a:solidFill>
                <a:srgbClr val="000000"/>
              </a:solidFill>
              <a:effectLst/>
              <a:uFillTx/>
              <a:latin typeface="Arial"/>
            </a:endParaRPr>
          </a:p>
        </p:txBody>
      </p:sp>
      <p:sp>
        <p:nvSpPr>
          <p:cNvPr id="439" name="Text 10"/>
          <p:cNvSpPr/>
          <p:nvPr/>
        </p:nvSpPr>
        <p:spPr>
          <a:xfrm>
            <a:off x="868680" y="4983480"/>
            <a:ext cx="1045116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350" b="0" u="none" strike="noStrike">
                <a:solidFill>
                  <a:srgbClr val="E4EAF0"/>
                </a:solidFill>
                <a:effectLst/>
                <a:uFillTx/>
                <a:latin typeface="Calibri"/>
                <a:ea typeface="Calibri"/>
              </a:rPr>
              <a:t>Hoy construyeron un estimado defendible. La Sesión 8 lo hace reproducible de verdad: semillas para que el remuestreo dé lo mismo cada vez, y entorno fijo para que corra igual en otra máquina. Un número defendible también tiene que ser repetible.</a:t>
            </a:r>
            <a:endParaRPr lang="en-US" sz="135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 name="Text 0"/>
          <p:cNvSpPr/>
          <p:nvPr/>
        </p:nvSpPr>
        <p:spPr>
          <a:xfrm>
            <a:off x="548640" y="384120"/>
            <a:ext cx="11091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1E2A35"/>
                </a:solidFill>
                <a:effectLst/>
                <a:uFillTx/>
                <a:latin typeface="Calibri"/>
                <a:ea typeface="Calibri"/>
              </a:rPr>
              <a:t>Fuentes</a:t>
            </a:r>
            <a:endParaRPr lang="en-US" sz="2900" b="0" u="none" strike="noStrike">
              <a:solidFill>
                <a:srgbClr val="000000"/>
              </a:solidFill>
              <a:effectLst/>
              <a:uFillTx/>
              <a:latin typeface="Arial"/>
            </a:endParaRPr>
          </a:p>
        </p:txBody>
      </p:sp>
      <p:sp>
        <p:nvSpPr>
          <p:cNvPr id="441" name="Text 1"/>
          <p:cNvSpPr/>
          <p:nvPr/>
        </p:nvSpPr>
        <p:spPr>
          <a:xfrm>
            <a:off x="548640" y="1042560"/>
            <a:ext cx="11091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0707E"/>
                </a:solidFill>
                <a:effectLst/>
                <a:uFillTx/>
                <a:latin typeface="Calibri"/>
                <a:ea typeface="Calibri"/>
              </a:rPr>
              <a:t>Para quien quiera ir al origen de cada idea.</a:t>
            </a:r>
            <a:endParaRPr lang="en-US" sz="1400" b="0" u="none" strike="noStrike">
              <a:solidFill>
                <a:srgbClr val="000000"/>
              </a:solidFill>
              <a:effectLst/>
              <a:uFillTx/>
              <a:latin typeface="Arial"/>
            </a:endParaRPr>
          </a:p>
        </p:txBody>
      </p:sp>
      <p:sp>
        <p:nvSpPr>
          <p:cNvPr id="442" name="Text 2"/>
          <p:cNvSpPr/>
          <p:nvPr/>
        </p:nvSpPr>
        <p:spPr>
          <a:xfrm>
            <a:off x="548640" y="1783080"/>
            <a:ext cx="5211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spc="99">
                <a:solidFill>
                  <a:srgbClr val="CB5E2E"/>
                </a:solidFill>
                <a:effectLst/>
                <a:uFillTx/>
                <a:latin typeface="Calibri"/>
                <a:ea typeface="Calibri"/>
              </a:rPr>
              <a:t>DISEÑO MUESTRAL Y PONDERACIÓN</a:t>
            </a:r>
            <a:endParaRPr lang="en-US" sz="1250" b="0" u="none" strike="noStrike">
              <a:solidFill>
                <a:srgbClr val="000000"/>
              </a:solidFill>
              <a:effectLst/>
              <a:uFillTx/>
              <a:latin typeface="Arial"/>
            </a:endParaRPr>
          </a:p>
        </p:txBody>
      </p:sp>
      <p:sp>
        <p:nvSpPr>
          <p:cNvPr id="443" name="Text 3"/>
          <p:cNvSpPr/>
          <p:nvPr/>
        </p:nvSpPr>
        <p:spPr>
          <a:xfrm>
            <a:off x="548640" y="2240280"/>
            <a:ext cx="5211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1E2A35"/>
                </a:solidFill>
                <a:effectLst/>
                <a:uFillTx/>
                <a:latin typeface="Calibri"/>
                <a:ea typeface="Calibri"/>
              </a:rPr>
              <a:t>Lumley (2010). «Complex Surveys: A Guide to Analysis Using R». Base del paquete survey.</a:t>
            </a:r>
            <a:endParaRPr lang="en-US" sz="1150" b="0" u="none" strike="noStrike">
              <a:solidFill>
                <a:srgbClr val="000000"/>
              </a:solidFill>
              <a:effectLst/>
              <a:uFillTx/>
              <a:latin typeface="Arial"/>
            </a:endParaRPr>
          </a:p>
        </p:txBody>
      </p:sp>
      <p:sp>
        <p:nvSpPr>
          <p:cNvPr id="444" name="Text 4"/>
          <p:cNvSpPr/>
          <p:nvPr/>
        </p:nvSpPr>
        <p:spPr>
          <a:xfrm>
            <a:off x="548640" y="2971800"/>
            <a:ext cx="5211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1E2A35"/>
                </a:solidFill>
                <a:effectLst/>
                <a:uFillTx/>
                <a:latin typeface="Calibri"/>
                <a:ea typeface="Calibri"/>
              </a:rPr>
              <a:t>Kish (1965). «Survey Sampling». La referencia clásica de estratos, conglomerados y pesos.</a:t>
            </a:r>
            <a:endParaRPr lang="en-US" sz="1150" b="0" u="none" strike="noStrike">
              <a:solidFill>
                <a:srgbClr val="000000"/>
              </a:solidFill>
              <a:effectLst/>
              <a:uFillTx/>
              <a:latin typeface="Arial"/>
            </a:endParaRPr>
          </a:p>
        </p:txBody>
      </p:sp>
      <p:sp>
        <p:nvSpPr>
          <p:cNvPr id="445" name="Text 5"/>
          <p:cNvSpPr/>
          <p:nvPr/>
        </p:nvSpPr>
        <p:spPr>
          <a:xfrm>
            <a:off x="548640" y="3703320"/>
            <a:ext cx="5211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1E2A35"/>
                </a:solidFill>
                <a:effectLst/>
                <a:uFillTx/>
                <a:latin typeface="Calibri"/>
                <a:ea typeface="Calibri"/>
              </a:rPr>
              <a:t>Solon, Haider y Wooldridge (2015). «What Are We Weighting For?». Journal of Human Resources.</a:t>
            </a:r>
            <a:endParaRPr lang="en-US" sz="1150" b="0" u="none" strike="noStrike">
              <a:solidFill>
                <a:srgbClr val="000000"/>
              </a:solidFill>
              <a:effectLst/>
              <a:uFillTx/>
              <a:latin typeface="Arial"/>
            </a:endParaRPr>
          </a:p>
        </p:txBody>
      </p:sp>
      <p:sp>
        <p:nvSpPr>
          <p:cNvPr id="446" name="Text 6"/>
          <p:cNvSpPr/>
          <p:nvPr/>
        </p:nvSpPr>
        <p:spPr>
          <a:xfrm>
            <a:off x="6309360" y="1783080"/>
            <a:ext cx="5211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spc="99">
                <a:solidFill>
                  <a:srgbClr val="CB5E2E"/>
                </a:solidFill>
                <a:effectLst/>
                <a:uFillTx/>
                <a:latin typeface="Calibri"/>
                <a:ea typeface="Calibri"/>
              </a:rPr>
              <a:t>INFERENCIA CON DISEÑO COMPLEJO</a:t>
            </a:r>
            <a:endParaRPr lang="en-US" sz="1250" b="0" u="none" strike="noStrike">
              <a:solidFill>
                <a:srgbClr val="000000"/>
              </a:solidFill>
              <a:effectLst/>
              <a:uFillTx/>
              <a:latin typeface="Arial"/>
            </a:endParaRPr>
          </a:p>
        </p:txBody>
      </p:sp>
      <p:sp>
        <p:nvSpPr>
          <p:cNvPr id="447" name="Text 7"/>
          <p:cNvSpPr/>
          <p:nvPr/>
        </p:nvSpPr>
        <p:spPr>
          <a:xfrm>
            <a:off x="6309360" y="2240280"/>
            <a:ext cx="5211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1E2A35"/>
                </a:solidFill>
                <a:effectLst/>
                <a:uFillTx/>
                <a:latin typeface="Calibri"/>
                <a:ea typeface="Calibri"/>
              </a:rPr>
              <a:t>Cameron y Miller (2015). «A Practitioner's Guide to Cluster-Robust Inference». J. Human Resources.</a:t>
            </a:r>
            <a:endParaRPr lang="en-US" sz="1150" b="0" u="none" strike="noStrike">
              <a:solidFill>
                <a:srgbClr val="000000"/>
              </a:solidFill>
              <a:effectLst/>
              <a:uFillTx/>
              <a:latin typeface="Arial"/>
            </a:endParaRPr>
          </a:p>
        </p:txBody>
      </p:sp>
      <p:sp>
        <p:nvSpPr>
          <p:cNvPr id="448" name="Text 8"/>
          <p:cNvSpPr/>
          <p:nvPr/>
        </p:nvSpPr>
        <p:spPr>
          <a:xfrm>
            <a:off x="6309360" y="2971800"/>
            <a:ext cx="5211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1E2A35"/>
                </a:solidFill>
                <a:effectLst/>
                <a:uFillTx/>
                <a:latin typeface="Calibri"/>
                <a:ea typeface="Calibri"/>
              </a:rPr>
              <a:t>Documentación de los paquetes survey y estimatr (svydesign, svymean, svyglm, lm_robust).</a:t>
            </a:r>
            <a:endParaRPr lang="en-US" sz="1150" b="0" u="none" strike="noStrike">
              <a:solidFill>
                <a:srgbClr val="000000"/>
              </a:solidFill>
              <a:effectLst/>
              <a:uFillTx/>
              <a:latin typeface="Arial"/>
            </a:endParaRPr>
          </a:p>
        </p:txBody>
      </p:sp>
      <p:sp>
        <p:nvSpPr>
          <p:cNvPr id="449" name="Text 9"/>
          <p:cNvSpPr/>
          <p:nvPr/>
        </p:nvSpPr>
        <p:spPr>
          <a:xfrm>
            <a:off x="6309360" y="3703320"/>
            <a:ext cx="5211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spc="99">
                <a:solidFill>
                  <a:srgbClr val="CB5E2E"/>
                </a:solidFill>
                <a:effectLst/>
                <a:uFillTx/>
                <a:latin typeface="Calibri"/>
                <a:ea typeface="Calibri"/>
              </a:rPr>
              <a:t>AGREGACIÓN</a:t>
            </a:r>
            <a:endParaRPr lang="en-US" sz="1250" b="0" u="none" strike="noStrike">
              <a:solidFill>
                <a:srgbClr val="000000"/>
              </a:solidFill>
              <a:effectLst/>
              <a:uFillTx/>
              <a:latin typeface="Arial"/>
            </a:endParaRPr>
          </a:p>
        </p:txBody>
      </p:sp>
      <p:sp>
        <p:nvSpPr>
          <p:cNvPr id="450" name="Text 10"/>
          <p:cNvSpPr/>
          <p:nvPr/>
        </p:nvSpPr>
        <p:spPr>
          <a:xfrm>
            <a:off x="6309360" y="4160520"/>
            <a:ext cx="5211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1E2A35"/>
                </a:solidFill>
                <a:effectLst/>
                <a:uFillTx/>
                <a:latin typeface="Calibri"/>
                <a:ea typeface="Calibri"/>
              </a:rPr>
              <a:t>Simpson (1951) y el tratamiento moderno del confusor en evaluación (marco de Pearl).</a:t>
            </a:r>
            <a:endParaRPr lang="en-US" sz="11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TotalTime>
  <Words>4972</Words>
  <Application>Microsoft Office PowerPoint</Application>
  <PresentationFormat>Widescreen</PresentationFormat>
  <Paragraphs>343</Paragraphs>
  <Slides>26</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Xuxo Ramos</cp:lastModifiedBy>
  <cp:revision>3</cp:revision>
  <dcterms:created xsi:type="dcterms:W3CDTF">2026-09-22T23:17:55Z</dcterms:created>
  <dcterms:modified xsi:type="dcterms:W3CDTF">2026-09-23T17:36:32Z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