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Encuadre: la sesion pasada construyeron un estimado defendible. Hoy lo hacemos reproducible de verdad, que es distinto de que corra. Tres amenazas: el azar sin fijar (una semilla), la aritmetica fragil (el codigo corre y miente), y el entorno que cambia (otra version, otra maquina, otra corrida del asistente). Trabajamos en R Markdown, que es el entorno reproducible de R; en Python el equivalente es Jupyter o Colab. Terminamos 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Mismo formato que la 7: concepto y demo corta en clase, practica a fondo de tarea. Los tres bloques son las tres amenazas a la reproducibilidad. Si va retrasado, acorte la sintesis. La 9 es el laboratorio aplicado que junta 7 y 8 de principio 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el mapa. La frase ancla, en cadena con la 7: alla vimos que correr no es estar bien; hoy, que correr no es reproducir. Las tres tarjetas son los tres bloques. El gancho con la 7: muchos de esos errores estandar por diseno se calculan por remuestreo, y sin semilla cambian cada corrida, asi que la reproducibilidad no es un lujo, es parte de que el numero sea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Publico que ya uso R Markdown, asi que vaya rapido: el notebook es un documento que junta codigo, resultado y explicacion y corre de arriba a abajo. En R es R Markdown, en Python Jupyter o Colab, que el contrato nombra. Colab es nube: recuerde el semaforo, el microdato real no sube. La idea clave: el notebook es el contenedor de un flujo reproducible; las tres amenazas del dia, semilla, aritmetica y entorno, son lo que lo rompe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la lamina del agente. El contraste es todo: en un chat el agente te da el numero sin el como (caja negra); dentro del notebook escribe y ejecuta el codigo a la vista, y lo puedes leer, cambiar y re-correr (auditable). Por eso el agente conviene dentro de un entorno reproducible: ahi la caja negra se vuelve revisable. La frase: ayudante para el trabajo, no para el juicio. Conecta directo con el laboratorio de la 9, donde auditan justamente lo que un agente produjo.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Unos 28 minutos al receso. Bootstrap, validacion cruzada y simulacion usan numeros aleatorios; sin fijar la semilla, el resultado cambia cada corrida, y conviene revisar que el asistente la haya 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Publico que conoce bootstrap y validacion cruzada, asi que el foco es la reproducibilidad, no el metodo. La semilla fija el generador de numeros aleatorios; con ella el azar se repite identico. El punto de IA: los asistentes suelen omitir set.seed, el codigo corre igual, y el descuido no se nota hasta que alguien intenta reproducir y obtiene otro numero. La lamina que sigue lo mide.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primera lamina insignia. El mensaje: mismo codigo, mismo dato, y solo por cambiar la semilla el EE va de 1.48 a 1.56. Sin semilla, cada corrida es una de estas al azar; con set.seed(1) es 1.48 siempre, para cualquiera. Aterrice la apuesta: parece cosa de decimales, pero junto a un umbral, p de 0.05 o el borde de un intervalo, esa diferencia voltea la conclusion. Por eso la semilla no es opcional en trabajo que se firma. Evidencia real: en nuestra prueba (DeepSeek, sept 2026) el modelo incluyo set.seed sin que se lo pidieran, con el comentario 'para reproducibilidad'. Los modelos modernos fallan cada vez menos en esto; aun asi, verifica que la semilla 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El limite del calculo numerico que pide el temario, de verdad: un modelo de lenguaje no calcula, predice; y aun el codigo ejecutable puede ser numericamente ingenuo.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Dos capas, y es la justificacion tecnica del temario hecha en serio. Capa 1: un LLM predice tokens, no tiene calculadora; por eso se le pide codigo, no el numero. Capa 2, la que sorprende a este publico: aun el codigo ejecutable puede ser numericamente fragil. La computadora hace literalmente lo que dice la formula; si la formula es ingenua, corre sin quejarse y da un numero mal. La lamina que sigue lo muestra con dos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segunda lamina insignia. Dos hechos verificables. Uno: 0.1 mas 0.2 no es 0.3 en la computadora, es 0.30000000000000004, porque los decimales se guardan en binario y muchos no caben; el error es diminuto pero se acumula. Dos, el fuerte: tres numeros que van de uno en uno tienen varianza uno, obvio; pero la formula ingenua, sum de cuadrados menos n por media al cuadrado, resta dos numeros enormes y casi iguales, cancela toda la informacion y devuelve cero, sin error. R usa un algoritmo estable en var(); la formula de libro no. La leccion: pedir funciones probadas y verificar contra un caso conocido. Evidencia real: en nuestra prueba (DeepSeek, sept 2026) el modelo reconocio la cancelacion catastrofica por su nombre y uso el metodo estable; pero ademas 'narro' una salida correcta ('varianza: 1') sin ejecutar nada. Acerto de casualidad, y ese es el punto: hay que ejecutar y verificar, no creerle a la salida que narra.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Aunque fijes semilla y uses funciones robustas, el mismo codigo puede dar distinto en otra maquina si cambio una version; y la IA misma es una fuente de variacion.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Aunque fijes la semilla, faltan dos cosas: las versiones de los paquetes (un default que cambia entre versiones te mueve el numero) y el insumo (si el archivo cambio, cambia el resultado). Y una tercera que es nueva con la IA: el mismo prompt da codigo distinto en cada corrida, porque el modelo no es determinista. Por eso lo que se archiva no es el prompt, es el flujo terminado: codigo, semilla, insumo fijo y versiones. Ese paquete se reproduce; la conversacion con la IA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Retome la cosecha real de la S7 como evidencia: dos formas del mismo pedido a DeepSeek dieron dos analisis distintos, y a temperatura mayor que cero dos personas con el mismo prompt reciben respuestas que no coinciden. Por eso guardar el prompt no reproduce nada. Lo que se fija es el flujo: codigo, semilla, insumo y versiones. sessionInfo registra las versiones, renv las congela, y la prueba final es reiniciar y correr todo de cero. Si no sale igual, algo quedo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y responde la pregunta de la frontera. La reproducibilidad empieza en un dato limpio, versionado y documentado. Antes de ese punto (adquisicion y limpieza, con credenciales) es un pipeline que quiza solo corre adentro; despues, cualquiera lo reproduce. Por eso las credenciales van fuera del repo y la adquisicion en un repo aparte restringido: protege el secreto Y hace el analisis reproducible para afuera. En GitLab lo hacen cumplir Secret Detection y push rules. Tres estructuras estandar: TIER para economia empirica, Cookiecutter para Python, rrtools para R; los principios en Wilson et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con honestidad: los scripts numerados y un README bastan para empezar, no hay que sobre-ingenierizar. Pero cuando el analisis se comparte y se repite, tres escalones lo hacen robusto. Orquestacion: un grafo de dependencias (targets en R, Snakemake en Python) que corre solo lo que cambio, en vez de numeros a mano. Entorno congelado: una imagen Docker con versiones pinneadas, en el Container Registry de GitLab, mas que renv. Verificacion automatica: GitLab CI que re-teje el flujo en cada cambio y falla si no reproduce, el restart-run-all hecho robot. Es la meta, no el requisito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lamina de pago. Los tres candados: fijar el azar (semilla), aritmetica robusta (funciones probadas), fijar el entorno (insumo y versiones). Cada uno evita una de las tres amenazas del dia. El artefacto reproducible es el flujo terminado, no el prompt ni la conversacion. La prueba unica y exigible: reiniciar y correr todo de cero y obtener el mismo numero. Eso es lo que la rubrica tecnica evalua en el entregable.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Izquierda, lo que se le pide al asistente: semilla visible, funciones probadas, insumo y versiones documentados, el codigo y que corra de cero. Derecha, lo que no se delega: verificar que el numero se calculo y contra un caso conocido, oler la fragilidad numerica, correr de cero para comprobar, y archivar el flujo, no la conversacion. Este es el habito que se llevan a la practica y a la Sesion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apertura de la demo. Un agente de codigo no es autocompletar ni un chat: vive dentro del proyecto, lee archivos, escribe y corre codigo, y edita. El bucle: le pides en lenguaje natural, propone y corre, tu lees el diff y verificas el numero, iteras. El paso tres no se delega. Es demostrativo: yo tengo Copilot en VS Code, ustedes lo reconoceran cuando tengan acceso. Aqui abra VS Code y muestre el bucle en vivo con una tarea del microdato, por ejemplo pedirle el ingreso ponderado.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con la demo, y es el ejercicio de auditar al agente. Estos patrones son propios de un agente, no del chat. Uno: arregla silenciando, envuelve el error para que corra y el numero queda mal. Dos: inventa una columna o funcion que no existe. Tres: sobre-escribe el dato crudo, que debe ser de solo lectura. Cuatro: veinte pasos y pierdes cual cambio el numero. La defensa esta en cada tarjeta, y es la misma disciplina: leer el diff, verificar contra el diccionario, pasos chicos. En la demo provoque uno o dos en vivo con Copilot y que la clase lo cace: ese es el ejercicio corto de auditoria.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lamina de referencia. Reune en una pagina los comandos de los tres candados en R y Python, para tenerla a mano en la practica y en el proyecto. Fijar el azar: set.seed o np.random.seed al inicio. Aritmetica robusta: funciones probadas como var y sd, no formulas de libro. Fijar el entorno: sessionInfo o pip freeze para registrar versiones, renv para congelar, y rutas relativas para el insumo. La prueba unica es reiniciar y correr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Demo corta en clase y el grueso de tarea, un R Markdown sobre el mismo microdato, mas la estructura del proyecto final. Arranque en clase, el resto en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en dos minutos y arranquen la parte 1. Parte 1: el bootstrap del efecto del programa, sin semilla cambia cada corrida, con set.seed es el mismo (alrededor de 1.48 con la semilla 1). Parte 2: la funcion de varianza a mano da cero para numeros grandes y juntos; que diagnostiquen la cancelacion y usen var(). Parte 3: semilla mas insumo fijo mas sessionInfo, reiniciar y correr todo, y comprobar que reproduce. El entregable es el Rmd tejido. Tarea a su ritmo.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Repase las tres ideas y confirme el entregable, que es la tarea. El puente a la 9: ya tienen hacer bien el estimado (7) y hacerlo reproducible (8); la 9 los junta en el laboratorio aplicado de principio a fin, con un error plantado de la IA para cazar y el entregable reproducible que evalua la rubrica. Agradezca y cierre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Lamina de referencia. No se lee en clase. Sostiene el nivel tecnico si preguntan por reproducibilidad, punto flotante o estabilidad numerica.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9784080" y="-1188720"/>
            <a:ext cx="3566160" cy="3566160"/>
          </a:xfrm>
          <a:prstGeom prst="ellipse">
            <a:avLst/>
          </a:prstGeom>
          <a:solidFill>
            <a:srgbClr val="20384F"/>
          </a:solidFill>
          <a:ln/>
        </p:spPr>
      </p:sp>
      <p:sp>
        <p:nvSpPr>
          <p:cNvPr id="3" name="Shape 1"/>
          <p:cNvSpPr/>
          <p:nvPr/>
        </p:nvSpPr>
        <p:spPr>
          <a:xfrm>
            <a:off x="10881360" y="4572000"/>
            <a:ext cx="2560320" cy="2560320"/>
          </a:xfrm>
          <a:prstGeom prst="ellipse">
            <a:avLst/>
          </a:prstGeom>
          <a:solidFill>
            <a:srgbClr val="CB5E2E"/>
          </a:solidFill>
          <a:ln/>
        </p:spPr>
      </p:sp>
      <p:sp>
        <p:nvSpPr>
          <p:cNvPr id="4" name="Text 2"/>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300" b="1" spc="300" kern="0" dirty="0">
                <a:solidFill>
                  <a:srgbClr val="E58A5B"/>
                </a:solidFill>
                <a:latin typeface="Calibri" pitchFamily="34" charset="0"/>
                <a:ea typeface="Calibri" pitchFamily="34" charset="-122"/>
                <a:cs typeface="Calibri" pitchFamily="34" charset="-120"/>
              </a:rPr>
              <a:t>MÓDULO III · SESIÓN 8</a:t>
            </a:r>
            <a:endParaRPr lang="en-US" sz="1300" dirty="0"/>
          </a:p>
        </p:txBody>
      </p:sp>
      <p:sp>
        <p:nvSpPr>
          <p:cNvPr id="5" name="Text 3"/>
          <p:cNvSpPr txBox="1"/>
          <p:nvPr/>
        </p:nvSpPr>
        <p:spPr>
          <a:xfrm>
            <a:off x="822960" y="2103120"/>
            <a:ext cx="10607040" cy="1645920"/>
          </a:xfrm>
          <a:prstGeom prst="rect">
            <a:avLst/>
          </a:prstGeom>
          <a:noFill/>
          <a:ln/>
        </p:spPr>
        <p:txBody>
          <a:bodyPr wrap="square" lIns="0" tIns="0" rIns="0" bIns="0" rtlCol="0" anchor="ctr"/>
          <a:lstStyle/>
          <a:p>
            <a:pPr indent="0" marL="0">
              <a:lnSpc>
                <a:spcPct val="98000"/>
              </a:lnSpc>
              <a:buNone/>
            </a:pPr>
            <a:r>
              <a:rPr lang="en-US" sz="3300" b="1" dirty="0">
                <a:solidFill>
                  <a:srgbClr val="FFFFFF"/>
                </a:solidFill>
                <a:latin typeface="Calibri" pitchFamily="34" charset="0"/>
                <a:ea typeface="Calibri" pitchFamily="34" charset="-122"/>
                <a:cs typeface="Calibri" pitchFamily="34" charset="-120"/>
              </a:rPr>
              <a:t>Entornos reproducibles: el mismo número, otra vez, para cualquiera</a:t>
            </a:r>
            <a:endParaRPr lang="en-US" sz="3300" dirty="0"/>
          </a:p>
        </p:txBody>
      </p:sp>
      <p:sp>
        <p:nvSpPr>
          <p:cNvPr id="6" name="Text 4"/>
          <p:cNvSpPr txBox="1"/>
          <p:nvPr/>
        </p:nvSpPr>
        <p:spPr>
          <a:xfrm>
            <a:off x="822960" y="3977640"/>
            <a:ext cx="10424160" cy="457200"/>
          </a:xfrm>
          <a:prstGeom prst="rect">
            <a:avLst/>
          </a:prstGeom>
          <a:noFill/>
          <a:ln/>
        </p:spPr>
        <p:txBody>
          <a:bodyPr wrap="square" lIns="0" tIns="0" rIns="0" bIns="0" rtlCol="0" anchor="ctr"/>
          <a:lstStyle/>
          <a:p>
            <a:pPr indent="0" marL="0">
              <a:buNone/>
            </a:pPr>
            <a:r>
              <a:rPr lang="en-US" sz="1600" dirty="0">
                <a:solidFill>
                  <a:srgbClr val="E4EAF0"/>
                </a:solidFill>
                <a:latin typeface="Calibri" pitchFamily="34" charset="0"/>
                <a:ea typeface="Calibri" pitchFamily="34" charset="-122"/>
                <a:cs typeface="Calibri" pitchFamily="34" charset="-120"/>
              </a:rPr>
              <a:t>Semillas y azar controlado, límites del cálculo numérico, y un entorno que da lo mismo en otra máquina</a:t>
            </a:r>
            <a:endParaRPr lang="en-US" sz="1600" dirty="0"/>
          </a:p>
        </p:txBody>
      </p:sp>
      <p:sp>
        <p:nvSpPr>
          <p:cNvPr id="7" name="Shape 5"/>
          <p:cNvSpPr/>
          <p:nvPr/>
        </p:nvSpPr>
        <p:spPr>
          <a:xfrm>
            <a:off x="841248" y="4828032"/>
            <a:ext cx="2926080" cy="0"/>
          </a:xfrm>
          <a:prstGeom prst="line">
            <a:avLst/>
          </a:prstGeom>
          <a:noFill/>
          <a:ln w="25400">
            <a:solidFill>
              <a:srgbClr val="CB5E2E"/>
            </a:solidFill>
            <a:prstDash val="solid"/>
          </a:ln>
        </p:spPr>
      </p:sp>
      <p:sp>
        <p:nvSpPr>
          <p:cNvPr id="8" name="Text 6"/>
          <p:cNvSpPr txBox="1"/>
          <p:nvPr/>
        </p:nvSpPr>
        <p:spPr>
          <a:xfrm>
            <a:off x="822960" y="5029200"/>
            <a:ext cx="10058400" cy="3657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Curso de Inteligencia Artificial Aplicada · INEGI 2026</a:t>
            </a:r>
            <a:endParaRPr lang="en-US" sz="1300" dirty="0"/>
          </a:p>
        </p:txBody>
      </p:sp>
      <p:sp>
        <p:nvSpPr>
          <p:cNvPr id="9" name="Text 7"/>
          <p:cNvSpPr txBox="1"/>
          <p:nvPr/>
        </p:nvSpPr>
        <p:spPr>
          <a:xfrm>
            <a:off x="822960" y="5376672"/>
            <a:ext cx="10058400" cy="365760"/>
          </a:xfrm>
          <a:prstGeom prst="rect">
            <a:avLst/>
          </a:prstGeom>
          <a:noFill/>
          <a:ln/>
        </p:spPr>
        <p:txBody>
          <a:bodyPr wrap="square" lIns="0" tIns="0" rIns="0" bIns="0" rtlCol="0" anchor="ctr"/>
          <a:lstStyle/>
          <a:p>
            <a:pPr indent="0" marL="0">
              <a:buNone/>
            </a:pPr>
            <a:r>
              <a:rPr lang="en-US" sz="1300" dirty="0">
                <a:solidFill>
                  <a:srgbClr val="60707E"/>
                </a:solidFill>
                <a:latin typeface="Calibri" pitchFamily="34" charset="0"/>
                <a:ea typeface="Calibri" pitchFamily="34" charset="-122"/>
                <a:cs typeface="Calibri" pitchFamily="34" charset="-120"/>
              </a:rPr>
              <a:t>Módulo III, Sesión 2 · sigue el bloque cuantitativo · 11:00 a 13:30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usamos los 150 minutos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Concepto y demostración, un receso, y una práctica guiada de estructura; el análisis a fondo se va de tarea.</a:t>
            </a:r>
            <a:endParaRPr lang="en-US" sz="1400" dirty="0"/>
          </a:p>
        </p:txBody>
      </p:sp>
      <p:sp>
        <p:nvSpPr>
          <p:cNvPr id="4" name="Shape 2"/>
          <p:cNvSpPr/>
          <p:nvPr/>
        </p:nvSpPr>
        <p:spPr>
          <a:xfrm>
            <a:off x="548640" y="1737360"/>
            <a:ext cx="11091672" cy="512064"/>
          </a:xfrm>
          <a:prstGeom prst="rect">
            <a:avLst/>
          </a:prstGeom>
          <a:solidFill>
            <a:srgbClr val="EEF2F5"/>
          </a:solidFill>
          <a:ln w="6350">
            <a:solidFill>
              <a:srgbClr val="D5DCE3"/>
            </a:solidFill>
            <a:prstDash val="solid"/>
          </a:ln>
        </p:spPr>
      </p:sp>
      <p:sp>
        <p:nvSpPr>
          <p:cNvPr id="5" name="Text 3"/>
          <p:cNvSpPr txBox="1"/>
          <p:nvPr/>
        </p:nvSpPr>
        <p:spPr>
          <a:xfrm>
            <a:off x="685800" y="1737360"/>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11:00</a:t>
            </a:r>
            <a:endParaRPr lang="en-US" sz="1600" dirty="0"/>
          </a:p>
        </p:txBody>
      </p:sp>
      <p:sp>
        <p:nvSpPr>
          <p:cNvPr id="6" name="Text 4"/>
          <p:cNvSpPr txBox="1"/>
          <p:nvPr/>
        </p:nvSpPr>
        <p:spPr>
          <a:xfrm>
            <a:off x="2194560" y="1737360"/>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Apertura: que corra no es que reproduzca</a:t>
            </a:r>
            <a:endParaRPr lang="en-US" sz="1400" dirty="0"/>
          </a:p>
        </p:txBody>
      </p:sp>
      <p:sp>
        <p:nvSpPr>
          <p:cNvPr id="7" name="Shape 5"/>
          <p:cNvSpPr/>
          <p:nvPr/>
        </p:nvSpPr>
        <p:spPr>
          <a:xfrm>
            <a:off x="548640" y="2249424"/>
            <a:ext cx="11091672" cy="512064"/>
          </a:xfrm>
          <a:prstGeom prst="rect">
            <a:avLst/>
          </a:prstGeom>
          <a:solidFill>
            <a:srgbClr val="FFFFFF"/>
          </a:solidFill>
          <a:ln w="6350">
            <a:solidFill>
              <a:srgbClr val="D5DCE3"/>
            </a:solidFill>
            <a:prstDash val="solid"/>
          </a:ln>
        </p:spPr>
      </p:sp>
      <p:sp>
        <p:nvSpPr>
          <p:cNvPr id="8" name="Text 6"/>
          <p:cNvSpPr txBox="1"/>
          <p:nvPr/>
        </p:nvSpPr>
        <p:spPr>
          <a:xfrm>
            <a:off x="685800" y="2249424"/>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11:08</a:t>
            </a:r>
            <a:endParaRPr lang="en-US" sz="1600" dirty="0"/>
          </a:p>
        </p:txBody>
      </p:sp>
      <p:sp>
        <p:nvSpPr>
          <p:cNvPr id="9" name="Text 7"/>
          <p:cNvSpPr txBox="1"/>
          <p:nvPr/>
        </p:nvSpPr>
        <p:spPr>
          <a:xfrm>
            <a:off x="2194560" y="2249424"/>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El entorno reproducible: el notebook y el agente</a:t>
            </a:r>
            <a:endParaRPr lang="en-US" sz="1400" dirty="0"/>
          </a:p>
        </p:txBody>
      </p:sp>
      <p:sp>
        <p:nvSpPr>
          <p:cNvPr id="10" name="Shape 8"/>
          <p:cNvSpPr/>
          <p:nvPr/>
        </p:nvSpPr>
        <p:spPr>
          <a:xfrm>
            <a:off x="548640" y="2761488"/>
            <a:ext cx="11091672" cy="512064"/>
          </a:xfrm>
          <a:prstGeom prst="rect">
            <a:avLst/>
          </a:prstGeom>
          <a:solidFill>
            <a:srgbClr val="EEF2F5"/>
          </a:solidFill>
          <a:ln w="6350">
            <a:solidFill>
              <a:srgbClr val="D5DCE3"/>
            </a:solidFill>
            <a:prstDash val="solid"/>
          </a:ln>
        </p:spPr>
      </p:sp>
      <p:sp>
        <p:nvSpPr>
          <p:cNvPr id="11" name="Text 9"/>
          <p:cNvSpPr txBox="1"/>
          <p:nvPr/>
        </p:nvSpPr>
        <p:spPr>
          <a:xfrm>
            <a:off x="685800" y="2761488"/>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11:20</a:t>
            </a:r>
            <a:endParaRPr lang="en-US" sz="1600" dirty="0"/>
          </a:p>
        </p:txBody>
      </p:sp>
      <p:sp>
        <p:nvSpPr>
          <p:cNvPr id="12" name="Text 10"/>
          <p:cNvSpPr txBox="1"/>
          <p:nvPr/>
        </p:nvSpPr>
        <p:spPr>
          <a:xfrm>
            <a:off x="2194560" y="2761488"/>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1 · El azar sin fijar: la semilla</a:t>
            </a:r>
            <a:endParaRPr lang="en-US" sz="1400" dirty="0"/>
          </a:p>
        </p:txBody>
      </p:sp>
      <p:sp>
        <p:nvSpPr>
          <p:cNvPr id="13" name="Shape 11"/>
          <p:cNvSpPr/>
          <p:nvPr/>
        </p:nvSpPr>
        <p:spPr>
          <a:xfrm>
            <a:off x="548640" y="3273552"/>
            <a:ext cx="11091672" cy="512064"/>
          </a:xfrm>
          <a:prstGeom prst="rect">
            <a:avLst/>
          </a:prstGeom>
          <a:solidFill>
            <a:srgbClr val="FBEEE5"/>
          </a:solidFill>
          <a:ln w="6350">
            <a:solidFill>
              <a:srgbClr val="D5DCE3"/>
            </a:solidFill>
            <a:prstDash val="solid"/>
          </a:ln>
        </p:spPr>
      </p:sp>
      <p:sp>
        <p:nvSpPr>
          <p:cNvPr id="14" name="Text 12"/>
          <p:cNvSpPr txBox="1"/>
          <p:nvPr/>
        </p:nvSpPr>
        <p:spPr>
          <a:xfrm>
            <a:off x="685800" y="3273552"/>
            <a:ext cx="1371600" cy="512064"/>
          </a:xfrm>
          <a:prstGeom prst="rect">
            <a:avLst/>
          </a:prstGeom>
          <a:noFill/>
          <a:ln/>
        </p:spPr>
        <p:txBody>
          <a:bodyPr wrap="square" lIns="0" tIns="0" rIns="0" bIns="0" rtlCol="0" anchor="ctr"/>
          <a:lstStyle/>
          <a:p>
            <a:pPr indent="0" marL="0">
              <a:buNone/>
            </a:pPr>
            <a:r>
              <a:rPr lang="en-US" sz="1600" b="1" dirty="0">
                <a:solidFill>
                  <a:srgbClr val="8C3E19"/>
                </a:solidFill>
                <a:latin typeface="Cambria" pitchFamily="34" charset="0"/>
                <a:ea typeface="Cambria" pitchFamily="34" charset="-122"/>
                <a:cs typeface="Cambria" pitchFamily="34" charset="-120"/>
              </a:rPr>
              <a:t>11:40</a:t>
            </a:r>
            <a:endParaRPr lang="en-US" sz="1600" dirty="0"/>
          </a:p>
        </p:txBody>
      </p:sp>
      <p:sp>
        <p:nvSpPr>
          <p:cNvPr id="15" name="Text 13"/>
          <p:cNvSpPr txBox="1"/>
          <p:nvPr/>
        </p:nvSpPr>
        <p:spPr>
          <a:xfrm>
            <a:off x="2194560" y="3273552"/>
            <a:ext cx="9262872" cy="512064"/>
          </a:xfrm>
          <a:prstGeom prst="rect">
            <a:avLst/>
          </a:prstGeom>
          <a:noFill/>
          <a:ln/>
        </p:spPr>
        <p:txBody>
          <a:bodyPr wrap="square" lIns="0" tIns="0" rIns="0" bIns="0" rtlCol="0" anchor="ctr"/>
          <a:lstStyle/>
          <a:p>
            <a:pPr indent="0" marL="0">
              <a:buNone/>
            </a:pPr>
            <a:r>
              <a:rPr lang="en-US" sz="1400" b="1" dirty="0">
                <a:solidFill>
                  <a:srgbClr val="8C3E19"/>
                </a:solidFill>
                <a:latin typeface="Calibri" pitchFamily="34" charset="0"/>
                <a:ea typeface="Calibri" pitchFamily="34" charset="-122"/>
                <a:cs typeface="Calibri" pitchFamily="34" charset="-120"/>
              </a:rPr>
              <a:t>Receso · 10 minutos</a:t>
            </a:r>
            <a:endParaRPr lang="en-US" sz="1400" dirty="0"/>
          </a:p>
        </p:txBody>
      </p:sp>
      <p:sp>
        <p:nvSpPr>
          <p:cNvPr id="16" name="Shape 14"/>
          <p:cNvSpPr/>
          <p:nvPr/>
        </p:nvSpPr>
        <p:spPr>
          <a:xfrm>
            <a:off x="548640" y="3785616"/>
            <a:ext cx="11091672" cy="512064"/>
          </a:xfrm>
          <a:prstGeom prst="rect">
            <a:avLst/>
          </a:prstGeom>
          <a:solidFill>
            <a:srgbClr val="EEF2F5"/>
          </a:solidFill>
          <a:ln w="6350">
            <a:solidFill>
              <a:srgbClr val="D5DCE3"/>
            </a:solidFill>
            <a:prstDash val="solid"/>
          </a:ln>
        </p:spPr>
      </p:sp>
      <p:sp>
        <p:nvSpPr>
          <p:cNvPr id="17" name="Text 15"/>
          <p:cNvSpPr txBox="1"/>
          <p:nvPr/>
        </p:nvSpPr>
        <p:spPr>
          <a:xfrm>
            <a:off x="685800" y="3785616"/>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11:50</a:t>
            </a:r>
            <a:endParaRPr lang="en-US" sz="1600" dirty="0"/>
          </a:p>
        </p:txBody>
      </p:sp>
      <p:sp>
        <p:nvSpPr>
          <p:cNvPr id="18" name="Text 16"/>
          <p:cNvSpPr txBox="1"/>
          <p:nvPr/>
        </p:nvSpPr>
        <p:spPr>
          <a:xfrm>
            <a:off x="2194560" y="3785616"/>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2 · La aritmética frágil: límites del cálculo numérico</a:t>
            </a:r>
            <a:endParaRPr lang="en-US" sz="1400" dirty="0"/>
          </a:p>
        </p:txBody>
      </p:sp>
      <p:sp>
        <p:nvSpPr>
          <p:cNvPr id="19" name="Shape 17"/>
          <p:cNvSpPr/>
          <p:nvPr/>
        </p:nvSpPr>
        <p:spPr>
          <a:xfrm>
            <a:off x="548640" y="4297680"/>
            <a:ext cx="11091672" cy="512064"/>
          </a:xfrm>
          <a:prstGeom prst="rect">
            <a:avLst/>
          </a:prstGeom>
          <a:solidFill>
            <a:srgbClr val="FFFFFF"/>
          </a:solidFill>
          <a:ln w="6350">
            <a:solidFill>
              <a:srgbClr val="D5DCE3"/>
            </a:solidFill>
            <a:prstDash val="solid"/>
          </a:ln>
        </p:spPr>
      </p:sp>
      <p:sp>
        <p:nvSpPr>
          <p:cNvPr id="20" name="Text 18"/>
          <p:cNvSpPr txBox="1"/>
          <p:nvPr/>
        </p:nvSpPr>
        <p:spPr>
          <a:xfrm>
            <a:off x="685800" y="4297680"/>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12:08</a:t>
            </a:r>
            <a:endParaRPr lang="en-US" sz="1600" dirty="0"/>
          </a:p>
        </p:txBody>
      </p:sp>
      <p:sp>
        <p:nvSpPr>
          <p:cNvPr id="21" name="Text 19"/>
          <p:cNvSpPr txBox="1"/>
          <p:nvPr/>
        </p:nvSpPr>
        <p:spPr>
          <a:xfrm>
            <a:off x="2194560" y="4297680"/>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3, síntesis y chuleta de verificación</a:t>
            </a:r>
            <a:endParaRPr lang="en-US" sz="1400" dirty="0"/>
          </a:p>
        </p:txBody>
      </p:sp>
      <p:sp>
        <p:nvSpPr>
          <p:cNvPr id="22" name="Shape 20"/>
          <p:cNvSpPr/>
          <p:nvPr/>
        </p:nvSpPr>
        <p:spPr>
          <a:xfrm>
            <a:off x="548640" y="4809744"/>
            <a:ext cx="11091672" cy="512064"/>
          </a:xfrm>
          <a:prstGeom prst="rect">
            <a:avLst/>
          </a:prstGeom>
          <a:solidFill>
            <a:srgbClr val="EEF2F5"/>
          </a:solidFill>
          <a:ln w="6350">
            <a:solidFill>
              <a:srgbClr val="D5DCE3"/>
            </a:solidFill>
            <a:prstDash val="solid"/>
          </a:ln>
        </p:spPr>
      </p:sp>
      <p:sp>
        <p:nvSpPr>
          <p:cNvPr id="23" name="Text 21"/>
          <p:cNvSpPr txBox="1"/>
          <p:nvPr/>
        </p:nvSpPr>
        <p:spPr>
          <a:xfrm>
            <a:off x="685800" y="4809744"/>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12:38</a:t>
            </a:r>
            <a:endParaRPr lang="en-US" sz="1600" dirty="0"/>
          </a:p>
        </p:txBody>
      </p:sp>
      <p:sp>
        <p:nvSpPr>
          <p:cNvPr id="24" name="Text 22"/>
          <p:cNvSpPr txBox="1"/>
          <p:nvPr/>
        </p:nvSpPr>
        <p:spPr>
          <a:xfrm>
            <a:off x="2194560" y="4809744"/>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El agente de código, en vivo (demostración)</a:t>
            </a:r>
            <a:endParaRPr lang="en-US" sz="1400" dirty="0"/>
          </a:p>
        </p:txBody>
      </p:sp>
      <p:sp>
        <p:nvSpPr>
          <p:cNvPr id="25" name="Shape 23"/>
          <p:cNvSpPr/>
          <p:nvPr/>
        </p:nvSpPr>
        <p:spPr>
          <a:xfrm>
            <a:off x="548640" y="5321808"/>
            <a:ext cx="11091672" cy="512064"/>
          </a:xfrm>
          <a:prstGeom prst="rect">
            <a:avLst/>
          </a:prstGeom>
          <a:solidFill>
            <a:srgbClr val="FFFFFF"/>
          </a:solidFill>
          <a:ln w="6350">
            <a:solidFill>
              <a:srgbClr val="D5DCE3"/>
            </a:solidFill>
            <a:prstDash val="solid"/>
          </a:ln>
        </p:spPr>
      </p:sp>
      <p:sp>
        <p:nvSpPr>
          <p:cNvPr id="26" name="Text 24"/>
          <p:cNvSpPr txBox="1"/>
          <p:nvPr/>
        </p:nvSpPr>
        <p:spPr>
          <a:xfrm>
            <a:off x="685800" y="5321808"/>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12:58</a:t>
            </a:r>
            <a:endParaRPr lang="en-US" sz="1600" dirty="0"/>
          </a:p>
        </p:txBody>
      </p:sp>
      <p:sp>
        <p:nvSpPr>
          <p:cNvPr id="27" name="Text 25"/>
          <p:cNvSpPr txBox="1"/>
          <p:nvPr/>
        </p:nvSpPr>
        <p:spPr>
          <a:xfrm>
            <a:off x="2194560" y="5321808"/>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Práctica guiada: la estructura del proyecto</a:t>
            </a:r>
            <a:endParaRPr lang="en-US" sz="1400" dirty="0"/>
          </a:p>
        </p:txBody>
      </p:sp>
      <p:sp>
        <p:nvSpPr>
          <p:cNvPr id="28" name="Shape 26"/>
          <p:cNvSpPr/>
          <p:nvPr/>
        </p:nvSpPr>
        <p:spPr>
          <a:xfrm>
            <a:off x="548640" y="5833872"/>
            <a:ext cx="11091672" cy="512064"/>
          </a:xfrm>
          <a:prstGeom prst="rect">
            <a:avLst/>
          </a:prstGeom>
          <a:solidFill>
            <a:srgbClr val="EEF2F5"/>
          </a:solidFill>
          <a:ln w="6350">
            <a:solidFill>
              <a:srgbClr val="D5DCE3"/>
            </a:solidFill>
            <a:prstDash val="solid"/>
          </a:ln>
        </p:spPr>
      </p:sp>
      <p:sp>
        <p:nvSpPr>
          <p:cNvPr id="29" name="Text 27"/>
          <p:cNvSpPr txBox="1"/>
          <p:nvPr/>
        </p:nvSpPr>
        <p:spPr>
          <a:xfrm>
            <a:off x="685800" y="5833872"/>
            <a:ext cx="1371600" cy="512064"/>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13:22</a:t>
            </a:r>
            <a:endParaRPr lang="en-US" sz="1600" dirty="0"/>
          </a:p>
        </p:txBody>
      </p:sp>
      <p:sp>
        <p:nvSpPr>
          <p:cNvPr id="30" name="Text 28"/>
          <p:cNvSpPr txBox="1"/>
          <p:nvPr/>
        </p:nvSpPr>
        <p:spPr>
          <a:xfrm>
            <a:off x="2194560" y="5833872"/>
            <a:ext cx="9262872" cy="512064"/>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Cierre y puente a la Sesión 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Que un número corra no es que reproduzca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Reproducir es dar el mismo número otra vez, para otra persona, en otra máquina. Tres cosas lo rompen, y la sesión pasada ya dejó una pista: el error estándar por remuestreo cambia en cada corrida si no fijas el azar.</a:t>
            </a:r>
            <a:endParaRPr lang="en-US" sz="1400" dirty="0"/>
          </a:p>
        </p:txBody>
      </p:sp>
      <p:sp>
        <p:nvSpPr>
          <p:cNvPr id="4" name="Shape 2"/>
          <p:cNvSpPr/>
          <p:nvPr/>
        </p:nvSpPr>
        <p:spPr>
          <a:xfrm>
            <a:off x="548640" y="2240280"/>
            <a:ext cx="3502152" cy="2926080"/>
          </a:xfrm>
          <a:prstGeom prst="roundRect">
            <a:avLst>
              <a:gd name="adj" fmla="val 1875"/>
            </a:avLst>
          </a:prstGeom>
          <a:solidFill>
            <a:srgbClr val="EEF2F5"/>
          </a:solidFill>
          <a:ln w="9525">
            <a:solidFill>
              <a:srgbClr val="D5DCE3"/>
            </a:solidFill>
            <a:prstDash val="solid"/>
          </a:ln>
        </p:spPr>
      </p:sp>
      <p:sp>
        <p:nvSpPr>
          <p:cNvPr id="5" name="Shape 3"/>
          <p:cNvSpPr/>
          <p:nvPr/>
        </p:nvSpPr>
        <p:spPr>
          <a:xfrm>
            <a:off x="804672" y="2514600"/>
            <a:ext cx="502920" cy="502920"/>
          </a:xfrm>
          <a:prstGeom prst="ellipse">
            <a:avLst/>
          </a:prstGeom>
          <a:solidFill>
            <a:srgbClr val="CB5E2E"/>
          </a:solidFill>
          <a:ln/>
        </p:spPr>
      </p:sp>
      <p:sp>
        <p:nvSpPr>
          <p:cNvPr id="6" name="Text 4"/>
          <p:cNvSpPr txBox="1"/>
          <p:nvPr/>
        </p:nvSpPr>
        <p:spPr>
          <a:xfrm>
            <a:off x="804672" y="2514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04672" y="3154680"/>
            <a:ext cx="2990088" cy="45720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El azar sin fijar</a:t>
            </a:r>
            <a:endParaRPr lang="en-US" sz="1600" dirty="0"/>
          </a:p>
        </p:txBody>
      </p:sp>
      <p:sp>
        <p:nvSpPr>
          <p:cNvPr id="8" name="Text 6"/>
          <p:cNvSpPr txBox="1"/>
          <p:nvPr/>
        </p:nvSpPr>
        <p:spPr>
          <a:xfrm>
            <a:off x="804672" y="3657600"/>
            <a:ext cx="2990088" cy="1371600"/>
          </a:xfrm>
          <a:prstGeom prst="rect">
            <a:avLst/>
          </a:prstGeom>
          <a:noFill/>
          <a:ln/>
        </p:spPr>
        <p:txBody>
          <a:bodyPr wrap="square" lIns="0" tIns="0" rIns="0" bIns="0" rtlCol="0" anchor="ctr"/>
          <a:lstStyle/>
          <a:p>
            <a:pPr indent="0" marL="0">
              <a:lnSpc>
                <a:spcPct val="102000"/>
              </a:lnSpc>
              <a:buNone/>
            </a:pPr>
            <a:r>
              <a:rPr lang="en-US" sz="1250" dirty="0">
                <a:solidFill>
                  <a:srgbClr val="60707E"/>
                </a:solidFill>
                <a:latin typeface="Calibri" pitchFamily="34" charset="0"/>
                <a:ea typeface="Calibri" pitchFamily="34" charset="-122"/>
                <a:cs typeface="Calibri" pitchFamily="34" charset="-120"/>
              </a:rPr>
              <a:t>Un bootstrap o una simulación sin semilla da un número distinto cada vez. Ni tú reproduces el tuyo de ayer.</a:t>
            </a:r>
            <a:endParaRPr lang="en-US" sz="1250" dirty="0"/>
          </a:p>
        </p:txBody>
      </p:sp>
      <p:sp>
        <p:nvSpPr>
          <p:cNvPr id="9" name="Shape 7"/>
          <p:cNvSpPr/>
          <p:nvPr/>
        </p:nvSpPr>
        <p:spPr>
          <a:xfrm>
            <a:off x="804672" y="4636008"/>
            <a:ext cx="2990088" cy="0"/>
          </a:xfrm>
          <a:prstGeom prst="line">
            <a:avLst/>
          </a:prstGeom>
          <a:noFill/>
          <a:ln w="9525">
            <a:solidFill>
              <a:srgbClr val="D5DCE3"/>
            </a:solidFill>
            <a:prstDash val="solid"/>
          </a:ln>
        </p:spPr>
      </p:sp>
      <p:sp>
        <p:nvSpPr>
          <p:cNvPr id="10" name="Text 8"/>
          <p:cNvSpPr txBox="1"/>
          <p:nvPr/>
        </p:nvSpPr>
        <p:spPr>
          <a:xfrm>
            <a:off x="804672" y="4690872"/>
            <a:ext cx="2990088" cy="36576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Bloque 1</a:t>
            </a:r>
            <a:endParaRPr lang="en-US" sz="1150" dirty="0"/>
          </a:p>
        </p:txBody>
      </p:sp>
      <p:sp>
        <p:nvSpPr>
          <p:cNvPr id="11" name="Shape 9"/>
          <p:cNvSpPr/>
          <p:nvPr/>
        </p:nvSpPr>
        <p:spPr>
          <a:xfrm>
            <a:off x="4343400" y="2240280"/>
            <a:ext cx="3502152" cy="2926080"/>
          </a:xfrm>
          <a:prstGeom prst="roundRect">
            <a:avLst>
              <a:gd name="adj" fmla="val 1875"/>
            </a:avLst>
          </a:prstGeom>
          <a:solidFill>
            <a:srgbClr val="FFFFFF"/>
          </a:solidFill>
          <a:ln w="9525">
            <a:solidFill>
              <a:srgbClr val="D5DCE3"/>
            </a:solidFill>
            <a:prstDash val="solid"/>
          </a:ln>
        </p:spPr>
      </p:sp>
      <p:sp>
        <p:nvSpPr>
          <p:cNvPr id="12" name="Shape 10"/>
          <p:cNvSpPr/>
          <p:nvPr/>
        </p:nvSpPr>
        <p:spPr>
          <a:xfrm>
            <a:off x="4599432" y="2514600"/>
            <a:ext cx="502920" cy="502920"/>
          </a:xfrm>
          <a:prstGeom prst="ellipse">
            <a:avLst/>
          </a:prstGeom>
          <a:solidFill>
            <a:srgbClr val="CB5E2E"/>
          </a:solidFill>
          <a:ln/>
        </p:spPr>
      </p:sp>
      <p:sp>
        <p:nvSpPr>
          <p:cNvPr id="13" name="Text 11"/>
          <p:cNvSpPr txBox="1"/>
          <p:nvPr/>
        </p:nvSpPr>
        <p:spPr>
          <a:xfrm>
            <a:off x="4599432" y="2514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4599432" y="3154680"/>
            <a:ext cx="2990088" cy="45720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La aritmética frágil</a:t>
            </a:r>
            <a:endParaRPr lang="en-US" sz="1600" dirty="0"/>
          </a:p>
        </p:txBody>
      </p:sp>
      <p:sp>
        <p:nvSpPr>
          <p:cNvPr id="15" name="Text 13"/>
          <p:cNvSpPr txBox="1"/>
          <p:nvPr/>
        </p:nvSpPr>
        <p:spPr>
          <a:xfrm>
            <a:off x="4599432" y="3657600"/>
            <a:ext cx="2990088" cy="1371600"/>
          </a:xfrm>
          <a:prstGeom prst="rect">
            <a:avLst/>
          </a:prstGeom>
          <a:noFill/>
          <a:ln/>
        </p:spPr>
        <p:txBody>
          <a:bodyPr wrap="square" lIns="0" tIns="0" rIns="0" bIns="0" rtlCol="0" anchor="ctr"/>
          <a:lstStyle/>
          <a:p>
            <a:pPr indent="0" marL="0">
              <a:lnSpc>
                <a:spcPct val="102000"/>
              </a:lnSpc>
              <a:buNone/>
            </a:pPr>
            <a:r>
              <a:rPr lang="en-US" sz="1250" dirty="0">
                <a:solidFill>
                  <a:srgbClr val="60707E"/>
                </a:solidFill>
                <a:latin typeface="Calibri" pitchFamily="34" charset="0"/>
                <a:ea typeface="Calibri" pitchFamily="34" charset="-122"/>
                <a:cs typeface="Calibri" pitchFamily="34" charset="-120"/>
              </a:rPr>
              <a:t>Código que corre puede estar numéricamente mal: da cero donde la varianza es uno. Y la IA no calcula, predice.</a:t>
            </a:r>
            <a:endParaRPr lang="en-US" sz="1250" dirty="0"/>
          </a:p>
        </p:txBody>
      </p:sp>
      <p:sp>
        <p:nvSpPr>
          <p:cNvPr id="16" name="Shape 14"/>
          <p:cNvSpPr/>
          <p:nvPr/>
        </p:nvSpPr>
        <p:spPr>
          <a:xfrm>
            <a:off x="4599432" y="4636008"/>
            <a:ext cx="2990088" cy="0"/>
          </a:xfrm>
          <a:prstGeom prst="line">
            <a:avLst/>
          </a:prstGeom>
          <a:noFill/>
          <a:ln w="9525">
            <a:solidFill>
              <a:srgbClr val="D5DCE3"/>
            </a:solidFill>
            <a:prstDash val="solid"/>
          </a:ln>
        </p:spPr>
      </p:sp>
      <p:sp>
        <p:nvSpPr>
          <p:cNvPr id="17" name="Text 15"/>
          <p:cNvSpPr txBox="1"/>
          <p:nvPr/>
        </p:nvSpPr>
        <p:spPr>
          <a:xfrm>
            <a:off x="4599432" y="4690872"/>
            <a:ext cx="2990088" cy="36576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Bloque 2</a:t>
            </a:r>
            <a:endParaRPr lang="en-US" sz="1150" dirty="0"/>
          </a:p>
        </p:txBody>
      </p:sp>
      <p:sp>
        <p:nvSpPr>
          <p:cNvPr id="18" name="Shape 16"/>
          <p:cNvSpPr/>
          <p:nvPr/>
        </p:nvSpPr>
        <p:spPr>
          <a:xfrm>
            <a:off x="8138160" y="2240280"/>
            <a:ext cx="3502152" cy="2926080"/>
          </a:xfrm>
          <a:prstGeom prst="roundRect">
            <a:avLst>
              <a:gd name="adj" fmla="val 1875"/>
            </a:avLst>
          </a:prstGeom>
          <a:solidFill>
            <a:srgbClr val="FFFFFF"/>
          </a:solidFill>
          <a:ln w="9525">
            <a:solidFill>
              <a:srgbClr val="D5DCE3"/>
            </a:solidFill>
            <a:prstDash val="solid"/>
          </a:ln>
        </p:spPr>
      </p:sp>
      <p:sp>
        <p:nvSpPr>
          <p:cNvPr id="19" name="Shape 17"/>
          <p:cNvSpPr/>
          <p:nvPr/>
        </p:nvSpPr>
        <p:spPr>
          <a:xfrm>
            <a:off x="8394192" y="2514600"/>
            <a:ext cx="502920" cy="502920"/>
          </a:xfrm>
          <a:prstGeom prst="ellipse">
            <a:avLst/>
          </a:prstGeom>
          <a:solidFill>
            <a:srgbClr val="CB5E2E"/>
          </a:solidFill>
          <a:ln/>
        </p:spPr>
      </p:sp>
      <p:sp>
        <p:nvSpPr>
          <p:cNvPr id="20" name="Text 18"/>
          <p:cNvSpPr txBox="1"/>
          <p:nvPr/>
        </p:nvSpPr>
        <p:spPr>
          <a:xfrm>
            <a:off x="8394192" y="2514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8394192" y="3154680"/>
            <a:ext cx="2990088" cy="45720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El entorno que cambió</a:t>
            </a:r>
            <a:endParaRPr lang="en-US" sz="1600" dirty="0"/>
          </a:p>
        </p:txBody>
      </p:sp>
      <p:sp>
        <p:nvSpPr>
          <p:cNvPr id="22" name="Text 20"/>
          <p:cNvSpPr txBox="1"/>
          <p:nvPr/>
        </p:nvSpPr>
        <p:spPr>
          <a:xfrm>
            <a:off x="8394192" y="3657600"/>
            <a:ext cx="2990088" cy="1371600"/>
          </a:xfrm>
          <a:prstGeom prst="rect">
            <a:avLst/>
          </a:prstGeom>
          <a:noFill/>
          <a:ln/>
        </p:spPr>
        <p:txBody>
          <a:bodyPr wrap="square" lIns="0" tIns="0" rIns="0" bIns="0" rtlCol="0" anchor="ctr"/>
          <a:lstStyle/>
          <a:p>
            <a:pPr indent="0" marL="0">
              <a:lnSpc>
                <a:spcPct val="102000"/>
              </a:lnSpc>
              <a:buNone/>
            </a:pPr>
            <a:r>
              <a:rPr lang="en-US" sz="1250" dirty="0">
                <a:solidFill>
                  <a:srgbClr val="60707E"/>
                </a:solidFill>
                <a:latin typeface="Calibri" pitchFamily="34" charset="0"/>
                <a:ea typeface="Calibri" pitchFamily="34" charset="-122"/>
                <a:cs typeface="Calibri" pitchFamily="34" charset="-120"/>
              </a:rPr>
              <a:t>Otra versión de un paquete, u otra corrida del asistente, cambia el resultado. Se fija el flujo, no el prompt.</a:t>
            </a:r>
            <a:endParaRPr lang="en-US" sz="1250" dirty="0"/>
          </a:p>
        </p:txBody>
      </p:sp>
      <p:sp>
        <p:nvSpPr>
          <p:cNvPr id="23" name="Shape 21"/>
          <p:cNvSpPr/>
          <p:nvPr/>
        </p:nvSpPr>
        <p:spPr>
          <a:xfrm>
            <a:off x="8394192" y="4636008"/>
            <a:ext cx="2990088" cy="0"/>
          </a:xfrm>
          <a:prstGeom prst="line">
            <a:avLst/>
          </a:prstGeom>
          <a:noFill/>
          <a:ln w="9525">
            <a:solidFill>
              <a:srgbClr val="D5DCE3"/>
            </a:solidFill>
            <a:prstDash val="solid"/>
          </a:ln>
        </p:spPr>
      </p:sp>
      <p:sp>
        <p:nvSpPr>
          <p:cNvPr id="24" name="Text 22"/>
          <p:cNvSpPr txBox="1"/>
          <p:nvPr/>
        </p:nvSpPr>
        <p:spPr>
          <a:xfrm>
            <a:off x="8394192" y="4690872"/>
            <a:ext cx="2990088" cy="36576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Bloque 3</a:t>
            </a:r>
            <a:endParaRPr lang="en-US" sz="1150" dirty="0"/>
          </a:p>
        </p:txBody>
      </p:sp>
      <p:sp>
        <p:nvSpPr>
          <p:cNvPr id="25" name="Shape 23"/>
          <p:cNvSpPr/>
          <p:nvPr/>
        </p:nvSpPr>
        <p:spPr>
          <a:xfrm>
            <a:off x="548640" y="6053328"/>
            <a:ext cx="11091672" cy="603504"/>
          </a:xfrm>
          <a:prstGeom prst="rect">
            <a:avLst/>
          </a:prstGeom>
          <a:solidFill>
            <a:srgbClr val="FBEEE5"/>
          </a:solidFill>
          <a:ln/>
        </p:spPr>
      </p:sp>
      <p:sp>
        <p:nvSpPr>
          <p:cNvPr id="26" name="Shape 24"/>
          <p:cNvSpPr/>
          <p:nvPr/>
        </p:nvSpPr>
        <p:spPr>
          <a:xfrm>
            <a:off x="749808" y="6272784"/>
            <a:ext cx="164592" cy="164592"/>
          </a:xfrm>
          <a:prstGeom prst="roundRect">
            <a:avLst>
              <a:gd name="adj" fmla="val 22222"/>
            </a:avLst>
          </a:prstGeom>
          <a:solidFill>
            <a:srgbClr val="CB5E2E"/>
          </a:solidFill>
          <a:ln/>
        </p:spPr>
      </p:sp>
      <p:sp>
        <p:nvSpPr>
          <p:cNvPr id="27" name="Text 2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Hoy hicieron un estimado defendible. Reproducible es que dé lo mismo otra vez, para otra persona, en otra máquina. Eso se construye, no se asume.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entorno reproducible: el notebook</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Antes de las tres amenazas, dónde vive un flujo reproducible: un documento que junta código, resultado y explicación, y corre de arriba a abajo.</a:t>
            </a:r>
            <a:endParaRPr lang="en-US" sz="1400" dirty="0"/>
          </a:p>
        </p:txBody>
      </p:sp>
      <p:sp>
        <p:nvSpPr>
          <p:cNvPr id="4" name="Shape 2"/>
          <p:cNvSpPr/>
          <p:nvPr/>
        </p:nvSpPr>
        <p:spPr>
          <a:xfrm>
            <a:off x="548640" y="1920240"/>
            <a:ext cx="3502152" cy="1828800"/>
          </a:xfrm>
          <a:prstGeom prst="roundRect">
            <a:avLst>
              <a:gd name="adj" fmla="val 3000"/>
            </a:avLst>
          </a:prstGeom>
          <a:solidFill>
            <a:srgbClr val="EEF2F5"/>
          </a:solidFill>
          <a:ln w="9525">
            <a:solidFill>
              <a:srgbClr val="D5DCE3"/>
            </a:solidFill>
            <a:prstDash val="solid"/>
          </a:ln>
        </p:spPr>
      </p:sp>
      <p:sp>
        <p:nvSpPr>
          <p:cNvPr id="5" name="Text 3"/>
          <p:cNvSpPr txBox="1"/>
          <p:nvPr/>
        </p:nvSpPr>
        <p:spPr>
          <a:xfrm>
            <a:off x="777240" y="2103120"/>
            <a:ext cx="3044952" cy="41148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Un solo documento</a:t>
            </a:r>
            <a:endParaRPr lang="en-US" sz="1500" dirty="0"/>
          </a:p>
        </p:txBody>
      </p:sp>
      <p:sp>
        <p:nvSpPr>
          <p:cNvPr id="6" name="Text 4"/>
          <p:cNvSpPr txBox="1"/>
          <p:nvPr/>
        </p:nvSpPr>
        <p:spPr>
          <a:xfrm>
            <a:off x="77724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Código, resultado y explicación en un mismo archivo. En R es R Markdown; en Python, Jupyter o Colab.</a:t>
            </a:r>
            <a:endParaRPr lang="en-US" sz="1250" dirty="0"/>
          </a:p>
        </p:txBody>
      </p:sp>
      <p:sp>
        <p:nvSpPr>
          <p:cNvPr id="7" name="Shape 5"/>
          <p:cNvSpPr/>
          <p:nvPr/>
        </p:nvSpPr>
        <p:spPr>
          <a:xfrm>
            <a:off x="4343400" y="1920240"/>
            <a:ext cx="3502152" cy="1828800"/>
          </a:xfrm>
          <a:prstGeom prst="roundRect">
            <a:avLst>
              <a:gd name="adj" fmla="val 3000"/>
            </a:avLst>
          </a:prstGeom>
          <a:solidFill>
            <a:srgbClr val="E7F2EA"/>
          </a:solidFill>
          <a:ln w="9525">
            <a:solidFill>
              <a:srgbClr val="D5DCE3"/>
            </a:solidFill>
            <a:prstDash val="solid"/>
          </a:ln>
        </p:spPr>
      </p:sp>
      <p:sp>
        <p:nvSpPr>
          <p:cNvPr id="8" name="Text 6"/>
          <p:cNvSpPr txBox="1"/>
          <p:nvPr/>
        </p:nvSpPr>
        <p:spPr>
          <a:xfrm>
            <a:off x="4572000" y="2103120"/>
            <a:ext cx="3044952" cy="411480"/>
          </a:xfrm>
          <a:prstGeom prst="rect">
            <a:avLst/>
          </a:prstGeom>
          <a:noFill/>
          <a:ln/>
        </p:spPr>
        <p:txBody>
          <a:bodyPr wrap="square" lIns="0" tIns="0" rIns="0" bIns="0" rtlCol="0" anchor="ctr"/>
          <a:lstStyle/>
          <a:p>
            <a:pPr indent="0" marL="0">
              <a:buNone/>
            </a:pPr>
            <a:r>
              <a:rPr lang="en-US" sz="1500" b="1" dirty="0">
                <a:solidFill>
                  <a:srgbClr val="2E6E49"/>
                </a:solidFill>
                <a:latin typeface="Calibri" pitchFamily="34" charset="0"/>
                <a:ea typeface="Calibri" pitchFamily="34" charset="-122"/>
                <a:cs typeface="Calibri" pitchFamily="34" charset="-120"/>
              </a:rPr>
              <a:t>Se corre entero</a:t>
            </a:r>
            <a:endParaRPr lang="en-US" sz="1500" dirty="0"/>
          </a:p>
        </p:txBody>
      </p:sp>
      <p:sp>
        <p:nvSpPr>
          <p:cNvPr id="9" name="Text 7"/>
          <p:cNvSpPr txBox="1"/>
          <p:nvPr/>
        </p:nvSpPr>
        <p:spPr>
          <a:xfrm>
            <a:off x="457200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No es un lugar para escribir código: es un registro que se vuelve a correr de la primera celda a la última.</a:t>
            </a:r>
            <a:endParaRPr lang="en-US" sz="1250" dirty="0"/>
          </a:p>
        </p:txBody>
      </p:sp>
      <p:sp>
        <p:nvSpPr>
          <p:cNvPr id="10" name="Shape 8"/>
          <p:cNvSpPr/>
          <p:nvPr/>
        </p:nvSpPr>
        <p:spPr>
          <a:xfrm>
            <a:off x="8138160" y="1920240"/>
            <a:ext cx="3502152" cy="1828800"/>
          </a:xfrm>
          <a:prstGeom prst="roundRect">
            <a:avLst>
              <a:gd name="adj" fmla="val 3000"/>
            </a:avLst>
          </a:prstGeom>
          <a:solidFill>
            <a:srgbClr val="FCF3DD"/>
          </a:solidFill>
          <a:ln w="9525">
            <a:solidFill>
              <a:srgbClr val="D5DCE3"/>
            </a:solidFill>
            <a:prstDash val="solid"/>
          </a:ln>
        </p:spPr>
      </p:sp>
      <p:sp>
        <p:nvSpPr>
          <p:cNvPr id="11" name="Text 9"/>
          <p:cNvSpPr txBox="1"/>
          <p:nvPr/>
        </p:nvSpPr>
        <p:spPr>
          <a:xfrm>
            <a:off x="8366760" y="2103120"/>
            <a:ext cx="3044952" cy="411480"/>
          </a:xfrm>
          <a:prstGeom prst="rect">
            <a:avLst/>
          </a:prstGeom>
          <a:noFill/>
          <a:ln/>
        </p:spPr>
        <p:txBody>
          <a:bodyPr wrap="square" lIns="0" tIns="0" rIns="0" bIns="0" rtlCol="0" anchor="ctr"/>
          <a:lstStyle/>
          <a:p>
            <a:pPr indent="0" marL="0">
              <a:buNone/>
            </a:pPr>
            <a:r>
              <a:rPr lang="en-US" sz="1500" b="1" dirty="0">
                <a:solidFill>
                  <a:srgbClr val="8A6D1F"/>
                </a:solidFill>
                <a:latin typeface="Calibri" pitchFamily="34" charset="0"/>
                <a:ea typeface="Calibri" pitchFamily="34" charset="-122"/>
                <a:cs typeface="Calibri" pitchFamily="34" charset="-120"/>
              </a:rPr>
              <a:t>Dónde corre</a:t>
            </a:r>
            <a:endParaRPr lang="en-US" sz="1500" dirty="0"/>
          </a:p>
        </p:txBody>
      </p:sp>
      <p:sp>
        <p:nvSpPr>
          <p:cNvPr id="12" name="Text 10"/>
          <p:cNvSpPr txBox="1"/>
          <p:nvPr/>
        </p:nvSpPr>
        <p:spPr>
          <a:xfrm>
            <a:off x="836676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R Markdown y Jupyter, en tu máquina. Colab, en la nube: y ahí el microdato real no sube, por el semáforo de datos.</a:t>
            </a:r>
            <a:endParaRPr lang="en-US" sz="1250" dirty="0"/>
          </a:p>
        </p:txBody>
      </p:sp>
      <p:sp>
        <p:nvSpPr>
          <p:cNvPr id="13" name="Shape 11"/>
          <p:cNvSpPr/>
          <p:nvPr/>
        </p:nvSpPr>
        <p:spPr>
          <a:xfrm>
            <a:off x="548640" y="4023360"/>
            <a:ext cx="11091672" cy="1371600"/>
          </a:xfrm>
          <a:prstGeom prst="roundRect">
            <a:avLst>
              <a:gd name="adj" fmla="val 4000"/>
            </a:avLst>
          </a:prstGeom>
          <a:solidFill>
            <a:srgbClr val="15293B"/>
          </a:solidFill>
          <a:ln w="9525">
            <a:solidFill>
              <a:srgbClr val="D5DCE3"/>
            </a:solidFill>
            <a:prstDash val="solid"/>
          </a:ln>
        </p:spPr>
      </p:sp>
      <p:sp>
        <p:nvSpPr>
          <p:cNvPr id="14" name="Text 12"/>
          <p:cNvSpPr txBox="1"/>
          <p:nvPr/>
        </p:nvSpPr>
        <p:spPr>
          <a:xfrm>
            <a:off x="868680" y="4187952"/>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El contenedor de un análisis que se puede volver a correr</a:t>
            </a:r>
            <a:endParaRPr lang="en-US" sz="1500" dirty="0"/>
          </a:p>
        </p:txBody>
      </p:sp>
      <p:sp>
        <p:nvSpPr>
          <p:cNvPr id="15" name="Text 13"/>
          <p:cNvSpPr txBox="1"/>
          <p:nvPr/>
        </p:nvSpPr>
        <p:spPr>
          <a:xfrm>
            <a:off x="868680" y="4572000"/>
            <a:ext cx="10451592" cy="77724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El notebook guarda el cálculo, su resultado y su explicación juntos, y corre entero. Eso es lo que hace que otro evaluador pueda repetir el análisis, no solo leer el número. Es el contenedor; las tres amenazas de hoy son lo que puede romper la reproducibilidad dentro de él.</a:t>
            </a:r>
            <a:endParaRPr lang="en-US" sz="1300" dirty="0"/>
          </a:p>
        </p:txBody>
      </p:sp>
      <p:sp>
        <p:nvSpPr>
          <p:cNvPr id="16" name="Shape 14"/>
          <p:cNvSpPr/>
          <p:nvPr/>
        </p:nvSpPr>
        <p:spPr>
          <a:xfrm>
            <a:off x="548640" y="6053328"/>
            <a:ext cx="11091672" cy="603504"/>
          </a:xfrm>
          <a:prstGeom prst="rect">
            <a:avLst/>
          </a:prstGeom>
          <a:solidFill>
            <a:srgbClr val="FBEEE5"/>
          </a:solidFill>
          <a:ln/>
        </p:spPr>
      </p:sp>
      <p:sp>
        <p:nvSpPr>
          <p:cNvPr id="17" name="Shape 15"/>
          <p:cNvSpPr/>
          <p:nvPr/>
        </p:nvSpPr>
        <p:spPr>
          <a:xfrm>
            <a:off x="749808" y="6272784"/>
            <a:ext cx="164592" cy="164592"/>
          </a:xfrm>
          <a:prstGeom prst="roundRect">
            <a:avLst>
              <a:gd name="adj" fmla="val 22222"/>
            </a:avLst>
          </a:prstGeom>
          <a:solidFill>
            <a:srgbClr val="CB5E2E"/>
          </a:solidFill>
          <a:ln/>
        </p:spPr>
      </p:sp>
      <p:sp>
        <p:nvSpPr>
          <p:cNvPr id="18" name="Text 16"/>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Ya usaron uno en las sesiones 7 y 8: sus tareas en R Markdown son notebooks. Hoy vemos qué lo hace de verdad reproducible.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Dónde vive el agente de código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Un agente que hace análisis no solo escribe el código: lo corre y entrega el número terminado. Es lo más útil del módulo y lo más fácil de creerle de más.</a:t>
            </a:r>
            <a:endParaRPr lang="en-US" sz="1400" dirty="0"/>
          </a:p>
        </p:txBody>
      </p:sp>
      <p:sp>
        <p:nvSpPr>
          <p:cNvPr id="4" name="Shape 2"/>
          <p:cNvSpPr/>
          <p:nvPr/>
        </p:nvSpPr>
        <p:spPr>
          <a:xfrm>
            <a:off x="548640" y="1920240"/>
            <a:ext cx="5394960" cy="2148840"/>
          </a:xfrm>
          <a:prstGeom prst="roundRect">
            <a:avLst>
              <a:gd name="adj" fmla="val 2553"/>
            </a:avLst>
          </a:prstGeom>
          <a:solidFill>
            <a:srgbClr val="F9E7E3"/>
          </a:solidFill>
          <a:ln w="9525">
            <a:solidFill>
              <a:srgbClr val="D5DCE3"/>
            </a:solidFill>
            <a:prstDash val="solid"/>
          </a:ln>
        </p:spPr>
      </p:sp>
      <p:sp>
        <p:nvSpPr>
          <p:cNvPr id="5" name="Text 3"/>
          <p:cNvSpPr txBox="1"/>
          <p:nvPr/>
        </p:nvSpPr>
        <p:spPr>
          <a:xfrm>
            <a:off x="822960" y="2103120"/>
            <a:ext cx="4846320" cy="320040"/>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EN UN CHAT, A SOLAS</a:t>
            </a:r>
            <a:endParaRPr lang="en-US" sz="1200" dirty="0"/>
          </a:p>
        </p:txBody>
      </p:sp>
      <p:sp>
        <p:nvSpPr>
          <p:cNvPr id="6" name="Text 4"/>
          <p:cNvSpPr txBox="1"/>
          <p:nvPr/>
        </p:nvSpPr>
        <p:spPr>
          <a:xfrm>
            <a:off x="822960" y="2450592"/>
            <a:ext cx="4846320"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Te da el número, no el cómo</a:t>
            </a:r>
            <a:endParaRPr lang="en-US" sz="1500" dirty="0"/>
          </a:p>
        </p:txBody>
      </p:sp>
      <p:sp>
        <p:nvSpPr>
          <p:cNvPr id="7" name="Text 5"/>
          <p:cNvSpPr txBox="1"/>
          <p:nvPr/>
        </p:nvSpPr>
        <p:spPr>
          <a:xfrm>
            <a:off x="822960" y="2944368"/>
            <a:ext cx="4846320"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Ves una cifra terminada y una explicación en prosa. No ves qué columna tomó ni qué hizo con lo inválido, ni puedes volver a correrlo. La caja es negra.</a:t>
            </a:r>
            <a:endParaRPr lang="en-US" sz="1250" dirty="0"/>
          </a:p>
        </p:txBody>
      </p:sp>
      <p:sp>
        <p:nvSpPr>
          <p:cNvPr id="8" name="Shape 6"/>
          <p:cNvSpPr/>
          <p:nvPr/>
        </p:nvSpPr>
        <p:spPr>
          <a:xfrm>
            <a:off x="6245352" y="1920240"/>
            <a:ext cx="5394960" cy="2148840"/>
          </a:xfrm>
          <a:prstGeom prst="roundRect">
            <a:avLst>
              <a:gd name="adj" fmla="val 2553"/>
            </a:avLst>
          </a:prstGeom>
          <a:solidFill>
            <a:srgbClr val="E7F2EA"/>
          </a:solidFill>
          <a:ln w="9525">
            <a:solidFill>
              <a:srgbClr val="D5DCE3"/>
            </a:solidFill>
            <a:prstDash val="solid"/>
          </a:ln>
        </p:spPr>
      </p:sp>
      <p:sp>
        <p:nvSpPr>
          <p:cNvPr id="9" name="Text 7"/>
          <p:cNvSpPr txBox="1"/>
          <p:nvPr/>
        </p:nvSpPr>
        <p:spPr>
          <a:xfrm>
            <a:off x="6519672" y="2103120"/>
            <a:ext cx="4846320" cy="320040"/>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DENTRO DEL NOTEBOOK</a:t>
            </a:r>
            <a:endParaRPr lang="en-US" sz="1200" dirty="0"/>
          </a:p>
        </p:txBody>
      </p:sp>
      <p:sp>
        <p:nvSpPr>
          <p:cNvPr id="10" name="Text 8"/>
          <p:cNvSpPr txBox="1"/>
          <p:nvPr/>
        </p:nvSpPr>
        <p:spPr>
          <a:xfrm>
            <a:off x="6519672" y="2450592"/>
            <a:ext cx="4846320"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Te da el código que corrió</a:t>
            </a:r>
            <a:endParaRPr lang="en-US" sz="1500" dirty="0"/>
          </a:p>
        </p:txBody>
      </p:sp>
      <p:sp>
        <p:nvSpPr>
          <p:cNvPr id="11" name="Text 9"/>
          <p:cNvSpPr txBox="1"/>
          <p:nvPr/>
        </p:nvSpPr>
        <p:spPr>
          <a:xfrm>
            <a:off x="6519672" y="2944368"/>
            <a:ext cx="4846320"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agente escribe y ejecuta el código en celdas que quedan a la vista. Lo puedes leer, cambiar y volver a correr. La caja negra se vuelve auditable.</a:t>
            </a:r>
            <a:endParaRPr lang="en-US" sz="1250" dirty="0"/>
          </a:p>
        </p:txBody>
      </p:sp>
      <p:sp>
        <p:nvSpPr>
          <p:cNvPr id="12" name="Shape 10"/>
          <p:cNvSpPr/>
          <p:nvPr/>
        </p:nvSpPr>
        <p:spPr>
          <a:xfrm>
            <a:off x="548640" y="4297680"/>
            <a:ext cx="11091672" cy="1371600"/>
          </a:xfrm>
          <a:prstGeom prst="roundRect">
            <a:avLst>
              <a:gd name="adj" fmla="val 4000"/>
            </a:avLst>
          </a:prstGeom>
          <a:solidFill>
            <a:srgbClr val="15293B"/>
          </a:solidFill>
          <a:ln/>
        </p:spPr>
      </p:sp>
      <p:sp>
        <p:nvSpPr>
          <p:cNvPr id="13" name="Text 11"/>
          <p:cNvSpPr txBox="1"/>
          <p:nvPr/>
        </p:nvSpPr>
        <p:spPr>
          <a:xfrm>
            <a:off x="868680" y="446227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Ayudante para el trabajo, no para el juicio</a:t>
            </a:r>
            <a:endParaRPr lang="en-US" sz="1600" dirty="0"/>
          </a:p>
        </p:txBody>
      </p:sp>
      <p:sp>
        <p:nvSpPr>
          <p:cNvPr id="14" name="Text 12"/>
          <p:cNvSpPr txBox="1"/>
          <p:nvPr/>
        </p:nvSpPr>
        <p:spPr>
          <a:xfrm>
            <a:off x="868680" y="4846320"/>
            <a:ext cx="10451592" cy="777240"/>
          </a:xfrm>
          <a:prstGeom prst="rect">
            <a:avLst/>
          </a:prstGeom>
          <a:noFill/>
          <a:ln/>
        </p:spPr>
        <p:txBody>
          <a:bodyPr wrap="square" lIns="0" tIns="0" rIns="0" bIns="0" rtlCol="0" anchor="ctr"/>
          <a:lstStyle/>
          <a:p>
            <a:pPr indent="0" marL="0">
              <a:lnSpc>
                <a:spcPct val="105000"/>
              </a:lnSpc>
              <a:buNone/>
            </a:pPr>
            <a:r>
              <a:rPr lang="en-US" sz="1250" dirty="0">
                <a:solidFill>
                  <a:srgbClr val="E4EAF0"/>
                </a:solidFill>
                <a:latin typeface="Calibri" pitchFamily="34" charset="0"/>
                <a:ea typeface="Calibri" pitchFamily="34" charset="-122"/>
                <a:cs typeface="Calibri" pitchFamily="34" charset="-120"/>
              </a:rPr>
              <a:t>Úsenlo para lo mecánico: explorar, limpiar, graficar, probar enfoques. El juicio sigue siendo suyo: qué limpieza es correcta, si el diseño se respeta, si el número tiene sentido para la política. El entorno reproducible es lo que convierte al agente de caja negra en algo revisable, que es justo lo que harán en el laboratorio de la Sesión 9.</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1</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El azar sin fijar: la semilla</a:t>
            </a:r>
            <a:endParaRPr lang="en-US" sz="2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azar necesita una semilla para reproducirse</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Todo método que remuestrea o simula usa números aleatorios. Sin fijar el punto de partida, no hay dos corridas iguales.</a:t>
            </a:r>
            <a:endParaRPr lang="en-US" sz="1400" dirty="0"/>
          </a:p>
        </p:txBody>
      </p:sp>
      <p:sp>
        <p:nvSpPr>
          <p:cNvPr id="4" name="Shape 2"/>
          <p:cNvSpPr/>
          <p:nvPr/>
        </p:nvSpPr>
        <p:spPr>
          <a:xfrm>
            <a:off x="548640" y="1920240"/>
            <a:ext cx="3502152" cy="1828800"/>
          </a:xfrm>
          <a:prstGeom prst="roundRect">
            <a:avLst>
              <a:gd name="adj" fmla="val 3000"/>
            </a:avLst>
          </a:prstGeom>
          <a:solidFill>
            <a:srgbClr val="EEF2F5"/>
          </a:solidFill>
          <a:ln w="9525">
            <a:solidFill>
              <a:srgbClr val="D5DCE3"/>
            </a:solidFill>
            <a:prstDash val="solid"/>
          </a:ln>
        </p:spPr>
      </p:sp>
      <p:sp>
        <p:nvSpPr>
          <p:cNvPr id="5" name="Text 3"/>
          <p:cNvSpPr txBox="1"/>
          <p:nvPr/>
        </p:nvSpPr>
        <p:spPr>
          <a:xfrm>
            <a:off x="777240" y="2103120"/>
            <a:ext cx="3044952" cy="411480"/>
          </a:xfrm>
          <a:prstGeom prst="rect">
            <a:avLst/>
          </a:prstGeom>
          <a:noFill/>
          <a:ln/>
        </p:spPr>
        <p:txBody>
          <a:bodyPr wrap="square" lIns="0" tIns="0" rIns="0" bIns="0" rtlCol="0" anchor="ctr"/>
          <a:lstStyle/>
          <a:p>
            <a:pPr indent="0" marL="0">
              <a:buNone/>
            </a:pPr>
            <a:r>
              <a:rPr lang="en-US" sz="1550" b="1" dirty="0">
                <a:solidFill>
                  <a:srgbClr val="1E2A35"/>
                </a:solidFill>
                <a:latin typeface="Calibri" pitchFamily="34" charset="0"/>
                <a:ea typeface="Calibri" pitchFamily="34" charset="-122"/>
                <a:cs typeface="Calibri" pitchFamily="34" charset="-120"/>
              </a:rPr>
              <a:t>Dónde aparece</a:t>
            </a:r>
            <a:endParaRPr lang="en-US" sz="1550" dirty="0"/>
          </a:p>
        </p:txBody>
      </p:sp>
      <p:sp>
        <p:nvSpPr>
          <p:cNvPr id="6" name="Text 4"/>
          <p:cNvSpPr txBox="1"/>
          <p:nvPr/>
        </p:nvSpPr>
        <p:spPr>
          <a:xfrm>
            <a:off x="77724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Bootstrap, validación cruzada, simulación, bosques aleatorios. Justo como se calculan muchos errores estándar de la Sesión 7.</a:t>
            </a:r>
            <a:endParaRPr lang="en-US" sz="1250" dirty="0"/>
          </a:p>
        </p:txBody>
      </p:sp>
      <p:sp>
        <p:nvSpPr>
          <p:cNvPr id="7" name="Shape 5"/>
          <p:cNvSpPr/>
          <p:nvPr/>
        </p:nvSpPr>
        <p:spPr>
          <a:xfrm>
            <a:off x="4343400" y="1920240"/>
            <a:ext cx="3502152" cy="1828800"/>
          </a:xfrm>
          <a:prstGeom prst="roundRect">
            <a:avLst>
              <a:gd name="adj" fmla="val 3000"/>
            </a:avLst>
          </a:prstGeom>
          <a:solidFill>
            <a:srgbClr val="E7F2EA"/>
          </a:solidFill>
          <a:ln w="9525">
            <a:solidFill>
              <a:srgbClr val="D5DCE3"/>
            </a:solidFill>
            <a:prstDash val="solid"/>
          </a:ln>
        </p:spPr>
      </p:sp>
      <p:sp>
        <p:nvSpPr>
          <p:cNvPr id="8" name="Text 6"/>
          <p:cNvSpPr txBox="1"/>
          <p:nvPr/>
        </p:nvSpPr>
        <p:spPr>
          <a:xfrm>
            <a:off x="4572000" y="2103120"/>
            <a:ext cx="3044952" cy="411480"/>
          </a:xfrm>
          <a:prstGeom prst="rect">
            <a:avLst/>
          </a:prstGeom>
          <a:noFill/>
          <a:ln/>
        </p:spPr>
        <p:txBody>
          <a:bodyPr wrap="square" lIns="0" tIns="0" rIns="0" bIns="0" rtlCol="0" anchor="ctr"/>
          <a:lstStyle/>
          <a:p>
            <a:pPr indent="0" marL="0">
              <a:buNone/>
            </a:pPr>
            <a:r>
              <a:rPr lang="en-US" sz="1550" b="1" dirty="0">
                <a:solidFill>
                  <a:srgbClr val="2E6E49"/>
                </a:solidFill>
                <a:latin typeface="Calibri" pitchFamily="34" charset="0"/>
                <a:ea typeface="Calibri" pitchFamily="34" charset="-122"/>
                <a:cs typeface="Calibri" pitchFamily="34" charset="-120"/>
              </a:rPr>
              <a:t>Qué es la semilla</a:t>
            </a:r>
            <a:endParaRPr lang="en-US" sz="1550" dirty="0"/>
          </a:p>
        </p:txBody>
      </p:sp>
      <p:sp>
        <p:nvSpPr>
          <p:cNvPr id="9" name="Text 7"/>
          <p:cNvSpPr txBox="1"/>
          <p:nvPr/>
        </p:nvSpPr>
        <p:spPr>
          <a:xfrm>
            <a:off x="457200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set.seed(n) fija el punto de partida del generador. Con ella, el azar es el mismo cada vez, para cualquiera.</a:t>
            </a:r>
            <a:endParaRPr lang="en-US" sz="1250" dirty="0"/>
          </a:p>
        </p:txBody>
      </p:sp>
      <p:sp>
        <p:nvSpPr>
          <p:cNvPr id="10" name="Shape 8"/>
          <p:cNvSpPr/>
          <p:nvPr/>
        </p:nvSpPr>
        <p:spPr>
          <a:xfrm>
            <a:off x="8138160" y="1920240"/>
            <a:ext cx="3502152" cy="1828800"/>
          </a:xfrm>
          <a:prstGeom prst="roundRect">
            <a:avLst>
              <a:gd name="adj" fmla="val 3000"/>
            </a:avLst>
          </a:prstGeom>
          <a:solidFill>
            <a:srgbClr val="F9E7E3"/>
          </a:solidFill>
          <a:ln w="9525">
            <a:solidFill>
              <a:srgbClr val="D5DCE3"/>
            </a:solidFill>
            <a:prstDash val="solid"/>
          </a:ln>
        </p:spPr>
      </p:sp>
      <p:sp>
        <p:nvSpPr>
          <p:cNvPr id="11" name="Text 9"/>
          <p:cNvSpPr txBox="1"/>
          <p:nvPr/>
        </p:nvSpPr>
        <p:spPr>
          <a:xfrm>
            <a:off x="8366760" y="2103120"/>
            <a:ext cx="3044952" cy="411480"/>
          </a:xfrm>
          <a:prstGeom prst="rect">
            <a:avLst/>
          </a:prstGeom>
          <a:noFill/>
          <a:ln/>
        </p:spPr>
        <p:txBody>
          <a:bodyPr wrap="square" lIns="0" tIns="0" rIns="0" bIns="0" rtlCol="0" anchor="ctr"/>
          <a:lstStyle/>
          <a:p>
            <a:pPr indent="0" marL="0">
              <a:buNone/>
            </a:pPr>
            <a:r>
              <a:rPr lang="en-US" sz="1550" b="1" dirty="0">
                <a:solidFill>
                  <a:srgbClr val="A23B22"/>
                </a:solidFill>
                <a:latin typeface="Calibri" pitchFamily="34" charset="0"/>
                <a:ea typeface="Calibri" pitchFamily="34" charset="-122"/>
                <a:cs typeface="Calibri" pitchFamily="34" charset="-120"/>
              </a:rPr>
              <a:t>La trampa</a:t>
            </a:r>
            <a:endParaRPr lang="en-US" sz="1550" dirty="0"/>
          </a:p>
        </p:txBody>
      </p:sp>
      <p:sp>
        <p:nvSpPr>
          <p:cNvPr id="12" name="Text 10"/>
          <p:cNvSpPr txBox="1"/>
          <p:nvPr/>
        </p:nvSpPr>
        <p:spPr>
          <a:xfrm>
            <a:off x="836676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Si falta la semilla, el código corre pero el número de hoy no es el de mañana. Revisa que el asistente la haya puesto.</a:t>
            </a:r>
            <a:endParaRPr lang="en-US" sz="1250" dirty="0"/>
          </a:p>
        </p:txBody>
      </p:sp>
      <p:sp>
        <p:nvSpPr>
          <p:cNvPr id="13" name="Shape 11"/>
          <p:cNvSpPr/>
          <p:nvPr/>
        </p:nvSpPr>
        <p:spPr>
          <a:xfrm>
            <a:off x="548640" y="4023360"/>
            <a:ext cx="11091672" cy="1371600"/>
          </a:xfrm>
          <a:prstGeom prst="roundRect">
            <a:avLst>
              <a:gd name="adj" fmla="val 4000"/>
            </a:avLst>
          </a:prstGeom>
          <a:solidFill>
            <a:srgbClr val="15293B"/>
          </a:solidFill>
          <a:ln w="9525">
            <a:solidFill>
              <a:srgbClr val="D5DCE3"/>
            </a:solidFill>
            <a:prstDash val="solid"/>
          </a:ln>
        </p:spPr>
      </p:sp>
      <p:sp>
        <p:nvSpPr>
          <p:cNvPr id="14" name="Text 12"/>
          <p:cNvSpPr txBox="1"/>
          <p:nvPr/>
        </p:nvSpPr>
        <p:spPr>
          <a:xfrm>
            <a:off x="868680" y="4187952"/>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La semilla no cambia el método, cambia si se puede repetir</a:t>
            </a:r>
            <a:endParaRPr lang="en-US" sz="1500" dirty="0"/>
          </a:p>
        </p:txBody>
      </p:sp>
      <p:sp>
        <p:nvSpPr>
          <p:cNvPr id="15" name="Text 13"/>
          <p:cNvSpPr txBox="1"/>
          <p:nvPr/>
        </p:nvSpPr>
        <p:spPr>
          <a:xfrm>
            <a:off x="868680" y="4572000"/>
            <a:ext cx="10451592" cy="77724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Fijar la semilla no hace el bootstrap más correcto ni menos; lo hace reproducible. Dos personas con el mismo dato, el mismo código y la misma semilla obtienen el mismo intervalo. Sin semilla, cada quien reporta un número ligeramente distinto, y ninguno puede rehacer el del otro.</a:t>
            </a:r>
            <a:endParaRPr lang="en-US" sz="1300" dirty="0"/>
          </a:p>
        </p:txBody>
      </p:sp>
      <p:sp>
        <p:nvSpPr>
          <p:cNvPr id="16" name="Shape 14"/>
          <p:cNvSpPr/>
          <p:nvPr/>
        </p:nvSpPr>
        <p:spPr>
          <a:xfrm>
            <a:off x="548640" y="6053328"/>
            <a:ext cx="11091672" cy="603504"/>
          </a:xfrm>
          <a:prstGeom prst="rect">
            <a:avLst/>
          </a:prstGeom>
          <a:solidFill>
            <a:srgbClr val="FBEEE5"/>
          </a:solidFill>
          <a:ln/>
        </p:spPr>
      </p:sp>
      <p:sp>
        <p:nvSpPr>
          <p:cNvPr id="17" name="Shape 15"/>
          <p:cNvSpPr/>
          <p:nvPr/>
        </p:nvSpPr>
        <p:spPr>
          <a:xfrm>
            <a:off x="749808" y="6272784"/>
            <a:ext cx="164592" cy="164592"/>
          </a:xfrm>
          <a:prstGeom prst="roundRect">
            <a:avLst>
              <a:gd name="adj" fmla="val 22222"/>
            </a:avLst>
          </a:prstGeom>
          <a:solidFill>
            <a:srgbClr val="CB5E2E"/>
          </a:solidFill>
          <a:ln/>
        </p:spPr>
      </p:sp>
      <p:sp>
        <p:nvSpPr>
          <p:cNvPr id="18" name="Text 16"/>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Regla simple: si el código usa azar, la primera línea fija la semilla. Si no la ves, el resultado no es reproducible.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mismo bootstrap, distinta semilla, distinto número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Error estándar del efecto del programa por remuestreo, sobre el microdato de la Sesión 7. Mismo código, mismo dato, solo cambia la semilla.</a:t>
            </a:r>
            <a:endParaRPr lang="en-US" sz="1400" dirty="0"/>
          </a:p>
        </p:txBody>
      </p:sp>
      <p:sp>
        <p:nvSpPr>
          <p:cNvPr id="4" name="Shape 2"/>
          <p:cNvSpPr/>
          <p:nvPr/>
        </p:nvSpPr>
        <p:spPr>
          <a:xfrm>
            <a:off x="548640" y="1828800"/>
            <a:ext cx="2743200" cy="420624"/>
          </a:xfrm>
          <a:prstGeom prst="rect">
            <a:avLst/>
          </a:prstGeom>
          <a:solidFill>
            <a:srgbClr val="15293B"/>
          </a:solidFill>
          <a:ln w="6350">
            <a:solidFill>
              <a:srgbClr val="FFFFFF"/>
            </a:solidFill>
            <a:prstDash val="solid"/>
          </a:ln>
        </p:spPr>
      </p:sp>
      <p:sp>
        <p:nvSpPr>
          <p:cNvPr id="5" name="Text 3"/>
          <p:cNvSpPr txBox="1"/>
          <p:nvPr/>
        </p:nvSpPr>
        <p:spPr>
          <a:xfrm>
            <a:off x="548640" y="1828800"/>
            <a:ext cx="27432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Semilla</a:t>
            </a:r>
            <a:endParaRPr lang="en-US" sz="1200" dirty="0"/>
          </a:p>
        </p:txBody>
      </p:sp>
      <p:sp>
        <p:nvSpPr>
          <p:cNvPr id="6" name="Shape 4"/>
          <p:cNvSpPr/>
          <p:nvPr/>
        </p:nvSpPr>
        <p:spPr>
          <a:xfrm>
            <a:off x="3291840" y="1828800"/>
            <a:ext cx="2926080" cy="420624"/>
          </a:xfrm>
          <a:prstGeom prst="rect">
            <a:avLst/>
          </a:prstGeom>
          <a:solidFill>
            <a:srgbClr val="15293B"/>
          </a:solidFill>
          <a:ln w="6350">
            <a:solidFill>
              <a:srgbClr val="FFFFFF"/>
            </a:solidFill>
            <a:prstDash val="solid"/>
          </a:ln>
        </p:spPr>
      </p:sp>
      <p:sp>
        <p:nvSpPr>
          <p:cNvPr id="7" name="Text 5"/>
          <p:cNvSpPr txBox="1"/>
          <p:nvPr/>
        </p:nvSpPr>
        <p:spPr>
          <a:xfrm>
            <a:off x="3291840" y="1828800"/>
            <a:ext cx="292608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EE del bootstrap</a:t>
            </a:r>
            <a:endParaRPr lang="en-US" sz="1200" dirty="0"/>
          </a:p>
        </p:txBody>
      </p:sp>
      <p:sp>
        <p:nvSpPr>
          <p:cNvPr id="8" name="Shape 6"/>
          <p:cNvSpPr/>
          <p:nvPr/>
        </p:nvSpPr>
        <p:spPr>
          <a:xfrm>
            <a:off x="548640" y="2249424"/>
            <a:ext cx="2743200" cy="420624"/>
          </a:xfrm>
          <a:prstGeom prst="rect">
            <a:avLst/>
          </a:prstGeom>
          <a:solidFill>
            <a:srgbClr val="EEF2F5"/>
          </a:solidFill>
          <a:ln w="6350">
            <a:solidFill>
              <a:srgbClr val="D5DCE3"/>
            </a:solidFill>
            <a:prstDash val="solid"/>
          </a:ln>
        </p:spPr>
      </p:sp>
      <p:sp>
        <p:nvSpPr>
          <p:cNvPr id="9" name="Text 7"/>
          <p:cNvSpPr txBox="1"/>
          <p:nvPr/>
        </p:nvSpPr>
        <p:spPr>
          <a:xfrm>
            <a:off x="594360" y="2249424"/>
            <a:ext cx="2651760" cy="420624"/>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set.seed(1)</a:t>
            </a:r>
            <a:endParaRPr lang="en-US" sz="1250" dirty="0"/>
          </a:p>
        </p:txBody>
      </p:sp>
      <p:sp>
        <p:nvSpPr>
          <p:cNvPr id="10" name="Shape 8"/>
          <p:cNvSpPr/>
          <p:nvPr/>
        </p:nvSpPr>
        <p:spPr>
          <a:xfrm>
            <a:off x="3291840" y="2249424"/>
            <a:ext cx="2926080" cy="420624"/>
          </a:xfrm>
          <a:prstGeom prst="rect">
            <a:avLst/>
          </a:prstGeom>
          <a:solidFill>
            <a:srgbClr val="EEF2F5"/>
          </a:solidFill>
          <a:ln w="6350">
            <a:solidFill>
              <a:srgbClr val="D5DCE3"/>
            </a:solidFill>
            <a:prstDash val="solid"/>
          </a:ln>
        </p:spPr>
      </p:sp>
      <p:sp>
        <p:nvSpPr>
          <p:cNvPr id="11" name="Text 9"/>
          <p:cNvSpPr txBox="1"/>
          <p:nvPr/>
        </p:nvSpPr>
        <p:spPr>
          <a:xfrm>
            <a:off x="3337560" y="2249424"/>
            <a:ext cx="2834640" cy="420624"/>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1.48</a:t>
            </a:r>
            <a:endParaRPr lang="en-US" sz="1250" dirty="0"/>
          </a:p>
        </p:txBody>
      </p:sp>
      <p:sp>
        <p:nvSpPr>
          <p:cNvPr id="12" name="Shape 10"/>
          <p:cNvSpPr/>
          <p:nvPr/>
        </p:nvSpPr>
        <p:spPr>
          <a:xfrm>
            <a:off x="548640" y="2670048"/>
            <a:ext cx="2743200" cy="420624"/>
          </a:xfrm>
          <a:prstGeom prst="rect">
            <a:avLst/>
          </a:prstGeom>
          <a:solidFill>
            <a:srgbClr val="FFFFFF"/>
          </a:solidFill>
          <a:ln w="6350">
            <a:solidFill>
              <a:srgbClr val="D5DCE3"/>
            </a:solidFill>
            <a:prstDash val="solid"/>
          </a:ln>
        </p:spPr>
      </p:sp>
      <p:sp>
        <p:nvSpPr>
          <p:cNvPr id="13" name="Text 11"/>
          <p:cNvSpPr txBox="1"/>
          <p:nvPr/>
        </p:nvSpPr>
        <p:spPr>
          <a:xfrm>
            <a:off x="594360" y="2670048"/>
            <a:ext cx="2651760" cy="420624"/>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set.seed(2)</a:t>
            </a:r>
            <a:endParaRPr lang="en-US" sz="1250" dirty="0"/>
          </a:p>
        </p:txBody>
      </p:sp>
      <p:sp>
        <p:nvSpPr>
          <p:cNvPr id="14" name="Shape 12"/>
          <p:cNvSpPr/>
          <p:nvPr/>
        </p:nvSpPr>
        <p:spPr>
          <a:xfrm>
            <a:off x="3291840" y="2670048"/>
            <a:ext cx="2926080" cy="420624"/>
          </a:xfrm>
          <a:prstGeom prst="rect">
            <a:avLst/>
          </a:prstGeom>
          <a:solidFill>
            <a:srgbClr val="FFFFFF"/>
          </a:solidFill>
          <a:ln w="6350">
            <a:solidFill>
              <a:srgbClr val="D5DCE3"/>
            </a:solidFill>
            <a:prstDash val="solid"/>
          </a:ln>
        </p:spPr>
      </p:sp>
      <p:sp>
        <p:nvSpPr>
          <p:cNvPr id="15" name="Text 13"/>
          <p:cNvSpPr txBox="1"/>
          <p:nvPr/>
        </p:nvSpPr>
        <p:spPr>
          <a:xfrm>
            <a:off x="3337560" y="2670048"/>
            <a:ext cx="2834640" cy="420624"/>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1.50</a:t>
            </a:r>
            <a:endParaRPr lang="en-US" sz="1250" dirty="0"/>
          </a:p>
        </p:txBody>
      </p:sp>
      <p:sp>
        <p:nvSpPr>
          <p:cNvPr id="16" name="Shape 14"/>
          <p:cNvSpPr/>
          <p:nvPr/>
        </p:nvSpPr>
        <p:spPr>
          <a:xfrm>
            <a:off x="548640" y="3090672"/>
            <a:ext cx="2743200" cy="420624"/>
          </a:xfrm>
          <a:prstGeom prst="rect">
            <a:avLst/>
          </a:prstGeom>
          <a:solidFill>
            <a:srgbClr val="EEF2F5"/>
          </a:solidFill>
          <a:ln w="6350">
            <a:solidFill>
              <a:srgbClr val="D5DCE3"/>
            </a:solidFill>
            <a:prstDash val="solid"/>
          </a:ln>
        </p:spPr>
      </p:sp>
      <p:sp>
        <p:nvSpPr>
          <p:cNvPr id="17" name="Text 15"/>
          <p:cNvSpPr txBox="1"/>
          <p:nvPr/>
        </p:nvSpPr>
        <p:spPr>
          <a:xfrm>
            <a:off x="594360" y="3090672"/>
            <a:ext cx="2651760" cy="420624"/>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set.seed(3)</a:t>
            </a:r>
            <a:endParaRPr lang="en-US" sz="1250" dirty="0"/>
          </a:p>
        </p:txBody>
      </p:sp>
      <p:sp>
        <p:nvSpPr>
          <p:cNvPr id="18" name="Shape 16"/>
          <p:cNvSpPr/>
          <p:nvPr/>
        </p:nvSpPr>
        <p:spPr>
          <a:xfrm>
            <a:off x="3291840" y="3090672"/>
            <a:ext cx="2926080" cy="420624"/>
          </a:xfrm>
          <a:prstGeom prst="rect">
            <a:avLst/>
          </a:prstGeom>
          <a:solidFill>
            <a:srgbClr val="EEF2F5"/>
          </a:solidFill>
          <a:ln w="6350">
            <a:solidFill>
              <a:srgbClr val="D5DCE3"/>
            </a:solidFill>
            <a:prstDash val="solid"/>
          </a:ln>
        </p:spPr>
      </p:sp>
      <p:sp>
        <p:nvSpPr>
          <p:cNvPr id="19" name="Text 17"/>
          <p:cNvSpPr txBox="1"/>
          <p:nvPr/>
        </p:nvSpPr>
        <p:spPr>
          <a:xfrm>
            <a:off x="3337560" y="3090672"/>
            <a:ext cx="2834640" cy="420624"/>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1.51</a:t>
            </a:r>
            <a:endParaRPr lang="en-US" sz="1250" dirty="0"/>
          </a:p>
        </p:txBody>
      </p:sp>
      <p:sp>
        <p:nvSpPr>
          <p:cNvPr id="20" name="Shape 18"/>
          <p:cNvSpPr/>
          <p:nvPr/>
        </p:nvSpPr>
        <p:spPr>
          <a:xfrm>
            <a:off x="548640" y="3511296"/>
            <a:ext cx="2743200" cy="420624"/>
          </a:xfrm>
          <a:prstGeom prst="rect">
            <a:avLst/>
          </a:prstGeom>
          <a:solidFill>
            <a:srgbClr val="FFFFFF"/>
          </a:solidFill>
          <a:ln w="6350">
            <a:solidFill>
              <a:srgbClr val="D5DCE3"/>
            </a:solidFill>
            <a:prstDash val="solid"/>
          </a:ln>
        </p:spPr>
      </p:sp>
      <p:sp>
        <p:nvSpPr>
          <p:cNvPr id="21" name="Text 19"/>
          <p:cNvSpPr txBox="1"/>
          <p:nvPr/>
        </p:nvSpPr>
        <p:spPr>
          <a:xfrm>
            <a:off x="594360" y="3511296"/>
            <a:ext cx="2651760" cy="420624"/>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set.seed(4)</a:t>
            </a:r>
            <a:endParaRPr lang="en-US" sz="1250" dirty="0"/>
          </a:p>
        </p:txBody>
      </p:sp>
      <p:sp>
        <p:nvSpPr>
          <p:cNvPr id="22" name="Shape 20"/>
          <p:cNvSpPr/>
          <p:nvPr/>
        </p:nvSpPr>
        <p:spPr>
          <a:xfrm>
            <a:off x="3291840" y="3511296"/>
            <a:ext cx="2926080" cy="420624"/>
          </a:xfrm>
          <a:prstGeom prst="rect">
            <a:avLst/>
          </a:prstGeom>
          <a:solidFill>
            <a:srgbClr val="FFFFFF"/>
          </a:solidFill>
          <a:ln w="6350">
            <a:solidFill>
              <a:srgbClr val="D5DCE3"/>
            </a:solidFill>
            <a:prstDash val="solid"/>
          </a:ln>
        </p:spPr>
      </p:sp>
      <p:sp>
        <p:nvSpPr>
          <p:cNvPr id="23" name="Text 21"/>
          <p:cNvSpPr txBox="1"/>
          <p:nvPr/>
        </p:nvSpPr>
        <p:spPr>
          <a:xfrm>
            <a:off x="3337560" y="3511296"/>
            <a:ext cx="2834640" cy="420624"/>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1.56</a:t>
            </a:r>
            <a:endParaRPr lang="en-US" sz="1250" dirty="0"/>
          </a:p>
        </p:txBody>
      </p:sp>
      <p:sp>
        <p:nvSpPr>
          <p:cNvPr id="24" name="Shape 22"/>
          <p:cNvSpPr/>
          <p:nvPr/>
        </p:nvSpPr>
        <p:spPr>
          <a:xfrm>
            <a:off x="6675120" y="1828800"/>
            <a:ext cx="4965192" cy="1207008"/>
          </a:xfrm>
          <a:prstGeom prst="roundRect">
            <a:avLst>
              <a:gd name="adj" fmla="val 4545"/>
            </a:avLst>
          </a:prstGeom>
          <a:solidFill>
            <a:srgbClr val="F9E7E3"/>
          </a:solidFill>
          <a:ln w="9525">
            <a:solidFill>
              <a:srgbClr val="D5DCE3"/>
            </a:solidFill>
            <a:prstDash val="solid"/>
          </a:ln>
        </p:spPr>
      </p:sp>
      <p:sp>
        <p:nvSpPr>
          <p:cNvPr id="25" name="Text 23"/>
          <p:cNvSpPr txBox="1"/>
          <p:nvPr/>
        </p:nvSpPr>
        <p:spPr>
          <a:xfrm>
            <a:off x="6949440" y="1975104"/>
            <a:ext cx="4416552" cy="292608"/>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SIN FIJAR LA SEMILLA</a:t>
            </a:r>
            <a:endParaRPr lang="en-US" sz="1200" dirty="0"/>
          </a:p>
        </p:txBody>
      </p:sp>
      <p:sp>
        <p:nvSpPr>
          <p:cNvPr id="26" name="Text 24"/>
          <p:cNvSpPr txBox="1"/>
          <p:nvPr/>
        </p:nvSpPr>
        <p:spPr>
          <a:xfrm>
            <a:off x="6949440" y="2286000"/>
            <a:ext cx="4416552" cy="6858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Cada corrida cae en una de estas al azar. No puedes reproducir ni tu propio número.</a:t>
            </a:r>
            <a:endParaRPr lang="en-US" sz="1250" dirty="0"/>
          </a:p>
        </p:txBody>
      </p:sp>
      <p:sp>
        <p:nvSpPr>
          <p:cNvPr id="27" name="Shape 25"/>
          <p:cNvSpPr/>
          <p:nvPr/>
        </p:nvSpPr>
        <p:spPr>
          <a:xfrm>
            <a:off x="6675120" y="3182112"/>
            <a:ext cx="4965192" cy="1207008"/>
          </a:xfrm>
          <a:prstGeom prst="roundRect">
            <a:avLst>
              <a:gd name="adj" fmla="val 4545"/>
            </a:avLst>
          </a:prstGeom>
          <a:solidFill>
            <a:srgbClr val="E7F2EA"/>
          </a:solidFill>
          <a:ln w="9525">
            <a:solidFill>
              <a:srgbClr val="D5DCE3"/>
            </a:solidFill>
            <a:prstDash val="solid"/>
          </a:ln>
        </p:spPr>
      </p:sp>
      <p:sp>
        <p:nvSpPr>
          <p:cNvPr id="28" name="Text 26"/>
          <p:cNvSpPr txBox="1"/>
          <p:nvPr/>
        </p:nvSpPr>
        <p:spPr>
          <a:xfrm>
            <a:off x="6949440" y="3328416"/>
            <a:ext cx="4416552" cy="292608"/>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CON set.seed(1)</a:t>
            </a:r>
            <a:endParaRPr lang="en-US" sz="1200" dirty="0"/>
          </a:p>
        </p:txBody>
      </p:sp>
      <p:sp>
        <p:nvSpPr>
          <p:cNvPr id="29" name="Text 27"/>
          <p:cNvSpPr txBox="1"/>
          <p:nvPr/>
        </p:nvSpPr>
        <p:spPr>
          <a:xfrm>
            <a:off x="6949440" y="3639312"/>
            <a:ext cx="4416552" cy="6858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1.48 siempre, en cada corrida y en cualquier máquina. Cualquiera reproduce el intervalo.</a:t>
            </a:r>
            <a:endParaRPr lang="en-US" sz="1250" dirty="0"/>
          </a:p>
        </p:txBody>
      </p:sp>
      <p:sp>
        <p:nvSpPr>
          <p:cNvPr id="30" name="Shape 28"/>
          <p:cNvSpPr/>
          <p:nvPr/>
        </p:nvSpPr>
        <p:spPr>
          <a:xfrm>
            <a:off x="548640" y="6053328"/>
            <a:ext cx="11091672" cy="603504"/>
          </a:xfrm>
          <a:prstGeom prst="rect">
            <a:avLst/>
          </a:prstGeom>
          <a:solidFill>
            <a:srgbClr val="FBEEE5"/>
          </a:solidFill>
          <a:ln/>
        </p:spPr>
      </p:sp>
      <p:sp>
        <p:nvSpPr>
          <p:cNvPr id="31" name="Shape 29"/>
          <p:cNvSpPr/>
          <p:nvPr/>
        </p:nvSpPr>
        <p:spPr>
          <a:xfrm>
            <a:off x="749808" y="6272784"/>
            <a:ext cx="164592" cy="164592"/>
          </a:xfrm>
          <a:prstGeom prst="roundRect">
            <a:avLst>
              <a:gd name="adj" fmla="val 22222"/>
            </a:avLst>
          </a:prstGeom>
          <a:solidFill>
            <a:srgbClr val="CB5E2E"/>
          </a:solidFill>
          <a:ln/>
        </p:spPr>
      </p:sp>
      <p:sp>
        <p:nvSpPr>
          <p:cNvPr id="32" name="Text 30"/>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Parece cosa de decimales, pero cerca de un umbral, un valor p de 0.05 o el borde de un intervalo, esa diferencia voltea la conclusión.</a:t>
            </a:r>
            <a:endParaRPr lang="en-US" sz="1250" dirty="0"/>
          </a:p>
        </p:txBody>
      </p:sp>
      <p:sp>
        <p:nvSpPr>
          <p:cNvPr id="33" name="Text 31"/>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En R: set.seed(1) antes del bootstrap. Lo mismo aplica a validación cruzada, simulación y cualquier procedimiento con sample() o rnorm().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2</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La aritmética frágil: corre y miente</a:t>
            </a:r>
            <a:endParaRPr lang="en-US" sz="2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Por qué el cálculo numérico falla, en dos capas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Una es del modelo; la otra, del código que escribe. Las dos se cuelan a un número que se ve bien.</a:t>
            </a:r>
            <a:endParaRPr lang="en-US" sz="1400" dirty="0"/>
          </a:p>
        </p:txBody>
      </p:sp>
      <p:sp>
        <p:nvSpPr>
          <p:cNvPr id="4" name="Shape 2"/>
          <p:cNvSpPr/>
          <p:nvPr/>
        </p:nvSpPr>
        <p:spPr>
          <a:xfrm>
            <a:off x="548640" y="1920240"/>
            <a:ext cx="3502152" cy="1828800"/>
          </a:xfrm>
          <a:prstGeom prst="roundRect">
            <a:avLst>
              <a:gd name="adj" fmla="val 3000"/>
            </a:avLst>
          </a:prstGeom>
          <a:solidFill>
            <a:srgbClr val="F9E7E3"/>
          </a:solidFill>
          <a:ln w="9525">
            <a:solidFill>
              <a:srgbClr val="D5DCE3"/>
            </a:solidFill>
            <a:prstDash val="solid"/>
          </a:ln>
        </p:spPr>
      </p:sp>
      <p:sp>
        <p:nvSpPr>
          <p:cNvPr id="5" name="Text 3"/>
          <p:cNvSpPr txBox="1"/>
          <p:nvPr/>
        </p:nvSpPr>
        <p:spPr>
          <a:xfrm>
            <a:off x="777240" y="2103120"/>
            <a:ext cx="3044952" cy="64008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Capa 1: la IA no calcula</a:t>
            </a:r>
            <a:endParaRPr lang="en-US" sz="1500" dirty="0"/>
          </a:p>
        </p:txBody>
      </p:sp>
      <p:sp>
        <p:nvSpPr>
          <p:cNvPr id="6" name="Text 4"/>
          <p:cNvSpPr txBox="1"/>
          <p:nvPr/>
        </p:nvSpPr>
        <p:spPr>
          <a:xfrm>
            <a:off x="777240" y="2761488"/>
            <a:ext cx="3044952" cy="9144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Un modelo de lenguaje predice el texto que sigue; no opera los números. Por eso no le pides el número, le pides el código.</a:t>
            </a:r>
            <a:endParaRPr lang="en-US" sz="1250" dirty="0"/>
          </a:p>
        </p:txBody>
      </p:sp>
      <p:sp>
        <p:nvSpPr>
          <p:cNvPr id="7" name="Shape 5"/>
          <p:cNvSpPr/>
          <p:nvPr/>
        </p:nvSpPr>
        <p:spPr>
          <a:xfrm>
            <a:off x="4343400" y="1920240"/>
            <a:ext cx="3502152" cy="1828800"/>
          </a:xfrm>
          <a:prstGeom prst="roundRect">
            <a:avLst>
              <a:gd name="adj" fmla="val 3000"/>
            </a:avLst>
          </a:prstGeom>
          <a:solidFill>
            <a:srgbClr val="FCF3DD"/>
          </a:solidFill>
          <a:ln w="9525">
            <a:solidFill>
              <a:srgbClr val="D5DCE3"/>
            </a:solidFill>
            <a:prstDash val="solid"/>
          </a:ln>
        </p:spPr>
      </p:sp>
      <p:sp>
        <p:nvSpPr>
          <p:cNvPr id="8" name="Text 6"/>
          <p:cNvSpPr txBox="1"/>
          <p:nvPr/>
        </p:nvSpPr>
        <p:spPr>
          <a:xfrm>
            <a:off x="4572000" y="2103120"/>
            <a:ext cx="3044952" cy="640080"/>
          </a:xfrm>
          <a:prstGeom prst="rect">
            <a:avLst/>
          </a:prstGeom>
          <a:noFill/>
          <a:ln/>
        </p:spPr>
        <p:txBody>
          <a:bodyPr wrap="square" lIns="0" tIns="0" rIns="0" bIns="0" rtlCol="0" anchor="ctr"/>
          <a:lstStyle/>
          <a:p>
            <a:pPr indent="0" marL="0">
              <a:lnSpc>
                <a:spcPct val="95000"/>
              </a:lnSpc>
              <a:buNone/>
            </a:pPr>
            <a:r>
              <a:rPr lang="en-US" sz="1500" b="1" dirty="0">
                <a:solidFill>
                  <a:srgbClr val="8A6D1F"/>
                </a:solidFill>
                <a:latin typeface="Calibri" pitchFamily="34" charset="0"/>
                <a:ea typeface="Calibri" pitchFamily="34" charset="-122"/>
                <a:cs typeface="Calibri" pitchFamily="34" charset="-120"/>
              </a:rPr>
              <a:t>Capa 2: el código es frágil</a:t>
            </a:r>
            <a:endParaRPr lang="en-US" sz="1500" dirty="0"/>
          </a:p>
        </p:txBody>
      </p:sp>
      <p:sp>
        <p:nvSpPr>
          <p:cNvPr id="9" name="Text 7"/>
          <p:cNvSpPr txBox="1"/>
          <p:nvPr/>
        </p:nvSpPr>
        <p:spPr>
          <a:xfrm>
            <a:off x="4572000" y="2761488"/>
            <a:ext cx="3044952" cy="9144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Aun ejecutable, una fórmula ingenua se rompe: los decimales no son exactos, y restar números grandes cancela la información.</a:t>
            </a:r>
            <a:endParaRPr lang="en-US" sz="1250" dirty="0"/>
          </a:p>
        </p:txBody>
      </p:sp>
      <p:sp>
        <p:nvSpPr>
          <p:cNvPr id="10" name="Shape 8"/>
          <p:cNvSpPr/>
          <p:nvPr/>
        </p:nvSpPr>
        <p:spPr>
          <a:xfrm>
            <a:off x="8138160" y="1920240"/>
            <a:ext cx="3502152" cy="1828800"/>
          </a:xfrm>
          <a:prstGeom prst="roundRect">
            <a:avLst>
              <a:gd name="adj" fmla="val 3000"/>
            </a:avLst>
          </a:prstGeom>
          <a:solidFill>
            <a:srgbClr val="E7F2EA"/>
          </a:solidFill>
          <a:ln w="9525">
            <a:solidFill>
              <a:srgbClr val="D5DCE3"/>
            </a:solidFill>
            <a:prstDash val="solid"/>
          </a:ln>
        </p:spPr>
      </p:sp>
      <p:sp>
        <p:nvSpPr>
          <p:cNvPr id="11" name="Text 9"/>
          <p:cNvSpPr txBox="1"/>
          <p:nvPr/>
        </p:nvSpPr>
        <p:spPr>
          <a:xfrm>
            <a:off x="8366760" y="2103120"/>
            <a:ext cx="3044952" cy="640080"/>
          </a:xfrm>
          <a:prstGeom prst="rect">
            <a:avLst/>
          </a:prstGeom>
          <a:noFill/>
          <a:ln/>
        </p:spPr>
        <p:txBody>
          <a:bodyPr wrap="square" lIns="0" tIns="0" rIns="0" bIns="0" rtlCol="0" anchor="ctr"/>
          <a:lstStyle/>
          <a:p>
            <a:pPr indent="0" marL="0">
              <a:lnSpc>
                <a:spcPct val="95000"/>
              </a:lnSpc>
              <a:buNone/>
            </a:pPr>
            <a:r>
              <a:rPr lang="en-US" sz="1500" b="1" dirty="0">
                <a:solidFill>
                  <a:srgbClr val="2E6E49"/>
                </a:solidFill>
                <a:latin typeface="Calibri" pitchFamily="34" charset="0"/>
                <a:ea typeface="Calibri" pitchFamily="34" charset="-122"/>
                <a:cs typeface="Calibri" pitchFamily="34" charset="-120"/>
              </a:rPr>
              <a:t>La cura</a:t>
            </a:r>
            <a:endParaRPr lang="en-US" sz="1500" dirty="0"/>
          </a:p>
        </p:txBody>
      </p:sp>
      <p:sp>
        <p:nvSpPr>
          <p:cNvPr id="12" name="Text 10"/>
          <p:cNvSpPr txBox="1"/>
          <p:nvPr/>
        </p:nvSpPr>
        <p:spPr>
          <a:xfrm>
            <a:off x="8366760" y="2761488"/>
            <a:ext cx="3044952" cy="9144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Que el código use funciones probadas, no fórmulas de libro; y verificar el número contra un caso conocido.</a:t>
            </a:r>
            <a:endParaRPr lang="en-US" sz="1250" dirty="0"/>
          </a:p>
        </p:txBody>
      </p:sp>
      <p:sp>
        <p:nvSpPr>
          <p:cNvPr id="13" name="Shape 11"/>
          <p:cNvSpPr/>
          <p:nvPr/>
        </p:nvSpPr>
        <p:spPr>
          <a:xfrm>
            <a:off x="548640" y="4023360"/>
            <a:ext cx="11091672" cy="1371600"/>
          </a:xfrm>
          <a:prstGeom prst="roundRect">
            <a:avLst>
              <a:gd name="adj" fmla="val 4000"/>
            </a:avLst>
          </a:prstGeom>
          <a:solidFill>
            <a:srgbClr val="15293B"/>
          </a:solidFill>
          <a:ln w="9525">
            <a:solidFill>
              <a:srgbClr val="D5DCE3"/>
            </a:solidFill>
            <a:prstDash val="solid"/>
          </a:ln>
        </p:spPr>
      </p:sp>
      <p:sp>
        <p:nvSpPr>
          <p:cNvPr id="14" name="Text 12"/>
          <p:cNvSpPr txBox="1"/>
          <p:nvPr/>
        </p:nvSpPr>
        <p:spPr>
          <a:xfrm>
            <a:off x="868680" y="4187952"/>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Ejecutable no es lo mismo que correcto</a:t>
            </a:r>
            <a:endParaRPr lang="en-US" sz="1500" dirty="0"/>
          </a:p>
        </p:txBody>
      </p:sp>
      <p:sp>
        <p:nvSpPr>
          <p:cNvPr id="15" name="Text 13"/>
          <p:cNvSpPr txBox="1"/>
          <p:nvPr/>
        </p:nvSpPr>
        <p:spPr>
          <a:xfrm>
            <a:off x="868680" y="4572000"/>
            <a:ext cx="10451592" cy="77724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Sacar el cálculo del chat y ponerlo en código resuelve la primera capa: una máquina de verdad opera, no adivina. Pero el código que la IA escribe todavía puede ser numéricamente ingenuo. La computadora hace exactamente lo que dice la fórmula, y si la fórmula es frágil, corre sin error y devuelve un número falso.</a:t>
            </a:r>
            <a:endParaRPr lang="en-US" sz="1300" dirty="0"/>
          </a:p>
        </p:txBody>
      </p:sp>
      <p:sp>
        <p:nvSpPr>
          <p:cNvPr id="16" name="Shape 14"/>
          <p:cNvSpPr/>
          <p:nvPr/>
        </p:nvSpPr>
        <p:spPr>
          <a:xfrm>
            <a:off x="548640" y="6053328"/>
            <a:ext cx="11091672" cy="603504"/>
          </a:xfrm>
          <a:prstGeom prst="rect">
            <a:avLst/>
          </a:prstGeom>
          <a:solidFill>
            <a:srgbClr val="FBEEE5"/>
          </a:solidFill>
          <a:ln/>
        </p:spPr>
      </p:sp>
      <p:sp>
        <p:nvSpPr>
          <p:cNvPr id="17" name="Shape 15"/>
          <p:cNvSpPr/>
          <p:nvPr/>
        </p:nvSpPr>
        <p:spPr>
          <a:xfrm>
            <a:off x="749808" y="6272784"/>
            <a:ext cx="164592" cy="164592"/>
          </a:xfrm>
          <a:prstGeom prst="roundRect">
            <a:avLst>
              <a:gd name="adj" fmla="val 22222"/>
            </a:avLst>
          </a:prstGeom>
          <a:solidFill>
            <a:srgbClr val="CB5E2E"/>
          </a:solidFill>
          <a:ln/>
        </p:spPr>
      </p:sp>
      <p:sp>
        <p:nvSpPr>
          <p:cNvPr id="18" name="Text 16"/>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chat adivina el número; el código ingenuo lo calcula mal con seguridad. La segunda trampa es peor, porque parece rigor.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Corre sin error, y el número está mal</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Dos hechos que cualquiera puede reproducir en R, y que ninguna advertencia señala.</a:t>
            </a:r>
            <a:endParaRPr lang="en-US" sz="1400" dirty="0"/>
          </a:p>
        </p:txBody>
      </p:sp>
      <p:sp>
        <p:nvSpPr>
          <p:cNvPr id="4" name="Shape 2"/>
          <p:cNvSpPr/>
          <p:nvPr/>
        </p:nvSpPr>
        <p:spPr>
          <a:xfrm>
            <a:off x="548640" y="1920240"/>
            <a:ext cx="5394960" cy="2148840"/>
          </a:xfrm>
          <a:prstGeom prst="roundRect">
            <a:avLst>
              <a:gd name="adj" fmla="val 2553"/>
            </a:avLst>
          </a:prstGeom>
          <a:solidFill>
            <a:srgbClr val="EEF2F5"/>
          </a:solidFill>
          <a:ln w="9525">
            <a:solidFill>
              <a:srgbClr val="D5DCE3"/>
            </a:solidFill>
            <a:prstDash val="solid"/>
          </a:ln>
        </p:spPr>
      </p:sp>
      <p:sp>
        <p:nvSpPr>
          <p:cNvPr id="5" name="Text 3"/>
          <p:cNvSpPr txBox="1"/>
          <p:nvPr/>
        </p:nvSpPr>
        <p:spPr>
          <a:xfrm>
            <a:off x="822960" y="2103120"/>
            <a:ext cx="4846320" cy="292608"/>
          </a:xfrm>
          <a:prstGeom prst="rect">
            <a:avLst/>
          </a:prstGeom>
          <a:noFill/>
          <a:ln/>
        </p:spPr>
        <p:txBody>
          <a:bodyPr wrap="square" lIns="0" tIns="0" rIns="0" bIns="0" rtlCol="0" anchor="ctr"/>
          <a:lstStyle/>
          <a:p>
            <a:pPr indent="0" marL="0">
              <a:buNone/>
            </a:pPr>
            <a:r>
              <a:rPr lang="en-US" sz="1200" b="1" spc="100" kern="0" dirty="0">
                <a:solidFill>
                  <a:srgbClr val="60707E"/>
                </a:solidFill>
                <a:latin typeface="Calibri" pitchFamily="34" charset="0"/>
                <a:ea typeface="Calibri" pitchFamily="34" charset="-122"/>
                <a:cs typeface="Calibri" pitchFamily="34" charset="-120"/>
              </a:rPr>
              <a:t>LOS DECIMALES NO SON EXACTOS</a:t>
            </a:r>
            <a:endParaRPr lang="en-US" sz="1200" dirty="0"/>
          </a:p>
        </p:txBody>
      </p:sp>
      <p:sp>
        <p:nvSpPr>
          <p:cNvPr id="6" name="Text 4"/>
          <p:cNvSpPr txBox="1"/>
          <p:nvPr/>
        </p:nvSpPr>
        <p:spPr>
          <a:xfrm>
            <a:off x="822960" y="2432304"/>
            <a:ext cx="4846320" cy="365760"/>
          </a:xfrm>
          <a:prstGeom prst="rect">
            <a:avLst/>
          </a:prstGeom>
          <a:noFill/>
          <a:ln/>
        </p:spPr>
        <p:txBody>
          <a:bodyPr wrap="square" lIns="0" tIns="0" rIns="0" bIns="0" rtlCol="0" anchor="ctr"/>
          <a:lstStyle/>
          <a:p>
            <a:pPr indent="0" marL="0">
              <a:buNone/>
            </a:pPr>
            <a:r>
              <a:rPr lang="en-US" sz="1700" b="1" dirty="0">
                <a:solidFill>
                  <a:srgbClr val="1E2A35"/>
                </a:solidFill>
                <a:latin typeface="Cambria" pitchFamily="34" charset="0"/>
                <a:ea typeface="Cambria" pitchFamily="34" charset="-122"/>
                <a:cs typeface="Cambria" pitchFamily="34" charset="-120"/>
              </a:rPr>
              <a:t>0.1 + 0.2 == 0.3</a:t>
            </a:r>
            <a:endParaRPr lang="en-US" sz="1700" dirty="0"/>
          </a:p>
        </p:txBody>
      </p:sp>
      <p:sp>
        <p:nvSpPr>
          <p:cNvPr id="7" name="Text 5"/>
          <p:cNvSpPr txBox="1"/>
          <p:nvPr/>
        </p:nvSpPr>
        <p:spPr>
          <a:xfrm>
            <a:off x="822960" y="2880360"/>
            <a:ext cx="4846320" cy="365760"/>
          </a:xfrm>
          <a:prstGeom prst="rect">
            <a:avLst/>
          </a:prstGeom>
          <a:noFill/>
          <a:ln/>
        </p:spPr>
        <p:txBody>
          <a:bodyPr wrap="square" lIns="0" tIns="0" rIns="0" bIns="0" rtlCol="0" anchor="ctr"/>
          <a:lstStyle/>
          <a:p>
            <a:pPr indent="0" marL="0">
              <a:buNone/>
            </a:pPr>
            <a:r>
              <a:rPr lang="en-US" sz="1500" b="1" dirty="0">
                <a:solidFill>
                  <a:srgbClr val="A23B22"/>
                </a:solidFill>
                <a:latin typeface="Calibri" pitchFamily="34" charset="0"/>
                <a:ea typeface="Calibri" pitchFamily="34" charset="-122"/>
                <a:cs typeface="Calibri" pitchFamily="34" charset="-120"/>
              </a:rPr>
              <a:t>FALSE</a:t>
            </a:r>
            <a:pPr indent="0" marL="0">
              <a:buNone/>
            </a:pPr>
            <a:r>
              <a:rPr lang="en-US" sz="1200" dirty="0">
                <a:solidFill>
                  <a:srgbClr val="1E2A35"/>
                </a:solidFill>
                <a:latin typeface="Calibri" pitchFamily="34" charset="0"/>
                <a:ea typeface="Calibri" pitchFamily="34" charset="-122"/>
                <a:cs typeface="Calibri" pitchFamily="34" charset="-120"/>
              </a:rPr>
              <a:t>     el resultado real es 0.30000000000000004</a:t>
            </a:r>
            <a:endParaRPr lang="en-US" sz="1500" dirty="0"/>
          </a:p>
        </p:txBody>
      </p:sp>
      <p:sp>
        <p:nvSpPr>
          <p:cNvPr id="8" name="Text 6"/>
          <p:cNvSpPr txBox="1"/>
          <p:nvPr/>
        </p:nvSpPr>
        <p:spPr>
          <a:xfrm>
            <a:off x="822960" y="3291840"/>
            <a:ext cx="4846320" cy="685800"/>
          </a:xfrm>
          <a:prstGeom prst="rect">
            <a:avLst/>
          </a:prstGeom>
          <a:noFill/>
          <a:ln/>
        </p:spPr>
        <p:txBody>
          <a:bodyPr wrap="square" lIns="0" tIns="0" rIns="0" bIns="0" rtlCol="0" anchor="ctr"/>
          <a:lstStyle/>
          <a:p>
            <a:pPr indent="0" marL="0">
              <a:lnSpc>
                <a:spcPct val="102000"/>
              </a:lnSpc>
              <a:buNone/>
            </a:pPr>
            <a:r>
              <a:rPr lang="en-US" sz="1200" dirty="0">
                <a:solidFill>
                  <a:srgbClr val="60707E"/>
                </a:solidFill>
                <a:latin typeface="Calibri" pitchFamily="34" charset="0"/>
                <a:ea typeface="Calibri" pitchFamily="34" charset="-122"/>
                <a:cs typeface="Calibri" pitchFamily="34" charset="-120"/>
              </a:rPr>
              <a:t>La computadora guarda los decimales en binario, y muchos no caben exactos. El error es diminuto, hasta que se acumula.</a:t>
            </a:r>
            <a:endParaRPr lang="en-US" sz="1200" dirty="0"/>
          </a:p>
        </p:txBody>
      </p:sp>
      <p:sp>
        <p:nvSpPr>
          <p:cNvPr id="9" name="Shape 7"/>
          <p:cNvSpPr/>
          <p:nvPr/>
        </p:nvSpPr>
        <p:spPr>
          <a:xfrm>
            <a:off x="6245352" y="1920240"/>
            <a:ext cx="5394960" cy="2148840"/>
          </a:xfrm>
          <a:prstGeom prst="roundRect">
            <a:avLst>
              <a:gd name="adj" fmla="val 2553"/>
            </a:avLst>
          </a:prstGeom>
          <a:solidFill>
            <a:srgbClr val="F9E7E3"/>
          </a:solidFill>
          <a:ln w="9525">
            <a:solidFill>
              <a:srgbClr val="D5DCE3"/>
            </a:solidFill>
            <a:prstDash val="solid"/>
          </a:ln>
        </p:spPr>
      </p:sp>
      <p:sp>
        <p:nvSpPr>
          <p:cNvPr id="10" name="Text 8"/>
          <p:cNvSpPr txBox="1"/>
          <p:nvPr/>
        </p:nvSpPr>
        <p:spPr>
          <a:xfrm>
            <a:off x="6519672" y="2103120"/>
            <a:ext cx="4846320" cy="292608"/>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LA FÓRMULA INGENUA DE LA VARIANZA</a:t>
            </a:r>
            <a:endParaRPr lang="en-US" sz="1200" dirty="0"/>
          </a:p>
        </p:txBody>
      </p:sp>
      <p:sp>
        <p:nvSpPr>
          <p:cNvPr id="11" name="Text 9"/>
          <p:cNvSpPr txBox="1"/>
          <p:nvPr/>
        </p:nvSpPr>
        <p:spPr>
          <a:xfrm>
            <a:off x="6519672" y="2432304"/>
            <a:ext cx="4846320" cy="365760"/>
          </a:xfrm>
          <a:prstGeom prst="rect">
            <a:avLst/>
          </a:prstGeom>
          <a:noFill/>
          <a:ln/>
        </p:spPr>
        <p:txBody>
          <a:bodyPr wrap="square" lIns="0" tIns="0" rIns="0" bIns="0" rtlCol="0" anchor="ctr"/>
          <a:lstStyle/>
          <a:p>
            <a:pPr indent="0" marL="0">
              <a:buNone/>
            </a:pPr>
            <a:r>
              <a:rPr lang="en-US" sz="1450" b="1" dirty="0">
                <a:solidFill>
                  <a:srgbClr val="1E2A35"/>
                </a:solidFill>
                <a:latin typeface="Cambria" pitchFamily="34" charset="0"/>
                <a:ea typeface="Cambria" pitchFamily="34" charset="-122"/>
                <a:cs typeface="Cambria" pitchFamily="34" charset="-120"/>
              </a:rPr>
              <a:t>var de  1,000,000,004 · 005 · 006</a:t>
            </a:r>
            <a:endParaRPr lang="en-US" sz="1450" dirty="0"/>
          </a:p>
        </p:txBody>
      </p:sp>
      <p:sp>
        <p:nvSpPr>
          <p:cNvPr id="12" name="Text 10"/>
          <p:cNvSpPr txBox="1"/>
          <p:nvPr/>
        </p:nvSpPr>
        <p:spPr>
          <a:xfrm>
            <a:off x="6519672" y="2880360"/>
            <a:ext cx="4846320" cy="365760"/>
          </a:xfrm>
          <a:prstGeom prst="rect">
            <a:avLst/>
          </a:prstGeom>
          <a:noFill/>
          <a:ln/>
        </p:spPr>
        <p:txBody>
          <a:bodyPr wrap="square" lIns="0" tIns="0" rIns="0" bIns="0" rtlCol="0" anchor="ctr"/>
          <a:lstStyle/>
          <a:p>
            <a:pPr indent="0" marL="0">
              <a:buNone/>
            </a:pPr>
            <a:r>
              <a:rPr lang="en-US" sz="1500" b="1" dirty="0">
                <a:solidFill>
                  <a:srgbClr val="2E6E49"/>
                </a:solidFill>
                <a:latin typeface="Calibri" pitchFamily="34" charset="0"/>
                <a:ea typeface="Calibri" pitchFamily="34" charset="-122"/>
                <a:cs typeface="Calibri" pitchFamily="34" charset="-120"/>
              </a:rPr>
              <a:t>correcta: 1</a:t>
            </a:r>
            <a:pPr indent="0" marL="0">
              <a:buNone/>
            </a:pPr>
            <a:r>
              <a:rPr lang="en-US" sz="1300" dirty="0">
                <a:solidFill>
                  <a:srgbClr val="1E2A35"/>
                </a:solidFill>
                <a:latin typeface="Calibri" pitchFamily="34" charset="0"/>
                <a:ea typeface="Calibri" pitchFamily="34" charset="-122"/>
                <a:cs typeface="Calibri" pitchFamily="34" charset="-120"/>
              </a:rPr>
              <a:t>      fórmula ingenua: </a:t>
            </a:r>
            <a:pPr indent="0" marL="0">
              <a:buNone/>
            </a:pPr>
            <a:r>
              <a:rPr lang="en-US" sz="1500" b="1" dirty="0">
                <a:solidFill>
                  <a:srgbClr val="A23B22"/>
                </a:solidFill>
                <a:latin typeface="Calibri" pitchFamily="34" charset="0"/>
                <a:ea typeface="Calibri" pitchFamily="34" charset="-122"/>
                <a:cs typeface="Calibri" pitchFamily="34" charset="-120"/>
              </a:rPr>
              <a:t>0</a:t>
            </a:r>
            <a:endParaRPr lang="en-US" sz="1500" dirty="0"/>
          </a:p>
        </p:txBody>
      </p:sp>
      <p:sp>
        <p:nvSpPr>
          <p:cNvPr id="13" name="Text 11"/>
          <p:cNvSpPr txBox="1"/>
          <p:nvPr/>
        </p:nvSpPr>
        <p:spPr>
          <a:xfrm>
            <a:off x="6519672" y="3291840"/>
            <a:ext cx="4846320" cy="685800"/>
          </a:xfrm>
          <a:prstGeom prst="rect">
            <a:avLst/>
          </a:prstGeom>
          <a:noFill/>
          <a:ln/>
        </p:spPr>
        <p:txBody>
          <a:bodyPr wrap="square" lIns="0" tIns="0" rIns="0" bIns="0" rtlCol="0" anchor="ctr"/>
          <a:lstStyle/>
          <a:p>
            <a:pPr indent="0" marL="0">
              <a:lnSpc>
                <a:spcPct val="102000"/>
              </a:lnSpc>
              <a:buNone/>
            </a:pPr>
            <a:r>
              <a:rPr lang="en-US" sz="1200" dirty="0">
                <a:solidFill>
                  <a:srgbClr val="1E2A35"/>
                </a:solidFill>
                <a:latin typeface="Calibri" pitchFamily="34" charset="0"/>
                <a:ea typeface="Calibri" pitchFamily="34" charset="-122"/>
                <a:cs typeface="Calibri" pitchFamily="34" charset="-120"/>
              </a:rPr>
              <a:t>Tres números que difieren de uno en uno: su varianza es uno. Restar sus cuadrados, casi iguales y enormes, cancela todo y da cero.</a:t>
            </a:r>
            <a:endParaRPr lang="en-US" sz="1200" dirty="0"/>
          </a:p>
        </p:txBody>
      </p:sp>
      <p:sp>
        <p:nvSpPr>
          <p:cNvPr id="14" name="Shape 12"/>
          <p:cNvSpPr/>
          <p:nvPr/>
        </p:nvSpPr>
        <p:spPr>
          <a:xfrm>
            <a:off x="548640" y="6053328"/>
            <a:ext cx="11091672" cy="603504"/>
          </a:xfrm>
          <a:prstGeom prst="rect">
            <a:avLst/>
          </a:prstGeom>
          <a:solidFill>
            <a:srgbClr val="FBEEE5"/>
          </a:solidFill>
          <a:ln/>
        </p:spPr>
      </p:sp>
      <p:sp>
        <p:nvSpPr>
          <p:cNvPr id="15" name="Shape 13"/>
          <p:cNvSpPr/>
          <p:nvPr/>
        </p:nvSpPr>
        <p:spPr>
          <a:xfrm>
            <a:off x="749808" y="6272784"/>
            <a:ext cx="164592" cy="164592"/>
          </a:xfrm>
          <a:prstGeom prst="roundRect">
            <a:avLst>
              <a:gd name="adj" fmla="val 22222"/>
            </a:avLst>
          </a:prstGeom>
          <a:solidFill>
            <a:srgbClr val="CB5E2E"/>
          </a:solidFill>
          <a:ln/>
        </p:spPr>
      </p:sp>
      <p:sp>
        <p:nvSpPr>
          <p:cNvPr id="16" name="Text 14"/>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chat adivina el número; el código ingenuo devuelve cero para datos cuya varianza es uno, sin un solo error. Usar var(), no la fórmula de libro, es la diferencia.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3</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El entorno que cambió, y la IA que varía</a:t>
            </a:r>
            <a:endParaRPr lang="en-US" sz="2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mismo código puede dar distinto en otra máquina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La semilla fija el azar; falta fijar todo lo demás que el número toca.</a:t>
            </a:r>
            <a:endParaRPr lang="en-US" sz="1400" dirty="0"/>
          </a:p>
        </p:txBody>
      </p:sp>
      <p:sp>
        <p:nvSpPr>
          <p:cNvPr id="4" name="Shape 2"/>
          <p:cNvSpPr/>
          <p:nvPr/>
        </p:nvSpPr>
        <p:spPr>
          <a:xfrm>
            <a:off x="548640" y="1920240"/>
            <a:ext cx="3502152" cy="1828800"/>
          </a:xfrm>
          <a:prstGeom prst="roundRect">
            <a:avLst>
              <a:gd name="adj" fmla="val 3000"/>
            </a:avLst>
          </a:prstGeom>
          <a:solidFill>
            <a:srgbClr val="EEF2F5"/>
          </a:solidFill>
          <a:ln w="9525">
            <a:solidFill>
              <a:srgbClr val="D5DCE3"/>
            </a:solidFill>
            <a:prstDash val="solid"/>
          </a:ln>
        </p:spPr>
      </p:sp>
      <p:sp>
        <p:nvSpPr>
          <p:cNvPr id="5" name="Text 3"/>
          <p:cNvSpPr txBox="1"/>
          <p:nvPr/>
        </p:nvSpPr>
        <p:spPr>
          <a:xfrm>
            <a:off x="777240" y="2103120"/>
            <a:ext cx="3044952" cy="41148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Las versiones</a:t>
            </a:r>
            <a:endParaRPr lang="en-US" sz="1500" dirty="0"/>
          </a:p>
        </p:txBody>
      </p:sp>
      <p:sp>
        <p:nvSpPr>
          <p:cNvPr id="6" name="Text 4"/>
          <p:cNvSpPr txBox="1"/>
          <p:nvPr/>
        </p:nvSpPr>
        <p:spPr>
          <a:xfrm>
            <a:off x="77724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Otra versión de un paquete puede cambiar un default o un cálculo. El mismo código, otro resultado, sin que nadie lo tocara.</a:t>
            </a:r>
            <a:endParaRPr lang="en-US" sz="1250" dirty="0"/>
          </a:p>
        </p:txBody>
      </p:sp>
      <p:sp>
        <p:nvSpPr>
          <p:cNvPr id="7" name="Shape 5"/>
          <p:cNvSpPr/>
          <p:nvPr/>
        </p:nvSpPr>
        <p:spPr>
          <a:xfrm>
            <a:off x="4343400" y="1920240"/>
            <a:ext cx="3502152" cy="1828800"/>
          </a:xfrm>
          <a:prstGeom prst="roundRect">
            <a:avLst>
              <a:gd name="adj" fmla="val 3000"/>
            </a:avLst>
          </a:prstGeom>
          <a:solidFill>
            <a:srgbClr val="EEF2F5"/>
          </a:solidFill>
          <a:ln w="9525">
            <a:solidFill>
              <a:srgbClr val="D5DCE3"/>
            </a:solidFill>
            <a:prstDash val="solid"/>
          </a:ln>
        </p:spPr>
      </p:sp>
      <p:sp>
        <p:nvSpPr>
          <p:cNvPr id="8" name="Text 6"/>
          <p:cNvSpPr txBox="1"/>
          <p:nvPr/>
        </p:nvSpPr>
        <p:spPr>
          <a:xfrm>
            <a:off x="4572000" y="2103120"/>
            <a:ext cx="3044952" cy="41148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El insumo</a:t>
            </a:r>
            <a:endParaRPr lang="en-US" sz="1500" dirty="0"/>
          </a:p>
        </p:txBody>
      </p:sp>
      <p:sp>
        <p:nvSpPr>
          <p:cNvPr id="9" name="Text 7"/>
          <p:cNvSpPr txBox="1"/>
          <p:nvPr/>
        </p:nvSpPr>
        <p:spPr>
          <a:xfrm>
            <a:off x="457200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Si el archivo de datos se editó, el número cambia aunque el código sea idéntico. El insumo se fija y se describe.</a:t>
            </a:r>
            <a:endParaRPr lang="en-US" sz="1250" dirty="0"/>
          </a:p>
        </p:txBody>
      </p:sp>
      <p:sp>
        <p:nvSpPr>
          <p:cNvPr id="10" name="Shape 8"/>
          <p:cNvSpPr/>
          <p:nvPr/>
        </p:nvSpPr>
        <p:spPr>
          <a:xfrm>
            <a:off x="8138160" y="1920240"/>
            <a:ext cx="3502152" cy="1828800"/>
          </a:xfrm>
          <a:prstGeom prst="roundRect">
            <a:avLst>
              <a:gd name="adj" fmla="val 3000"/>
            </a:avLst>
          </a:prstGeom>
          <a:solidFill>
            <a:srgbClr val="F9E7E3"/>
          </a:solidFill>
          <a:ln w="9525">
            <a:solidFill>
              <a:srgbClr val="D5DCE3"/>
            </a:solidFill>
            <a:prstDash val="solid"/>
          </a:ln>
        </p:spPr>
      </p:sp>
      <p:sp>
        <p:nvSpPr>
          <p:cNvPr id="11" name="Text 9"/>
          <p:cNvSpPr txBox="1"/>
          <p:nvPr/>
        </p:nvSpPr>
        <p:spPr>
          <a:xfrm>
            <a:off x="8366760" y="2103120"/>
            <a:ext cx="3044952" cy="411480"/>
          </a:xfrm>
          <a:prstGeom prst="rect">
            <a:avLst/>
          </a:prstGeom>
          <a:noFill/>
          <a:ln/>
        </p:spPr>
        <p:txBody>
          <a:bodyPr wrap="square" lIns="0" tIns="0" rIns="0" bIns="0" rtlCol="0" anchor="ctr"/>
          <a:lstStyle/>
          <a:p>
            <a:pPr indent="0" marL="0">
              <a:buNone/>
            </a:pPr>
            <a:r>
              <a:rPr lang="en-US" sz="1500" b="1" dirty="0">
                <a:solidFill>
                  <a:srgbClr val="A23B22"/>
                </a:solidFill>
                <a:latin typeface="Calibri" pitchFamily="34" charset="0"/>
                <a:ea typeface="Calibri" pitchFamily="34" charset="-122"/>
                <a:cs typeface="Calibri" pitchFamily="34" charset="-120"/>
              </a:rPr>
              <a:t>La IA que varía</a:t>
            </a:r>
            <a:endParaRPr lang="en-US" sz="1500" dirty="0"/>
          </a:p>
        </p:txBody>
      </p:sp>
      <p:sp>
        <p:nvSpPr>
          <p:cNvPr id="12" name="Text 10"/>
          <p:cNvSpPr txBox="1"/>
          <p:nvPr/>
        </p:nvSpPr>
        <p:spPr>
          <a:xfrm>
            <a:off x="8366760" y="2578608"/>
            <a:ext cx="3044952" cy="10515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mismo prompt puede dar código distinto en cada corrida o a cada persona. Un asistente no es determinista.</a:t>
            </a:r>
            <a:endParaRPr lang="en-US" sz="1250" dirty="0"/>
          </a:p>
        </p:txBody>
      </p:sp>
      <p:sp>
        <p:nvSpPr>
          <p:cNvPr id="13" name="Shape 11"/>
          <p:cNvSpPr/>
          <p:nvPr/>
        </p:nvSpPr>
        <p:spPr>
          <a:xfrm>
            <a:off x="548640" y="4023360"/>
            <a:ext cx="11091672" cy="1371600"/>
          </a:xfrm>
          <a:prstGeom prst="roundRect">
            <a:avLst>
              <a:gd name="adj" fmla="val 4000"/>
            </a:avLst>
          </a:prstGeom>
          <a:solidFill>
            <a:srgbClr val="15293B"/>
          </a:solidFill>
          <a:ln w="9525">
            <a:solidFill>
              <a:srgbClr val="D5DCE3"/>
            </a:solidFill>
            <a:prstDash val="solid"/>
          </a:ln>
        </p:spPr>
      </p:sp>
      <p:sp>
        <p:nvSpPr>
          <p:cNvPr id="14" name="Text 12"/>
          <p:cNvSpPr txBox="1"/>
          <p:nvPr/>
        </p:nvSpPr>
        <p:spPr>
          <a:xfrm>
            <a:off x="868680" y="4187952"/>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Se fija el flujo, no el prompt</a:t>
            </a:r>
            <a:endParaRPr lang="en-US" sz="1500" dirty="0"/>
          </a:p>
        </p:txBody>
      </p:sp>
      <p:sp>
        <p:nvSpPr>
          <p:cNvPr id="15" name="Text 13"/>
          <p:cNvSpPr txBox="1"/>
          <p:nvPr/>
        </p:nvSpPr>
        <p:spPr>
          <a:xfrm>
            <a:off x="868680" y="4572000"/>
            <a:ext cx="10451592" cy="77724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No sirve guardar el prompt que le diste a la IA, porque mañana el mismo prompt da otro código. Lo que se guarda y se comparte es el flujo terminado: el código, la semilla, el insumo fijo y las versiones (sessionInfo o renv). Ese paquete corre igual en otra máquina; el prompt no.</a:t>
            </a:r>
            <a:endParaRPr lang="en-US" sz="1300" dirty="0"/>
          </a:p>
        </p:txBody>
      </p:sp>
      <p:sp>
        <p:nvSpPr>
          <p:cNvPr id="16" name="Shape 14"/>
          <p:cNvSpPr/>
          <p:nvPr/>
        </p:nvSpPr>
        <p:spPr>
          <a:xfrm>
            <a:off x="548640" y="6053328"/>
            <a:ext cx="11091672" cy="603504"/>
          </a:xfrm>
          <a:prstGeom prst="rect">
            <a:avLst/>
          </a:prstGeom>
          <a:solidFill>
            <a:srgbClr val="FBEEE5"/>
          </a:solidFill>
          <a:ln/>
        </p:spPr>
      </p:sp>
      <p:sp>
        <p:nvSpPr>
          <p:cNvPr id="17" name="Shape 15"/>
          <p:cNvSpPr/>
          <p:nvPr/>
        </p:nvSpPr>
        <p:spPr>
          <a:xfrm>
            <a:off x="749808" y="6272784"/>
            <a:ext cx="164592" cy="164592"/>
          </a:xfrm>
          <a:prstGeom prst="roundRect">
            <a:avLst>
              <a:gd name="adj" fmla="val 22222"/>
            </a:avLst>
          </a:prstGeom>
          <a:solidFill>
            <a:srgbClr val="CB5E2E"/>
          </a:solidFill>
          <a:ln/>
        </p:spPr>
      </p:sp>
      <p:sp>
        <p:nvSpPr>
          <p:cNvPr id="18" name="Text 16"/>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artefacto reproducible es el flujo, no la conversación con la IA. La IA ayuda a escribirlo; una vez escrito, se fija y deja de depender de ella.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IA no es determinista, el flujo sí</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En nuestra prueba con DeepSeek, dos formas del mismo pedido dieron dos análisis distintos. Lo que se fija no es lo que le pediste, es lo que quedó escrito.</a:t>
            </a:r>
            <a:endParaRPr lang="en-US" sz="1400" dirty="0"/>
          </a:p>
        </p:txBody>
      </p:sp>
      <p:sp>
        <p:nvSpPr>
          <p:cNvPr id="4" name="Shape 2"/>
          <p:cNvSpPr/>
          <p:nvPr/>
        </p:nvSpPr>
        <p:spPr>
          <a:xfrm>
            <a:off x="548640" y="1920240"/>
            <a:ext cx="5394960" cy="2148840"/>
          </a:xfrm>
          <a:prstGeom prst="roundRect">
            <a:avLst>
              <a:gd name="adj" fmla="val 2553"/>
            </a:avLst>
          </a:prstGeom>
          <a:solidFill>
            <a:srgbClr val="F9E7E3"/>
          </a:solidFill>
          <a:ln w="9525">
            <a:solidFill>
              <a:srgbClr val="D5DCE3"/>
            </a:solidFill>
            <a:prstDash val="solid"/>
          </a:ln>
        </p:spPr>
      </p:sp>
      <p:sp>
        <p:nvSpPr>
          <p:cNvPr id="5" name="Text 3"/>
          <p:cNvSpPr txBox="1"/>
          <p:nvPr/>
        </p:nvSpPr>
        <p:spPr>
          <a:xfrm>
            <a:off x="822960" y="2103120"/>
            <a:ext cx="4846320" cy="292608"/>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LO QUE VARÍA: LA IA</a:t>
            </a:r>
            <a:endParaRPr lang="en-US" sz="1200" dirty="0"/>
          </a:p>
        </p:txBody>
      </p:sp>
      <p:sp>
        <p:nvSpPr>
          <p:cNvPr id="6" name="Text 4"/>
          <p:cNvSpPr txBox="1"/>
          <p:nvPr/>
        </p:nvSpPr>
        <p:spPr>
          <a:xfrm>
            <a:off x="822960" y="2450592"/>
            <a:ext cx="4846320" cy="54864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Mismo problema, dos códigos distintos, según cómo se pida y en qué corrida.</a:t>
            </a:r>
            <a:endParaRPr lang="en-US" sz="1250" dirty="0"/>
          </a:p>
        </p:txBody>
      </p:sp>
      <p:sp>
        <p:nvSpPr>
          <p:cNvPr id="7" name="Text 5"/>
          <p:cNvSpPr txBox="1"/>
          <p:nvPr/>
        </p:nvSpPr>
        <p:spPr>
          <a:xfrm>
            <a:off x="822960" y="3017520"/>
            <a:ext cx="4846320" cy="914400"/>
          </a:xfrm>
          <a:prstGeom prst="rect">
            <a:avLst/>
          </a:prstGeom>
          <a:noFill/>
          <a:ln/>
        </p:spPr>
        <p:txBody>
          <a:bodyPr wrap="square" lIns="0" tIns="0" rIns="0" bIns="0" rtlCol="0" anchor="ctr"/>
          <a:lstStyle/>
          <a:p>
            <a:pPr indent="0" marL="0">
              <a:lnSpc>
                <a:spcPct val="102000"/>
              </a:lnSpc>
              <a:buNone/>
            </a:pPr>
            <a:r>
              <a:rPr lang="en-US" sz="1200" dirty="0">
                <a:solidFill>
                  <a:srgbClr val="60707E"/>
                </a:solidFill>
                <a:latin typeface="Calibri" pitchFamily="34" charset="0"/>
                <a:ea typeface="Calibri" pitchFamily="34" charset="-122"/>
                <a:cs typeface="Calibri" pitchFamily="34" charset="-120"/>
              </a:rPr>
              <a:t>A temperatura mayor que cero, dos personas con el mismo prompt reciben respuestas que no coinciden. Guardar el prompt no basta para reproducir.</a:t>
            </a:r>
            <a:endParaRPr lang="en-US" sz="1200" dirty="0"/>
          </a:p>
        </p:txBody>
      </p:sp>
      <p:sp>
        <p:nvSpPr>
          <p:cNvPr id="8" name="Shape 6"/>
          <p:cNvSpPr/>
          <p:nvPr/>
        </p:nvSpPr>
        <p:spPr>
          <a:xfrm>
            <a:off x="6245352" y="1920240"/>
            <a:ext cx="5394960" cy="2148840"/>
          </a:xfrm>
          <a:prstGeom prst="roundRect">
            <a:avLst>
              <a:gd name="adj" fmla="val 2553"/>
            </a:avLst>
          </a:prstGeom>
          <a:solidFill>
            <a:srgbClr val="E7F2EA"/>
          </a:solidFill>
          <a:ln w="9525">
            <a:solidFill>
              <a:srgbClr val="D5DCE3"/>
            </a:solidFill>
            <a:prstDash val="solid"/>
          </a:ln>
        </p:spPr>
      </p:sp>
      <p:sp>
        <p:nvSpPr>
          <p:cNvPr id="9" name="Text 7"/>
          <p:cNvSpPr txBox="1"/>
          <p:nvPr/>
        </p:nvSpPr>
        <p:spPr>
          <a:xfrm>
            <a:off x="6519672" y="2103120"/>
            <a:ext cx="4846320" cy="292608"/>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LO QUE SE FIJA: EL FLUJO</a:t>
            </a:r>
            <a:endParaRPr lang="en-US" sz="1200" dirty="0"/>
          </a:p>
        </p:txBody>
      </p:sp>
      <p:sp>
        <p:nvSpPr>
          <p:cNvPr id="10" name="Text 8"/>
          <p:cNvSpPr txBox="1"/>
          <p:nvPr/>
        </p:nvSpPr>
        <p:spPr>
          <a:xfrm>
            <a:off x="6519672" y="2450592"/>
            <a:ext cx="4846320" cy="54864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código, la semilla, el insumo y las versiones, en un archivo que se vuelve a correr.</a:t>
            </a:r>
            <a:endParaRPr lang="en-US" sz="1250" dirty="0"/>
          </a:p>
        </p:txBody>
      </p:sp>
      <p:sp>
        <p:nvSpPr>
          <p:cNvPr id="11" name="Text 9"/>
          <p:cNvSpPr txBox="1"/>
          <p:nvPr/>
        </p:nvSpPr>
        <p:spPr>
          <a:xfrm>
            <a:off x="6519672" y="3017520"/>
            <a:ext cx="4846320" cy="914400"/>
          </a:xfrm>
          <a:prstGeom prst="rect">
            <a:avLst/>
          </a:prstGeom>
          <a:noFill/>
          <a:ln/>
        </p:spPr>
        <p:txBody>
          <a:bodyPr wrap="square" lIns="0" tIns="0" rIns="0" bIns="0" rtlCol="0" anchor="ctr"/>
          <a:lstStyle/>
          <a:p>
            <a:pPr indent="0" marL="0">
              <a:lnSpc>
                <a:spcPct val="102000"/>
              </a:lnSpc>
              <a:buNone/>
            </a:pPr>
            <a:r>
              <a:rPr lang="en-US" sz="1200" dirty="0">
                <a:solidFill>
                  <a:srgbClr val="1E2A35"/>
                </a:solidFill>
                <a:latin typeface="Calibri" pitchFamily="34" charset="0"/>
                <a:ea typeface="Calibri" pitchFamily="34" charset="-122"/>
                <a:cs typeface="Calibri" pitchFamily="34" charset="-120"/>
              </a:rPr>
              <a:t>sessionInfo() deja registro de las versiones; renv las congela. La prueba final: reiniciar y correr todo de cero, y obtener el mismo número.</a:t>
            </a:r>
            <a:endParaRPr lang="en-US" sz="1200" dirty="0"/>
          </a:p>
        </p:txBody>
      </p:sp>
      <p:sp>
        <p:nvSpPr>
          <p:cNvPr id="12" name="Shape 10"/>
          <p:cNvSpPr/>
          <p:nvPr/>
        </p:nvSpPr>
        <p:spPr>
          <a:xfrm>
            <a:off x="548640" y="6053328"/>
            <a:ext cx="11091672" cy="603504"/>
          </a:xfrm>
          <a:prstGeom prst="rect">
            <a:avLst/>
          </a:prstGeom>
          <a:solidFill>
            <a:srgbClr val="FBEEE5"/>
          </a:solidFill>
          <a:ln/>
        </p:spPr>
      </p:sp>
      <p:sp>
        <p:nvSpPr>
          <p:cNvPr id="13" name="Shape 11"/>
          <p:cNvSpPr/>
          <p:nvPr/>
        </p:nvSpPr>
        <p:spPr>
          <a:xfrm>
            <a:off x="749808" y="6272784"/>
            <a:ext cx="164592" cy="164592"/>
          </a:xfrm>
          <a:prstGeom prst="roundRect">
            <a:avLst>
              <a:gd name="adj" fmla="val 22222"/>
            </a:avLst>
          </a:prstGeom>
          <a:solidFill>
            <a:srgbClr val="CB5E2E"/>
          </a:solidFill>
          <a:ln/>
        </p:spPr>
      </p:sp>
      <p:sp>
        <p:nvSpPr>
          <p:cNvPr id="14" name="Text 1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prueba de fuego es reiniciar y correr todo de arriba a abajo. Si el número no sale igual, algo quedó fuera del flujo, y no es reproducible.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frontera de reproducibilidad</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La reproducibilidad empieza en un punto: un dataset limpio, versionado y documentado. Lo de después lo reproduce cualquiera; lo de antes es un pipeline que quizá solo corre adentro.</a:t>
            </a:r>
            <a:endParaRPr lang="en-US" sz="1400" dirty="0"/>
          </a:p>
        </p:txBody>
      </p:sp>
      <p:sp>
        <p:nvSpPr>
          <p:cNvPr id="4" name="Shape 2"/>
          <p:cNvSpPr/>
          <p:nvPr/>
        </p:nvSpPr>
        <p:spPr>
          <a:xfrm>
            <a:off x="548640" y="1783080"/>
            <a:ext cx="3977640" cy="1325880"/>
          </a:xfrm>
          <a:prstGeom prst="roundRect">
            <a:avLst>
              <a:gd name="adj" fmla="val 4138"/>
            </a:avLst>
          </a:prstGeom>
          <a:solidFill>
            <a:srgbClr val="EEF2F5"/>
          </a:solidFill>
          <a:ln w="9525">
            <a:solidFill>
              <a:srgbClr val="D5DCE3"/>
            </a:solidFill>
            <a:prstDash val="solid"/>
          </a:ln>
        </p:spPr>
      </p:sp>
      <p:sp>
        <p:nvSpPr>
          <p:cNvPr id="5" name="Text 3"/>
          <p:cNvSpPr txBox="1"/>
          <p:nvPr/>
        </p:nvSpPr>
        <p:spPr>
          <a:xfrm>
            <a:off x="749808" y="1929384"/>
            <a:ext cx="3657600" cy="274320"/>
          </a:xfrm>
          <a:prstGeom prst="rect">
            <a:avLst/>
          </a:prstGeom>
          <a:noFill/>
          <a:ln/>
        </p:spPr>
        <p:txBody>
          <a:bodyPr wrap="square" lIns="0" tIns="0" rIns="0" bIns="0" rtlCol="0" anchor="ctr"/>
          <a:lstStyle/>
          <a:p>
            <a:pPr indent="0" marL="0">
              <a:buNone/>
            </a:pPr>
            <a:r>
              <a:rPr lang="en-US" sz="1050" b="1" spc="100" kern="0" dirty="0">
                <a:solidFill>
                  <a:srgbClr val="60707E"/>
                </a:solidFill>
                <a:latin typeface="Calibri" pitchFamily="34" charset="0"/>
                <a:ea typeface="Calibri" pitchFamily="34" charset="-122"/>
                <a:cs typeface="Calibri" pitchFamily="34" charset="-120"/>
              </a:rPr>
              <a:t>AGUAS ARRIBA · repo restringido</a:t>
            </a:r>
            <a:endParaRPr lang="en-US" sz="1050" dirty="0"/>
          </a:p>
        </p:txBody>
      </p:sp>
      <p:sp>
        <p:nvSpPr>
          <p:cNvPr id="6" name="Text 4"/>
          <p:cNvSpPr txBox="1"/>
          <p:nvPr/>
        </p:nvSpPr>
        <p:spPr>
          <a:xfrm>
            <a:off x="749808" y="2240280"/>
            <a:ext cx="3657600" cy="548640"/>
          </a:xfrm>
          <a:prstGeom prst="rect">
            <a:avLst/>
          </a:prstGeom>
          <a:noFill/>
          <a:ln/>
        </p:spPr>
        <p:txBody>
          <a:bodyPr wrap="square" lIns="0" tIns="0" rIns="0" bIns="0" rtlCol="0" anchor="ctr"/>
          <a:lstStyle/>
          <a:p>
            <a:pPr indent="0" marL="0">
              <a:lnSpc>
                <a:spcPct val="100000"/>
              </a:lnSpc>
              <a:buNone/>
            </a:pPr>
            <a:r>
              <a:rPr lang="en-US" sz="1300" b="1" dirty="0">
                <a:solidFill>
                  <a:srgbClr val="1E2A35"/>
                </a:solidFill>
                <a:latin typeface="Cambria" pitchFamily="34" charset="0"/>
                <a:ea typeface="Cambria" pitchFamily="34" charset="-122"/>
                <a:cs typeface="Cambria" pitchFamily="34" charset="-120"/>
              </a:rPr>
              <a:t>00_adquisicion.R</a:t>
            </a:r>
            <a:endParaRPr lang="en-US" sz="1300" dirty="0"/>
          </a:p>
          <a:p>
            <a:pPr indent="0" marL="0">
              <a:lnSpc>
                <a:spcPct val="100000"/>
              </a:lnSpc>
              <a:buNone/>
            </a:pPr>
            <a:r>
              <a:rPr lang="en-US" sz="1300" b="1" dirty="0">
                <a:solidFill>
                  <a:srgbClr val="1E2A35"/>
                </a:solidFill>
                <a:latin typeface="Cambria" pitchFamily="34" charset="0"/>
                <a:ea typeface="Cambria" pitchFamily="34" charset="-122"/>
                <a:cs typeface="Cambria" pitchFamily="34" charset="-120"/>
              </a:rPr>
              <a:t>01_limpieza.R</a:t>
            </a:r>
            <a:endParaRPr lang="en-US" sz="1300" dirty="0"/>
          </a:p>
        </p:txBody>
      </p:sp>
      <p:sp>
        <p:nvSpPr>
          <p:cNvPr id="7" name="Text 5"/>
          <p:cNvSpPr txBox="1"/>
          <p:nvPr/>
        </p:nvSpPr>
        <p:spPr>
          <a:xfrm>
            <a:off x="749808" y="2807208"/>
            <a:ext cx="3657600" cy="228600"/>
          </a:xfrm>
          <a:prstGeom prst="rect">
            <a:avLst/>
          </a:prstGeom>
          <a:noFill/>
          <a:ln/>
        </p:spPr>
        <p:txBody>
          <a:bodyPr wrap="square" lIns="0" tIns="0" rIns="0" bIns="0" rtlCol="0" anchor="ctr"/>
          <a:lstStyle/>
          <a:p>
            <a:pPr indent="0" marL="0">
              <a:buNone/>
            </a:pPr>
            <a:r>
              <a:rPr lang="en-US" sz="1000" i="1" dirty="0">
                <a:solidFill>
                  <a:srgbClr val="A23B22"/>
                </a:solidFill>
                <a:latin typeface="Calibri" pitchFamily="34" charset="0"/>
                <a:ea typeface="Calibri" pitchFamily="34" charset="-122"/>
                <a:cs typeface="Calibri" pitchFamily="34" charset="-120"/>
              </a:rPr>
              <a:t>usa credenciales</a:t>
            </a:r>
            <a:endParaRPr lang="en-US" sz="1000" dirty="0"/>
          </a:p>
        </p:txBody>
      </p:sp>
      <p:sp>
        <p:nvSpPr>
          <p:cNvPr id="8" name="Shape 6"/>
          <p:cNvSpPr/>
          <p:nvPr/>
        </p:nvSpPr>
        <p:spPr>
          <a:xfrm>
            <a:off x="4663440" y="1783080"/>
            <a:ext cx="2651760" cy="1325880"/>
          </a:xfrm>
          <a:prstGeom prst="roundRect">
            <a:avLst>
              <a:gd name="adj" fmla="val 4138"/>
            </a:avLst>
          </a:prstGeom>
          <a:solidFill>
            <a:srgbClr val="CB5E2E"/>
          </a:solidFill>
          <a:ln/>
        </p:spPr>
      </p:sp>
      <p:sp>
        <p:nvSpPr>
          <p:cNvPr id="9" name="Text 7"/>
          <p:cNvSpPr txBox="1"/>
          <p:nvPr/>
        </p:nvSpPr>
        <p:spPr>
          <a:xfrm>
            <a:off x="4754880" y="1965960"/>
            <a:ext cx="246888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LA FRONTERA</a:t>
            </a:r>
            <a:endParaRPr lang="en-US" sz="1100" dirty="0"/>
          </a:p>
        </p:txBody>
      </p:sp>
      <p:sp>
        <p:nvSpPr>
          <p:cNvPr id="10" name="Text 8"/>
          <p:cNvSpPr txBox="1"/>
          <p:nvPr/>
        </p:nvSpPr>
        <p:spPr>
          <a:xfrm>
            <a:off x="4754880" y="2295144"/>
            <a:ext cx="2468880" cy="640080"/>
          </a:xfrm>
          <a:prstGeom prst="rect">
            <a:avLst/>
          </a:prstGeom>
          <a:noFill/>
          <a:ln/>
        </p:spPr>
        <p:txBody>
          <a:bodyPr wrap="square" lIns="0" tIns="0" rIns="0" bIns="0" rtlCol="0" anchor="ctr"/>
          <a:lstStyle/>
          <a:p>
            <a:pPr algn="ctr" indent="0" marL="0">
              <a:lnSpc>
                <a:spcPct val="100000"/>
              </a:lnSpc>
              <a:buNone/>
            </a:pPr>
            <a:r>
              <a:rPr lang="en-US" sz="1250" b="1" dirty="0">
                <a:solidFill>
                  <a:srgbClr val="FFFFFF"/>
                </a:solidFill>
                <a:latin typeface="Cambria" pitchFamily="34" charset="0"/>
                <a:ea typeface="Cambria" pitchFamily="34" charset="-122"/>
                <a:cs typeface="Cambria" pitchFamily="34" charset="-120"/>
              </a:rPr>
              <a:t>datos/procesados/</a:t>
            </a:r>
            <a:endParaRPr lang="en-US" sz="1250" dirty="0"/>
          </a:p>
          <a:p>
            <a:pPr algn="ctr" indent="0" marL="0">
              <a:lnSpc>
                <a:spcPct val="100000"/>
              </a:lnSpc>
              <a:buNone/>
            </a:pPr>
            <a:r>
              <a:rPr lang="en-US" sz="1250" b="1" dirty="0">
                <a:solidFill>
                  <a:srgbClr val="FFFFFF"/>
                </a:solidFill>
                <a:latin typeface="Cambria" pitchFamily="34" charset="0"/>
                <a:ea typeface="Cambria" pitchFamily="34" charset="-122"/>
                <a:cs typeface="Cambria" pitchFamily="34" charset="-120"/>
              </a:rPr>
              <a:t>+ diccionario.md</a:t>
            </a:r>
            <a:endParaRPr lang="en-US" sz="1250" dirty="0"/>
          </a:p>
        </p:txBody>
      </p:sp>
      <p:sp>
        <p:nvSpPr>
          <p:cNvPr id="11" name="Shape 9"/>
          <p:cNvSpPr/>
          <p:nvPr/>
        </p:nvSpPr>
        <p:spPr>
          <a:xfrm>
            <a:off x="7452360" y="1783080"/>
            <a:ext cx="4187952" cy="1325880"/>
          </a:xfrm>
          <a:prstGeom prst="roundRect">
            <a:avLst>
              <a:gd name="adj" fmla="val 4138"/>
            </a:avLst>
          </a:prstGeom>
          <a:solidFill>
            <a:srgbClr val="E7F2EA"/>
          </a:solidFill>
          <a:ln w="9525">
            <a:solidFill>
              <a:srgbClr val="D5DCE3"/>
            </a:solidFill>
            <a:prstDash val="solid"/>
          </a:ln>
        </p:spPr>
      </p:sp>
      <p:sp>
        <p:nvSpPr>
          <p:cNvPr id="12" name="Text 10"/>
          <p:cNvSpPr txBox="1"/>
          <p:nvPr/>
        </p:nvSpPr>
        <p:spPr>
          <a:xfrm>
            <a:off x="7653528" y="1929384"/>
            <a:ext cx="3785616" cy="274320"/>
          </a:xfrm>
          <a:prstGeom prst="rect">
            <a:avLst/>
          </a:prstGeom>
          <a:noFill/>
          <a:ln/>
        </p:spPr>
        <p:txBody>
          <a:bodyPr wrap="square" lIns="0" tIns="0" rIns="0" bIns="0" rtlCol="0" anchor="ctr"/>
          <a:lstStyle/>
          <a:p>
            <a:pPr indent="0" marL="0">
              <a:buNone/>
            </a:pPr>
            <a:r>
              <a:rPr lang="en-US" sz="1050" b="1" spc="100" kern="0" dirty="0">
                <a:solidFill>
                  <a:srgbClr val="2E6E49"/>
                </a:solidFill>
                <a:latin typeface="Calibri" pitchFamily="34" charset="0"/>
                <a:ea typeface="Calibri" pitchFamily="34" charset="-122"/>
                <a:cs typeface="Calibri" pitchFamily="34" charset="-120"/>
              </a:rPr>
              <a:t>AGUAS ABAJO · repo compartido</a:t>
            </a:r>
            <a:endParaRPr lang="en-US" sz="1050" dirty="0"/>
          </a:p>
        </p:txBody>
      </p:sp>
      <p:sp>
        <p:nvSpPr>
          <p:cNvPr id="13" name="Text 11"/>
          <p:cNvSpPr txBox="1"/>
          <p:nvPr/>
        </p:nvSpPr>
        <p:spPr>
          <a:xfrm>
            <a:off x="7653528" y="2240280"/>
            <a:ext cx="3785616" cy="548640"/>
          </a:xfrm>
          <a:prstGeom prst="rect">
            <a:avLst/>
          </a:prstGeom>
          <a:noFill/>
          <a:ln/>
        </p:spPr>
        <p:txBody>
          <a:bodyPr wrap="square" lIns="0" tIns="0" rIns="0" bIns="0" rtlCol="0" anchor="ctr"/>
          <a:lstStyle/>
          <a:p>
            <a:pPr indent="0" marL="0">
              <a:lnSpc>
                <a:spcPct val="100000"/>
              </a:lnSpc>
              <a:buNone/>
            </a:pPr>
            <a:r>
              <a:rPr lang="en-US" sz="1300" b="1" dirty="0">
                <a:solidFill>
                  <a:srgbClr val="1E2A35"/>
                </a:solidFill>
                <a:latin typeface="Cambria" pitchFamily="34" charset="0"/>
                <a:ea typeface="Cambria" pitchFamily="34" charset="-122"/>
                <a:cs typeface="Cambria" pitchFamily="34" charset="-120"/>
              </a:rPr>
              <a:t>02_analisis.Rmd</a:t>
            </a:r>
            <a:endParaRPr lang="en-US" sz="1300" dirty="0"/>
          </a:p>
          <a:p>
            <a:pPr indent="0" marL="0">
              <a:lnSpc>
                <a:spcPct val="100000"/>
              </a:lnSpc>
              <a:buNone/>
            </a:pPr>
            <a:r>
              <a:rPr lang="en-US" sz="1300" b="1" dirty="0">
                <a:solidFill>
                  <a:srgbClr val="1E2A35"/>
                </a:solidFill>
                <a:latin typeface="Cambria" pitchFamily="34" charset="0"/>
                <a:ea typeface="Cambria" pitchFamily="34" charset="-122"/>
                <a:cs typeface="Cambria" pitchFamily="34" charset="-120"/>
              </a:rPr>
              <a:t>03_reporte.ipynb</a:t>
            </a:r>
            <a:endParaRPr lang="en-US" sz="1300" dirty="0"/>
          </a:p>
        </p:txBody>
      </p:sp>
      <p:sp>
        <p:nvSpPr>
          <p:cNvPr id="14" name="Text 12"/>
          <p:cNvSpPr txBox="1"/>
          <p:nvPr/>
        </p:nvSpPr>
        <p:spPr>
          <a:xfrm>
            <a:off x="7653528" y="2807208"/>
            <a:ext cx="3785616" cy="228600"/>
          </a:xfrm>
          <a:prstGeom prst="rect">
            <a:avLst/>
          </a:prstGeom>
          <a:noFill/>
          <a:ln/>
        </p:spPr>
        <p:txBody>
          <a:bodyPr wrap="square" lIns="0" tIns="0" rIns="0" bIns="0" rtlCol="0" anchor="ctr"/>
          <a:lstStyle/>
          <a:p>
            <a:pPr indent="0" marL="0">
              <a:buNone/>
            </a:pPr>
            <a:r>
              <a:rPr lang="en-US" sz="1000" i="1" dirty="0">
                <a:solidFill>
                  <a:srgbClr val="2E6E49"/>
                </a:solidFill>
                <a:latin typeface="Calibri" pitchFamily="34" charset="0"/>
                <a:ea typeface="Calibri" pitchFamily="34" charset="-122"/>
                <a:cs typeface="Calibri" pitchFamily="34" charset="-120"/>
              </a:rPr>
              <a:t>100% reproducible</a:t>
            </a:r>
            <a:endParaRPr lang="en-US" sz="1000" dirty="0"/>
          </a:p>
        </p:txBody>
      </p:sp>
      <p:sp>
        <p:nvSpPr>
          <p:cNvPr id="15" name="Shape 13"/>
          <p:cNvSpPr/>
          <p:nvPr/>
        </p:nvSpPr>
        <p:spPr>
          <a:xfrm>
            <a:off x="548640" y="3291840"/>
            <a:ext cx="5394960" cy="2148840"/>
          </a:xfrm>
          <a:prstGeom prst="roundRect">
            <a:avLst>
              <a:gd name="adj" fmla="val 2553"/>
            </a:avLst>
          </a:prstGeom>
          <a:solidFill>
            <a:srgbClr val="FFFFFF"/>
          </a:solidFill>
          <a:ln w="9525">
            <a:solidFill>
              <a:srgbClr val="D5DCE3"/>
            </a:solidFill>
            <a:prstDash val="solid"/>
          </a:ln>
        </p:spPr>
      </p:sp>
      <p:sp>
        <p:nvSpPr>
          <p:cNvPr id="16" name="Text 14"/>
          <p:cNvSpPr txBox="1"/>
          <p:nvPr/>
        </p:nvSpPr>
        <p:spPr>
          <a:xfrm>
            <a:off x="822960" y="347472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Las credenciales, fuera del repo</a:t>
            </a:r>
            <a:endParaRPr lang="en-US" sz="1500" dirty="0"/>
          </a:p>
        </p:txBody>
      </p:sp>
      <p:sp>
        <p:nvSpPr>
          <p:cNvPr id="17" name="Text 15"/>
          <p:cNvSpPr txBox="1"/>
          <p:nvPr/>
        </p:nvSpPr>
        <p:spPr>
          <a:xfrm>
            <a:off x="822960" y="3858768"/>
            <a:ext cx="4846320" cy="146304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Van en variables de entorno (.Renviron o .env, en .gitignore), no en el código; en el repo, solo una plantilla sin valores. La adquisición con credenciales vive en un repo aparte, restringido.
</a:t>
            </a:r>
            <a:pPr indent="0" marL="0">
              <a:lnSpc>
                <a:spcPct val="105000"/>
              </a:lnSpc>
              <a:buNone/>
            </a:pPr>
            <a:r>
              <a:rPr lang="en-US" sz="1200" dirty="0">
                <a:solidFill>
                  <a:srgbClr val="60707E"/>
                </a:solidFill>
                <a:latin typeface="Calibri" pitchFamily="34" charset="0"/>
                <a:ea typeface="Calibri" pitchFamily="34" charset="-122"/>
                <a:cs typeface="Calibri" pitchFamily="34" charset="-120"/>
              </a:rPr>
              <a:t>En GitLab: Secret Detection y push rules bloquean el secreto; las variables de CI lo guardan fuera del repo.</a:t>
            </a:r>
            <a:endParaRPr lang="en-US" sz="1200" dirty="0"/>
          </a:p>
        </p:txBody>
      </p:sp>
      <p:sp>
        <p:nvSpPr>
          <p:cNvPr id="18" name="Shape 16"/>
          <p:cNvSpPr/>
          <p:nvPr/>
        </p:nvSpPr>
        <p:spPr>
          <a:xfrm>
            <a:off x="6245352" y="3291840"/>
            <a:ext cx="5394960" cy="2148840"/>
          </a:xfrm>
          <a:prstGeom prst="roundRect">
            <a:avLst>
              <a:gd name="adj" fmla="val 2553"/>
            </a:avLst>
          </a:prstGeom>
          <a:solidFill>
            <a:srgbClr val="FFFFFF"/>
          </a:solidFill>
          <a:ln w="9525">
            <a:solidFill>
              <a:srgbClr val="D5DCE3"/>
            </a:solidFill>
            <a:prstDash val="solid"/>
          </a:ln>
        </p:spPr>
      </p:sp>
      <p:sp>
        <p:nvSpPr>
          <p:cNvPr id="19" name="Text 17"/>
          <p:cNvSpPr txBox="1"/>
          <p:nvPr/>
        </p:nvSpPr>
        <p:spPr>
          <a:xfrm>
            <a:off x="6519672" y="347472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Tres estándares de estructura</a:t>
            </a:r>
            <a:endParaRPr lang="en-US" sz="1500" dirty="0"/>
          </a:p>
        </p:txBody>
      </p:sp>
      <p:sp>
        <p:nvSpPr>
          <p:cNvPr id="20" name="Text 18"/>
          <p:cNvSpPr txBox="1"/>
          <p:nvPr/>
        </p:nvSpPr>
        <p:spPr>
          <a:xfrm>
            <a:off x="6519672" y="3858768"/>
            <a:ext cx="4846320" cy="1463040"/>
          </a:xfrm>
          <a:prstGeom prst="rect">
            <a:avLst/>
          </a:prstGeom>
          <a:noFill/>
          <a:ln/>
        </p:spPr>
        <p:txBody>
          <a:bodyPr wrap="square" lIns="0" tIns="0" rIns="0" bIns="0" rtlCol="0" anchor="ctr"/>
          <a:lstStyle/>
          <a:p>
            <a:pPr indent="0" marL="0">
              <a:lnSpc>
                <a:spcPct val="108000"/>
              </a:lnSpc>
              <a:buNone/>
            </a:pPr>
            <a:r>
              <a:rPr lang="en-US" sz="1150" b="1" dirty="0">
                <a:solidFill>
                  <a:srgbClr val="1E2A35"/>
                </a:solidFill>
                <a:latin typeface="Calibri" pitchFamily="34" charset="0"/>
                <a:ea typeface="Calibri" pitchFamily="34" charset="-122"/>
                <a:cs typeface="Calibri" pitchFamily="34" charset="-120"/>
              </a:rPr>
              <a:t>TIER Protocol 4.0</a:t>
            </a:r>
            <a:pPr indent="0" marL="0">
              <a:lnSpc>
                <a:spcPct val="108000"/>
              </a:lnSpc>
              <a:buNone/>
            </a:pPr>
            <a:r>
              <a:rPr lang="en-US" sz="1150" dirty="0">
                <a:solidFill>
                  <a:srgbClr val="60707E"/>
                </a:solidFill>
                <a:latin typeface="Calibri" pitchFamily="34" charset="0"/>
                <a:ea typeface="Calibri" pitchFamily="34" charset="-122"/>
                <a:cs typeface="Calibri" pitchFamily="34" charset="-120"/>
              </a:rPr>
              <a:t> · Project TIER, Ball y Medeiros (Haverford). Para economía empírica.
</a:t>
            </a:r>
            <a:pPr indent="0" marL="0">
              <a:lnSpc>
                <a:spcPct val="108000"/>
              </a:lnSpc>
              <a:buNone/>
            </a:pPr>
            <a:r>
              <a:rPr lang="en-US" sz="1150" b="1" dirty="0">
                <a:solidFill>
                  <a:srgbClr val="1E2A35"/>
                </a:solidFill>
                <a:latin typeface="Calibri" pitchFamily="34" charset="0"/>
                <a:ea typeface="Calibri" pitchFamily="34" charset="-122"/>
                <a:cs typeface="Calibri" pitchFamily="34" charset="-120"/>
              </a:rPr>
              <a:t>Cookiecutter Data Science</a:t>
            </a:r>
            <a:pPr indent="0" marL="0">
              <a:lnSpc>
                <a:spcPct val="108000"/>
              </a:lnSpc>
              <a:buNone/>
            </a:pPr>
            <a:r>
              <a:rPr lang="en-US" sz="1150" dirty="0">
                <a:solidFill>
                  <a:srgbClr val="60707E"/>
                </a:solidFill>
                <a:latin typeface="Calibri" pitchFamily="34" charset="0"/>
                <a:ea typeface="Calibri" pitchFamily="34" charset="-122"/>
                <a:cs typeface="Calibri" pitchFamily="34" charset="-120"/>
              </a:rPr>
              <a:t> · DrivenData. El de facto en Python.
</a:t>
            </a:r>
            <a:pPr indent="0" marL="0">
              <a:lnSpc>
                <a:spcPct val="108000"/>
              </a:lnSpc>
              <a:buNone/>
            </a:pPr>
            <a:r>
              <a:rPr lang="en-US" sz="1150" b="1" dirty="0">
                <a:solidFill>
                  <a:srgbClr val="1E2A35"/>
                </a:solidFill>
                <a:latin typeface="Calibri" pitchFamily="34" charset="0"/>
                <a:ea typeface="Calibri" pitchFamily="34" charset="-122"/>
                <a:cs typeface="Calibri" pitchFamily="34" charset="-120"/>
              </a:rPr>
              <a:t>rrtools / compendio</a:t>
            </a:r>
            <a:pPr indent="0" marL="0">
              <a:lnSpc>
                <a:spcPct val="108000"/>
              </a:lnSpc>
              <a:buNone/>
            </a:pPr>
            <a:r>
              <a:rPr lang="en-US" sz="1150" dirty="0">
                <a:solidFill>
                  <a:srgbClr val="60707E"/>
                </a:solidFill>
                <a:latin typeface="Calibri" pitchFamily="34" charset="0"/>
                <a:ea typeface="Calibri" pitchFamily="34" charset="-122"/>
                <a:cs typeface="Calibri" pitchFamily="34" charset="-120"/>
              </a:rPr>
              <a:t> · Marwick, Boettiger y Mullen (2018), The American Statistician. Para R.
</a:t>
            </a:r>
            <a:pPr indent="0" marL="0">
              <a:lnSpc>
                <a:spcPct val="108000"/>
              </a:lnSpc>
              <a:buNone/>
            </a:pPr>
            <a:r>
              <a:rPr lang="en-US" sz="1150" i="1" dirty="0">
                <a:solidFill>
                  <a:srgbClr val="60707E"/>
                </a:solidFill>
                <a:latin typeface="Calibri" pitchFamily="34" charset="0"/>
                <a:ea typeface="Calibri" pitchFamily="34" charset="-122"/>
                <a:cs typeface="Calibri" pitchFamily="34" charset="-120"/>
              </a:rPr>
              <a:t>Principios: Wilson et al. (2017), PLOS Comp. Biol.</a:t>
            </a:r>
            <a:endParaRPr lang="en-US" sz="1150" dirty="0"/>
          </a:p>
        </p:txBody>
      </p:sp>
      <p:sp>
        <p:nvSpPr>
          <p:cNvPr id="21" name="Shape 19"/>
          <p:cNvSpPr/>
          <p:nvPr/>
        </p:nvSpPr>
        <p:spPr>
          <a:xfrm>
            <a:off x="548640" y="6053328"/>
            <a:ext cx="11091672" cy="603504"/>
          </a:xfrm>
          <a:prstGeom prst="rect">
            <a:avLst/>
          </a:prstGeom>
          <a:solidFill>
            <a:srgbClr val="FBEEE5"/>
          </a:solidFill>
          <a:ln/>
        </p:spPr>
      </p:sp>
      <p:sp>
        <p:nvSpPr>
          <p:cNvPr id="22" name="Shape 20"/>
          <p:cNvSpPr/>
          <p:nvPr/>
        </p:nvSpPr>
        <p:spPr>
          <a:xfrm>
            <a:off x="749808" y="6272784"/>
            <a:ext cx="164592" cy="164592"/>
          </a:xfrm>
          <a:prstGeom prst="roundRect">
            <a:avLst>
              <a:gd name="adj" fmla="val 22222"/>
            </a:avLst>
          </a:prstGeom>
          <a:solidFill>
            <a:srgbClr val="CB5E2E"/>
          </a:solidFill>
          <a:ln/>
        </p:spPr>
      </p:sp>
      <p:sp>
        <p:nvSpPr>
          <p:cNvPr id="23" name="Text 21"/>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frontera se dibuja en el dato documentado, no en un punto arbitrario del código. Antes: pipeline restringido; después: reproducible para cualquiera.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A qué aspirar: del script numerado al pipeline</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Los scripts numerados y un README son el «suficientemente bueno» para empezar. Cuando el trabajo se vuelve recurrente y compartido, tres escalones lo hacen robusto.</a:t>
            </a:r>
            <a:endParaRPr lang="en-US" sz="1400" dirty="0"/>
          </a:p>
        </p:txBody>
      </p:sp>
      <p:sp>
        <p:nvSpPr>
          <p:cNvPr id="4" name="Shape 2"/>
          <p:cNvSpPr/>
          <p:nvPr/>
        </p:nvSpPr>
        <p:spPr>
          <a:xfrm>
            <a:off x="548640" y="1920240"/>
            <a:ext cx="3502152" cy="2743200"/>
          </a:xfrm>
          <a:prstGeom prst="roundRect">
            <a:avLst>
              <a:gd name="adj" fmla="val 2000"/>
            </a:avLst>
          </a:prstGeom>
          <a:solidFill>
            <a:srgbClr val="EEF2F5"/>
          </a:solidFill>
          <a:ln w="9525">
            <a:solidFill>
              <a:srgbClr val="D5DCE3"/>
            </a:solidFill>
            <a:prstDash val="solid"/>
          </a:ln>
        </p:spPr>
      </p:sp>
      <p:sp>
        <p:nvSpPr>
          <p:cNvPr id="5" name="Shape 3"/>
          <p:cNvSpPr/>
          <p:nvPr/>
        </p:nvSpPr>
        <p:spPr>
          <a:xfrm>
            <a:off x="804672" y="2176272"/>
            <a:ext cx="457200" cy="457200"/>
          </a:xfrm>
          <a:prstGeom prst="ellipse">
            <a:avLst/>
          </a:prstGeom>
          <a:solidFill>
            <a:srgbClr val="CB5E2E"/>
          </a:solidFill>
          <a:ln/>
        </p:spPr>
      </p:sp>
      <p:sp>
        <p:nvSpPr>
          <p:cNvPr id="6" name="Text 4"/>
          <p:cNvSpPr txBox="1"/>
          <p:nvPr/>
        </p:nvSpPr>
        <p:spPr>
          <a:xfrm>
            <a:off x="804672" y="2176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2212848"/>
            <a:ext cx="2496312"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Orquestación</a:t>
            </a:r>
            <a:endParaRPr lang="en-US" sz="1500" dirty="0"/>
          </a:p>
        </p:txBody>
      </p:sp>
      <p:sp>
        <p:nvSpPr>
          <p:cNvPr id="8" name="Text 6"/>
          <p:cNvSpPr txBox="1"/>
          <p:nvPr/>
        </p:nvSpPr>
        <p:spPr>
          <a:xfrm>
            <a:off x="804672" y="2834640"/>
            <a:ext cx="2990088" cy="123444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Un grafo de dependencias, no números a mano: corre solo lo que cambió y garantiza el orden.</a:t>
            </a:r>
            <a:endParaRPr lang="en-US" sz="1250" dirty="0"/>
          </a:p>
        </p:txBody>
      </p:sp>
      <p:sp>
        <p:nvSpPr>
          <p:cNvPr id="9" name="Shape 7"/>
          <p:cNvSpPr/>
          <p:nvPr/>
        </p:nvSpPr>
        <p:spPr>
          <a:xfrm>
            <a:off x="804672" y="4151376"/>
            <a:ext cx="2990088" cy="0"/>
          </a:xfrm>
          <a:prstGeom prst="line">
            <a:avLst/>
          </a:prstGeom>
          <a:noFill/>
          <a:ln w="9525">
            <a:solidFill>
              <a:srgbClr val="D5DCE3"/>
            </a:solidFill>
            <a:prstDash val="solid"/>
          </a:ln>
        </p:spPr>
      </p:sp>
      <p:sp>
        <p:nvSpPr>
          <p:cNvPr id="10" name="Text 8"/>
          <p:cNvSpPr txBox="1"/>
          <p:nvPr/>
        </p:nvSpPr>
        <p:spPr>
          <a:xfrm>
            <a:off x="804672" y="4224528"/>
            <a:ext cx="2990088" cy="411480"/>
          </a:xfrm>
          <a:prstGeom prst="rect">
            <a:avLst/>
          </a:prstGeom>
          <a:noFill/>
          <a:ln/>
        </p:spPr>
        <p:txBody>
          <a:bodyPr wrap="square" lIns="0" tIns="0" rIns="0" bIns="0" rtlCol="0" anchor="ctr"/>
          <a:lstStyle/>
          <a:p>
            <a:pPr indent="0" marL="0">
              <a:lnSpc>
                <a:spcPct val="95000"/>
              </a:lnSpc>
              <a:buNone/>
            </a:pPr>
            <a:r>
              <a:rPr lang="en-US" sz="1050" b="1" dirty="0">
                <a:solidFill>
                  <a:srgbClr val="CB5E2E"/>
                </a:solidFill>
                <a:latin typeface="Cambria" pitchFamily="34" charset="0"/>
                <a:ea typeface="Cambria" pitchFamily="34" charset="-122"/>
                <a:cs typeface="Cambria" pitchFamily="34" charset="-120"/>
              </a:rPr>
              <a:t>targets (R) · Snakemake (Python) · Make o DVC</a:t>
            </a:r>
            <a:endParaRPr lang="en-US" sz="1050" dirty="0"/>
          </a:p>
        </p:txBody>
      </p:sp>
      <p:sp>
        <p:nvSpPr>
          <p:cNvPr id="11" name="Shape 9"/>
          <p:cNvSpPr/>
          <p:nvPr/>
        </p:nvSpPr>
        <p:spPr>
          <a:xfrm>
            <a:off x="4343400" y="1920240"/>
            <a:ext cx="3502152" cy="2743200"/>
          </a:xfrm>
          <a:prstGeom prst="roundRect">
            <a:avLst>
              <a:gd name="adj" fmla="val 2000"/>
            </a:avLst>
          </a:prstGeom>
          <a:solidFill>
            <a:srgbClr val="EEF2F5"/>
          </a:solidFill>
          <a:ln w="9525">
            <a:solidFill>
              <a:srgbClr val="D5DCE3"/>
            </a:solidFill>
            <a:prstDash val="solid"/>
          </a:ln>
        </p:spPr>
      </p:sp>
      <p:sp>
        <p:nvSpPr>
          <p:cNvPr id="12" name="Shape 10"/>
          <p:cNvSpPr/>
          <p:nvPr/>
        </p:nvSpPr>
        <p:spPr>
          <a:xfrm>
            <a:off x="4599432" y="2176272"/>
            <a:ext cx="457200" cy="457200"/>
          </a:xfrm>
          <a:prstGeom prst="ellipse">
            <a:avLst/>
          </a:prstGeom>
          <a:solidFill>
            <a:srgbClr val="CB5E2E"/>
          </a:solidFill>
          <a:ln/>
        </p:spPr>
      </p:sp>
      <p:sp>
        <p:nvSpPr>
          <p:cNvPr id="13" name="Text 11"/>
          <p:cNvSpPr txBox="1"/>
          <p:nvPr/>
        </p:nvSpPr>
        <p:spPr>
          <a:xfrm>
            <a:off x="4599432" y="2176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5166360" y="2212848"/>
            <a:ext cx="2496312"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Entorno congelado</a:t>
            </a:r>
            <a:endParaRPr lang="en-US" sz="1500" dirty="0"/>
          </a:p>
        </p:txBody>
      </p:sp>
      <p:sp>
        <p:nvSpPr>
          <p:cNvPr id="15" name="Text 13"/>
          <p:cNvSpPr txBox="1"/>
          <p:nvPr/>
        </p:nvSpPr>
        <p:spPr>
          <a:xfrm>
            <a:off x="4599432" y="2834640"/>
            <a:ext cx="2990088" cy="123444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Más que renv o requirements: una imagen con todo pinneado, que corre igual en cualquier máquina.</a:t>
            </a:r>
            <a:endParaRPr lang="en-US" sz="1250" dirty="0"/>
          </a:p>
        </p:txBody>
      </p:sp>
      <p:sp>
        <p:nvSpPr>
          <p:cNvPr id="16" name="Shape 14"/>
          <p:cNvSpPr/>
          <p:nvPr/>
        </p:nvSpPr>
        <p:spPr>
          <a:xfrm>
            <a:off x="4599432" y="4151376"/>
            <a:ext cx="2990088" cy="0"/>
          </a:xfrm>
          <a:prstGeom prst="line">
            <a:avLst/>
          </a:prstGeom>
          <a:noFill/>
          <a:ln w="9525">
            <a:solidFill>
              <a:srgbClr val="D5DCE3"/>
            </a:solidFill>
            <a:prstDash val="solid"/>
          </a:ln>
        </p:spPr>
      </p:sp>
      <p:sp>
        <p:nvSpPr>
          <p:cNvPr id="17" name="Text 15"/>
          <p:cNvSpPr txBox="1"/>
          <p:nvPr/>
        </p:nvSpPr>
        <p:spPr>
          <a:xfrm>
            <a:off x="4599432" y="4224528"/>
            <a:ext cx="2990088" cy="411480"/>
          </a:xfrm>
          <a:prstGeom prst="rect">
            <a:avLst/>
          </a:prstGeom>
          <a:noFill/>
          <a:ln/>
        </p:spPr>
        <p:txBody>
          <a:bodyPr wrap="square" lIns="0" tIns="0" rIns="0" bIns="0" rtlCol="0" anchor="ctr"/>
          <a:lstStyle/>
          <a:p>
            <a:pPr indent="0" marL="0">
              <a:lnSpc>
                <a:spcPct val="95000"/>
              </a:lnSpc>
              <a:buNone/>
            </a:pPr>
            <a:r>
              <a:rPr lang="en-US" sz="1050" b="1" dirty="0">
                <a:solidFill>
                  <a:srgbClr val="CB5E2E"/>
                </a:solidFill>
                <a:latin typeface="Cambria" pitchFamily="34" charset="0"/>
                <a:ea typeface="Cambria" pitchFamily="34" charset="-122"/>
                <a:cs typeface="Cambria" pitchFamily="34" charset="-120"/>
              </a:rPr>
              <a:t>Docker + Container Registry de GitLab · Binder</a:t>
            </a:r>
            <a:endParaRPr lang="en-US" sz="1050" dirty="0"/>
          </a:p>
        </p:txBody>
      </p:sp>
      <p:sp>
        <p:nvSpPr>
          <p:cNvPr id="18" name="Shape 16"/>
          <p:cNvSpPr/>
          <p:nvPr/>
        </p:nvSpPr>
        <p:spPr>
          <a:xfrm>
            <a:off x="8138160" y="1920240"/>
            <a:ext cx="3502152" cy="2743200"/>
          </a:xfrm>
          <a:prstGeom prst="roundRect">
            <a:avLst>
              <a:gd name="adj" fmla="val 2000"/>
            </a:avLst>
          </a:prstGeom>
          <a:solidFill>
            <a:srgbClr val="E7F2EA"/>
          </a:solidFill>
          <a:ln w="9525">
            <a:solidFill>
              <a:srgbClr val="D5DCE3"/>
            </a:solidFill>
            <a:prstDash val="solid"/>
          </a:ln>
        </p:spPr>
      </p:sp>
      <p:sp>
        <p:nvSpPr>
          <p:cNvPr id="19" name="Shape 17"/>
          <p:cNvSpPr/>
          <p:nvPr/>
        </p:nvSpPr>
        <p:spPr>
          <a:xfrm>
            <a:off x="8394192" y="2176272"/>
            <a:ext cx="457200" cy="457200"/>
          </a:xfrm>
          <a:prstGeom prst="ellipse">
            <a:avLst/>
          </a:prstGeom>
          <a:solidFill>
            <a:srgbClr val="CB5E2E"/>
          </a:solidFill>
          <a:ln/>
        </p:spPr>
      </p:sp>
      <p:sp>
        <p:nvSpPr>
          <p:cNvPr id="20" name="Text 18"/>
          <p:cNvSpPr txBox="1"/>
          <p:nvPr/>
        </p:nvSpPr>
        <p:spPr>
          <a:xfrm>
            <a:off x="8394192" y="2176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8961120" y="2212848"/>
            <a:ext cx="2496312" cy="45720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Verificación automática</a:t>
            </a:r>
            <a:endParaRPr lang="en-US" sz="1500" dirty="0"/>
          </a:p>
        </p:txBody>
      </p:sp>
      <p:sp>
        <p:nvSpPr>
          <p:cNvPr id="22" name="Text 20"/>
          <p:cNvSpPr txBox="1"/>
          <p:nvPr/>
        </p:nvSpPr>
        <p:spPr>
          <a:xfrm>
            <a:off x="8394192" y="2834640"/>
            <a:ext cx="2990088" cy="123444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«reiniciar y correr todo» como robot: cada cambio re-teje el flujo y falla si no reproduce.</a:t>
            </a:r>
            <a:endParaRPr lang="en-US" sz="1250" dirty="0"/>
          </a:p>
        </p:txBody>
      </p:sp>
      <p:sp>
        <p:nvSpPr>
          <p:cNvPr id="23" name="Shape 21"/>
          <p:cNvSpPr/>
          <p:nvPr/>
        </p:nvSpPr>
        <p:spPr>
          <a:xfrm>
            <a:off x="8394192" y="4151376"/>
            <a:ext cx="2990088" cy="0"/>
          </a:xfrm>
          <a:prstGeom prst="line">
            <a:avLst/>
          </a:prstGeom>
          <a:noFill/>
          <a:ln w="9525">
            <a:solidFill>
              <a:srgbClr val="D5DCE3"/>
            </a:solidFill>
            <a:prstDash val="solid"/>
          </a:ln>
        </p:spPr>
      </p:sp>
      <p:sp>
        <p:nvSpPr>
          <p:cNvPr id="24" name="Text 22"/>
          <p:cNvSpPr txBox="1"/>
          <p:nvPr/>
        </p:nvSpPr>
        <p:spPr>
          <a:xfrm>
            <a:off x="8394192" y="4224528"/>
            <a:ext cx="2990088" cy="411480"/>
          </a:xfrm>
          <a:prstGeom prst="rect">
            <a:avLst/>
          </a:prstGeom>
          <a:noFill/>
          <a:ln/>
        </p:spPr>
        <p:txBody>
          <a:bodyPr wrap="square" lIns="0" tIns="0" rIns="0" bIns="0" rtlCol="0" anchor="ctr"/>
          <a:lstStyle/>
          <a:p>
            <a:pPr indent="0" marL="0">
              <a:lnSpc>
                <a:spcPct val="95000"/>
              </a:lnSpc>
              <a:buNone/>
            </a:pPr>
            <a:r>
              <a:rPr lang="en-US" sz="1050" b="1" dirty="0">
                <a:solidFill>
                  <a:srgbClr val="2E6E49"/>
                </a:solidFill>
                <a:latin typeface="Cambria" pitchFamily="34" charset="0"/>
                <a:ea typeface="Cambria" pitchFamily="34" charset="-122"/>
                <a:cs typeface="Cambria" pitchFamily="34" charset="-120"/>
              </a:rPr>
              <a:t>GitLab CI · .gitlab-ci.yml</a:t>
            </a:r>
            <a:endParaRPr lang="en-US" sz="1050" dirty="0"/>
          </a:p>
        </p:txBody>
      </p:sp>
      <p:sp>
        <p:nvSpPr>
          <p:cNvPr id="25" name="Shape 23"/>
          <p:cNvSpPr/>
          <p:nvPr/>
        </p:nvSpPr>
        <p:spPr>
          <a:xfrm>
            <a:off x="548640" y="6053328"/>
            <a:ext cx="11091672" cy="603504"/>
          </a:xfrm>
          <a:prstGeom prst="rect">
            <a:avLst/>
          </a:prstGeom>
          <a:solidFill>
            <a:srgbClr val="FBEEE5"/>
          </a:solidFill>
          <a:ln/>
        </p:spPr>
      </p:sp>
      <p:sp>
        <p:nvSpPr>
          <p:cNvPr id="26" name="Shape 24"/>
          <p:cNvSpPr/>
          <p:nvPr/>
        </p:nvSpPr>
        <p:spPr>
          <a:xfrm>
            <a:off x="749808" y="6272784"/>
            <a:ext cx="164592" cy="164592"/>
          </a:xfrm>
          <a:prstGeom prst="roundRect">
            <a:avLst>
              <a:gd name="adj" fmla="val 22222"/>
            </a:avLst>
          </a:prstGeom>
          <a:solidFill>
            <a:srgbClr val="CB5E2E"/>
          </a:solidFill>
          <a:ln/>
        </p:spPr>
      </p:sp>
      <p:sp>
        <p:nvSpPr>
          <p:cNvPr id="27" name="Text 2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Los scripts numerados bastan para empezar; estos escalones son la meta cuando el análisis se comparte y se repite.</a:t>
            </a:r>
            <a:endParaRPr lang="en-US" sz="1250" dirty="0"/>
          </a:p>
        </p:txBody>
      </p:sp>
      <p:sp>
        <p:nvSpPr>
          <p:cNvPr id="28" name="Text 26"/>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targets: Landau (2021), JOSS. Snakemake: Köster y Rahmann (2012), Bioinformatics; Mölder et al. (2021). DVC: iterative.ai. Contenedores: Docker; Binder (mybinder.org).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Reproducible de verdad: la lista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Tres candados para que un número corra igual otra vez, para otra persona, en otra máquina.</a:t>
            </a:r>
            <a:endParaRPr lang="en-US" sz="1400" dirty="0"/>
          </a:p>
        </p:txBody>
      </p:sp>
      <p:sp>
        <p:nvSpPr>
          <p:cNvPr id="4" name="Shape 2"/>
          <p:cNvSpPr/>
          <p:nvPr/>
        </p:nvSpPr>
        <p:spPr>
          <a:xfrm>
            <a:off x="548640" y="1874520"/>
            <a:ext cx="3017520" cy="566928"/>
          </a:xfrm>
          <a:prstGeom prst="rect">
            <a:avLst/>
          </a:prstGeom>
          <a:solidFill>
            <a:srgbClr val="15293B"/>
          </a:solidFill>
          <a:ln w="6350">
            <a:solidFill>
              <a:srgbClr val="FFFFFF"/>
            </a:solidFill>
            <a:prstDash val="solid"/>
          </a:ln>
        </p:spPr>
      </p:sp>
      <p:sp>
        <p:nvSpPr>
          <p:cNvPr id="5" name="Text 3"/>
          <p:cNvSpPr txBox="1"/>
          <p:nvPr/>
        </p:nvSpPr>
        <p:spPr>
          <a:xfrm>
            <a:off x="548640" y="1874520"/>
            <a:ext cx="30175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 candado</a:t>
            </a:r>
            <a:endParaRPr lang="en-US" sz="1200" dirty="0"/>
          </a:p>
        </p:txBody>
      </p:sp>
      <p:sp>
        <p:nvSpPr>
          <p:cNvPr id="6" name="Shape 4"/>
          <p:cNvSpPr/>
          <p:nvPr/>
        </p:nvSpPr>
        <p:spPr>
          <a:xfrm>
            <a:off x="3566160" y="1874520"/>
            <a:ext cx="4023360" cy="566928"/>
          </a:xfrm>
          <a:prstGeom prst="rect">
            <a:avLst/>
          </a:prstGeom>
          <a:solidFill>
            <a:srgbClr val="15293B"/>
          </a:solidFill>
          <a:ln w="6350">
            <a:solidFill>
              <a:srgbClr val="FFFFFF"/>
            </a:solidFill>
            <a:prstDash val="solid"/>
          </a:ln>
        </p:spPr>
      </p:sp>
      <p:sp>
        <p:nvSpPr>
          <p:cNvPr id="7" name="Text 5"/>
          <p:cNvSpPr txBox="1"/>
          <p:nvPr/>
        </p:nvSpPr>
        <p:spPr>
          <a:xfrm>
            <a:off x="3566160" y="1874520"/>
            <a:ext cx="4023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evita</a:t>
            </a:r>
            <a:endParaRPr lang="en-US" sz="1200" dirty="0"/>
          </a:p>
        </p:txBody>
      </p:sp>
      <p:sp>
        <p:nvSpPr>
          <p:cNvPr id="8" name="Shape 6"/>
          <p:cNvSpPr/>
          <p:nvPr/>
        </p:nvSpPr>
        <p:spPr>
          <a:xfrm>
            <a:off x="7589520" y="1874520"/>
            <a:ext cx="4050792" cy="566928"/>
          </a:xfrm>
          <a:prstGeom prst="rect">
            <a:avLst/>
          </a:prstGeom>
          <a:solidFill>
            <a:srgbClr val="15293B"/>
          </a:solidFill>
          <a:ln w="6350">
            <a:solidFill>
              <a:srgbClr val="FFFFFF"/>
            </a:solidFill>
            <a:prstDash val="solid"/>
          </a:ln>
        </p:spPr>
      </p:sp>
      <p:sp>
        <p:nvSpPr>
          <p:cNvPr id="9" name="Text 7"/>
          <p:cNvSpPr txBox="1"/>
          <p:nvPr/>
        </p:nvSpPr>
        <p:spPr>
          <a:xfrm>
            <a:off x="7589520" y="1874520"/>
            <a:ext cx="405079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 R</a:t>
            </a:r>
            <a:endParaRPr lang="en-US" sz="1200" dirty="0"/>
          </a:p>
        </p:txBody>
      </p:sp>
      <p:sp>
        <p:nvSpPr>
          <p:cNvPr id="10" name="Shape 8"/>
          <p:cNvSpPr/>
          <p:nvPr/>
        </p:nvSpPr>
        <p:spPr>
          <a:xfrm>
            <a:off x="548640" y="2441448"/>
            <a:ext cx="3017520" cy="566928"/>
          </a:xfrm>
          <a:prstGeom prst="rect">
            <a:avLst/>
          </a:prstGeom>
          <a:solidFill>
            <a:srgbClr val="EEF2F5"/>
          </a:solidFill>
          <a:ln w="6350">
            <a:solidFill>
              <a:srgbClr val="D5DCE3"/>
            </a:solidFill>
            <a:prstDash val="solid"/>
          </a:ln>
        </p:spPr>
      </p:sp>
      <p:sp>
        <p:nvSpPr>
          <p:cNvPr id="11" name="Text 9"/>
          <p:cNvSpPr txBox="1"/>
          <p:nvPr/>
        </p:nvSpPr>
        <p:spPr>
          <a:xfrm>
            <a:off x="594360" y="2441448"/>
            <a:ext cx="2926080" cy="566928"/>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Fijar el azar</a:t>
            </a:r>
            <a:endParaRPr lang="en-US" sz="1250" dirty="0"/>
          </a:p>
        </p:txBody>
      </p:sp>
      <p:sp>
        <p:nvSpPr>
          <p:cNvPr id="12" name="Shape 10"/>
          <p:cNvSpPr/>
          <p:nvPr/>
        </p:nvSpPr>
        <p:spPr>
          <a:xfrm>
            <a:off x="3566160" y="2441448"/>
            <a:ext cx="4023360" cy="566928"/>
          </a:xfrm>
          <a:prstGeom prst="rect">
            <a:avLst/>
          </a:prstGeom>
          <a:solidFill>
            <a:srgbClr val="EEF2F5"/>
          </a:solidFill>
          <a:ln w="6350">
            <a:solidFill>
              <a:srgbClr val="D5DCE3"/>
            </a:solidFill>
            <a:prstDash val="solid"/>
          </a:ln>
        </p:spPr>
      </p:sp>
      <p:sp>
        <p:nvSpPr>
          <p:cNvPr id="13" name="Text 11"/>
          <p:cNvSpPr txBox="1"/>
          <p:nvPr/>
        </p:nvSpPr>
        <p:spPr>
          <a:xfrm>
            <a:off x="3611880" y="2441448"/>
            <a:ext cx="3931920" cy="566928"/>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que el remuestreo o la simulación cambie cada corrida</a:t>
            </a:r>
            <a:endParaRPr lang="en-US" sz="1250" dirty="0"/>
          </a:p>
        </p:txBody>
      </p:sp>
      <p:sp>
        <p:nvSpPr>
          <p:cNvPr id="14" name="Shape 12"/>
          <p:cNvSpPr/>
          <p:nvPr/>
        </p:nvSpPr>
        <p:spPr>
          <a:xfrm>
            <a:off x="7589520" y="2441448"/>
            <a:ext cx="4050792" cy="566928"/>
          </a:xfrm>
          <a:prstGeom prst="rect">
            <a:avLst/>
          </a:prstGeom>
          <a:solidFill>
            <a:srgbClr val="EEF2F5"/>
          </a:solidFill>
          <a:ln w="6350">
            <a:solidFill>
              <a:srgbClr val="D5DCE3"/>
            </a:solidFill>
            <a:prstDash val="solid"/>
          </a:ln>
        </p:spPr>
      </p:sp>
      <p:sp>
        <p:nvSpPr>
          <p:cNvPr id="15" name="Text 13"/>
          <p:cNvSpPr txBox="1"/>
          <p:nvPr/>
        </p:nvSpPr>
        <p:spPr>
          <a:xfrm>
            <a:off x="7635240" y="2441448"/>
            <a:ext cx="3959352" cy="566928"/>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set.seed(n) antes de cualquier azar</a:t>
            </a:r>
            <a:endParaRPr lang="en-US" sz="1250" dirty="0"/>
          </a:p>
        </p:txBody>
      </p:sp>
      <p:sp>
        <p:nvSpPr>
          <p:cNvPr id="16" name="Shape 14"/>
          <p:cNvSpPr/>
          <p:nvPr/>
        </p:nvSpPr>
        <p:spPr>
          <a:xfrm>
            <a:off x="548640" y="3008376"/>
            <a:ext cx="3017520" cy="566928"/>
          </a:xfrm>
          <a:prstGeom prst="rect">
            <a:avLst/>
          </a:prstGeom>
          <a:solidFill>
            <a:srgbClr val="FFFFFF"/>
          </a:solidFill>
          <a:ln w="6350">
            <a:solidFill>
              <a:srgbClr val="D5DCE3"/>
            </a:solidFill>
            <a:prstDash val="solid"/>
          </a:ln>
        </p:spPr>
      </p:sp>
      <p:sp>
        <p:nvSpPr>
          <p:cNvPr id="17" name="Text 15"/>
          <p:cNvSpPr txBox="1"/>
          <p:nvPr/>
        </p:nvSpPr>
        <p:spPr>
          <a:xfrm>
            <a:off x="594360" y="3008376"/>
            <a:ext cx="2926080" cy="566928"/>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Aritmética robusta</a:t>
            </a:r>
            <a:endParaRPr lang="en-US" sz="1250" dirty="0"/>
          </a:p>
        </p:txBody>
      </p:sp>
      <p:sp>
        <p:nvSpPr>
          <p:cNvPr id="18" name="Shape 16"/>
          <p:cNvSpPr/>
          <p:nvPr/>
        </p:nvSpPr>
        <p:spPr>
          <a:xfrm>
            <a:off x="3566160" y="3008376"/>
            <a:ext cx="4023360" cy="566928"/>
          </a:xfrm>
          <a:prstGeom prst="rect">
            <a:avLst/>
          </a:prstGeom>
          <a:solidFill>
            <a:srgbClr val="FFFFFF"/>
          </a:solidFill>
          <a:ln w="6350">
            <a:solidFill>
              <a:srgbClr val="D5DCE3"/>
            </a:solidFill>
            <a:prstDash val="solid"/>
          </a:ln>
        </p:spPr>
      </p:sp>
      <p:sp>
        <p:nvSpPr>
          <p:cNvPr id="19" name="Text 17"/>
          <p:cNvSpPr txBox="1"/>
          <p:nvPr/>
        </p:nvSpPr>
        <p:spPr>
          <a:xfrm>
            <a:off x="3611880" y="3008376"/>
            <a:ext cx="3931920" cy="566928"/>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que el código corra y devuelva un número falso</a:t>
            </a:r>
            <a:endParaRPr lang="en-US" sz="1250" dirty="0"/>
          </a:p>
        </p:txBody>
      </p:sp>
      <p:sp>
        <p:nvSpPr>
          <p:cNvPr id="20" name="Shape 18"/>
          <p:cNvSpPr/>
          <p:nvPr/>
        </p:nvSpPr>
        <p:spPr>
          <a:xfrm>
            <a:off x="7589520" y="3008376"/>
            <a:ext cx="4050792" cy="566928"/>
          </a:xfrm>
          <a:prstGeom prst="rect">
            <a:avLst/>
          </a:prstGeom>
          <a:solidFill>
            <a:srgbClr val="FFFFFF"/>
          </a:solidFill>
          <a:ln w="6350">
            <a:solidFill>
              <a:srgbClr val="D5DCE3"/>
            </a:solidFill>
            <a:prstDash val="solid"/>
          </a:ln>
        </p:spPr>
      </p:sp>
      <p:sp>
        <p:nvSpPr>
          <p:cNvPr id="21" name="Text 19"/>
          <p:cNvSpPr txBox="1"/>
          <p:nvPr/>
        </p:nvSpPr>
        <p:spPr>
          <a:xfrm>
            <a:off x="7635240" y="3008376"/>
            <a:ext cx="3959352" cy="566928"/>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funciones probadas (var, no la fórmula de libro)</a:t>
            </a:r>
            <a:endParaRPr lang="en-US" sz="1250" dirty="0"/>
          </a:p>
        </p:txBody>
      </p:sp>
      <p:sp>
        <p:nvSpPr>
          <p:cNvPr id="22" name="Shape 20"/>
          <p:cNvSpPr/>
          <p:nvPr/>
        </p:nvSpPr>
        <p:spPr>
          <a:xfrm>
            <a:off x="548640" y="3575304"/>
            <a:ext cx="3017520" cy="566928"/>
          </a:xfrm>
          <a:prstGeom prst="rect">
            <a:avLst/>
          </a:prstGeom>
          <a:solidFill>
            <a:srgbClr val="EEF2F5"/>
          </a:solidFill>
          <a:ln w="6350">
            <a:solidFill>
              <a:srgbClr val="D5DCE3"/>
            </a:solidFill>
            <a:prstDash val="solid"/>
          </a:ln>
        </p:spPr>
      </p:sp>
      <p:sp>
        <p:nvSpPr>
          <p:cNvPr id="23" name="Text 21"/>
          <p:cNvSpPr txBox="1"/>
          <p:nvPr/>
        </p:nvSpPr>
        <p:spPr>
          <a:xfrm>
            <a:off x="594360" y="3575304"/>
            <a:ext cx="2926080" cy="566928"/>
          </a:xfrm>
          <a:prstGeom prst="rect">
            <a:avLst/>
          </a:prstGeom>
          <a:noFill/>
          <a:ln/>
        </p:spPr>
        <p:txBody>
          <a:bodyPr wrap="square" lIns="76200" tIns="76200" rIns="76200" bIns="7620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Fijar el entorno</a:t>
            </a:r>
            <a:endParaRPr lang="en-US" sz="1250" dirty="0"/>
          </a:p>
        </p:txBody>
      </p:sp>
      <p:sp>
        <p:nvSpPr>
          <p:cNvPr id="24" name="Shape 22"/>
          <p:cNvSpPr/>
          <p:nvPr/>
        </p:nvSpPr>
        <p:spPr>
          <a:xfrm>
            <a:off x="3566160" y="3575304"/>
            <a:ext cx="4023360" cy="566928"/>
          </a:xfrm>
          <a:prstGeom prst="rect">
            <a:avLst/>
          </a:prstGeom>
          <a:solidFill>
            <a:srgbClr val="EEF2F5"/>
          </a:solidFill>
          <a:ln w="6350">
            <a:solidFill>
              <a:srgbClr val="D5DCE3"/>
            </a:solidFill>
            <a:prstDash val="solid"/>
          </a:ln>
        </p:spPr>
      </p:sp>
      <p:sp>
        <p:nvSpPr>
          <p:cNvPr id="25" name="Text 23"/>
          <p:cNvSpPr txBox="1"/>
          <p:nvPr/>
        </p:nvSpPr>
        <p:spPr>
          <a:xfrm>
            <a:off x="3611880" y="3575304"/>
            <a:ext cx="3931920" cy="566928"/>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que otra versión o el archivo editado muevan el número</a:t>
            </a:r>
            <a:endParaRPr lang="en-US" sz="1250" dirty="0"/>
          </a:p>
        </p:txBody>
      </p:sp>
      <p:sp>
        <p:nvSpPr>
          <p:cNvPr id="26" name="Shape 24"/>
          <p:cNvSpPr/>
          <p:nvPr/>
        </p:nvSpPr>
        <p:spPr>
          <a:xfrm>
            <a:off x="7589520" y="3575304"/>
            <a:ext cx="4050792" cy="566928"/>
          </a:xfrm>
          <a:prstGeom prst="rect">
            <a:avLst/>
          </a:prstGeom>
          <a:solidFill>
            <a:srgbClr val="EEF2F5"/>
          </a:solidFill>
          <a:ln w="6350">
            <a:solidFill>
              <a:srgbClr val="D5DCE3"/>
            </a:solidFill>
            <a:prstDash val="solid"/>
          </a:ln>
        </p:spPr>
      </p:sp>
      <p:sp>
        <p:nvSpPr>
          <p:cNvPr id="27" name="Text 25"/>
          <p:cNvSpPr txBox="1"/>
          <p:nvPr/>
        </p:nvSpPr>
        <p:spPr>
          <a:xfrm>
            <a:off x="7635240" y="3575304"/>
            <a:ext cx="3959352" cy="566928"/>
          </a:xfrm>
          <a:prstGeom prst="rect">
            <a:avLst/>
          </a:prstGeom>
          <a:noFill/>
          <a:ln/>
        </p:spPr>
        <p:txBody>
          <a:bodyPr wrap="square" lIns="0" tIns="0" rIns="0" bIns="0" rtlCol="0" anchor="ctr"/>
          <a:lstStyle/>
          <a:p>
            <a:pPr algn="ctr" indent="0" marL="0">
              <a:buNone/>
            </a:pPr>
            <a:r>
              <a:rPr lang="en-US" sz="1250" dirty="0">
                <a:solidFill>
                  <a:srgbClr val="1E2A35"/>
                </a:solidFill>
                <a:latin typeface="Cambria" pitchFamily="34" charset="0"/>
                <a:ea typeface="Cambria" pitchFamily="34" charset="-122"/>
                <a:cs typeface="Cambria" pitchFamily="34" charset="-120"/>
              </a:rPr>
              <a:t>insumo fijo + sessionInfo o renv</a:t>
            </a:r>
            <a:endParaRPr lang="en-US" sz="1250" dirty="0"/>
          </a:p>
        </p:txBody>
      </p:sp>
      <p:sp>
        <p:nvSpPr>
          <p:cNvPr id="28" name="Shape 26"/>
          <p:cNvSpPr/>
          <p:nvPr/>
        </p:nvSpPr>
        <p:spPr>
          <a:xfrm>
            <a:off x="548640" y="4251960"/>
            <a:ext cx="11091672" cy="1463040"/>
          </a:xfrm>
          <a:prstGeom prst="roundRect">
            <a:avLst>
              <a:gd name="adj" fmla="val 3750"/>
            </a:avLst>
          </a:prstGeom>
          <a:solidFill>
            <a:srgbClr val="15293B"/>
          </a:solidFill>
          <a:ln w="9525">
            <a:solidFill>
              <a:srgbClr val="D5DCE3"/>
            </a:solidFill>
            <a:prstDash val="solid"/>
          </a:ln>
        </p:spPr>
      </p:sp>
      <p:sp>
        <p:nvSpPr>
          <p:cNvPr id="29" name="Text 27"/>
          <p:cNvSpPr txBox="1"/>
          <p:nvPr/>
        </p:nvSpPr>
        <p:spPr>
          <a:xfrm>
            <a:off x="868680" y="441655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El artefacto es el flujo, y la prueba es reiniciar y correr todo</a:t>
            </a:r>
            <a:endParaRPr lang="en-US" sz="1600" dirty="0"/>
          </a:p>
        </p:txBody>
      </p:sp>
      <p:sp>
        <p:nvSpPr>
          <p:cNvPr id="30" name="Text 28"/>
          <p:cNvSpPr txBox="1"/>
          <p:nvPr/>
        </p:nvSpPr>
        <p:spPr>
          <a:xfrm>
            <a:off x="868680" y="4800600"/>
            <a:ext cx="10451592" cy="86868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La IA ayuda a escribir el análisis; lo que se entrega y se defiende es el flujo terminado, no la conversación con ella. Con los tres candados puestos, cualquiera reinicia el documento, lo corre de cero, y obtiene el mismo número que ustedes. Ese es el estándar que evalúa la rúbrica técnica.</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trabajar reproducible con la IA, y qué no se delega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El asistente escribe rápido; la disciplina de que el número se repita es suya.</a:t>
            </a:r>
            <a:endParaRPr lang="en-US" sz="1400" dirty="0"/>
          </a:p>
        </p:txBody>
      </p:sp>
      <p:sp>
        <p:nvSpPr>
          <p:cNvPr id="4" name="Shape 2"/>
          <p:cNvSpPr/>
          <p:nvPr/>
        </p:nvSpPr>
        <p:spPr>
          <a:xfrm>
            <a:off x="548640" y="1920240"/>
            <a:ext cx="5394960" cy="3108960"/>
          </a:xfrm>
          <a:prstGeom prst="roundRect">
            <a:avLst>
              <a:gd name="adj" fmla="val 1765"/>
            </a:avLst>
          </a:prstGeom>
          <a:solidFill>
            <a:srgbClr val="E7F2EA"/>
          </a:solidFill>
          <a:ln w="9525">
            <a:solidFill>
              <a:srgbClr val="D5DCE3"/>
            </a:solidFill>
            <a:prstDash val="solid"/>
          </a:ln>
        </p:spPr>
      </p:sp>
      <p:sp>
        <p:nvSpPr>
          <p:cNvPr id="5" name="Text 3"/>
          <p:cNvSpPr txBox="1"/>
          <p:nvPr/>
        </p:nvSpPr>
        <p:spPr>
          <a:xfrm>
            <a:off x="822960" y="2121408"/>
            <a:ext cx="4846320" cy="320040"/>
          </a:xfrm>
          <a:prstGeom prst="rect">
            <a:avLst/>
          </a:prstGeom>
          <a:noFill/>
          <a:ln/>
        </p:spPr>
        <p:txBody>
          <a:bodyPr wrap="square" lIns="0" tIns="0" rIns="0" bIns="0" rtlCol="0" anchor="ctr"/>
          <a:lstStyle/>
          <a:p>
            <a:pPr indent="0" marL="0">
              <a:buNone/>
            </a:pPr>
            <a:r>
              <a:rPr lang="en-US" sz="1250" b="1" spc="100" kern="0" dirty="0">
                <a:solidFill>
                  <a:srgbClr val="2E6E49"/>
                </a:solidFill>
                <a:latin typeface="Calibri" pitchFamily="34" charset="0"/>
                <a:ea typeface="Calibri" pitchFamily="34" charset="-122"/>
                <a:cs typeface="Calibri" pitchFamily="34" charset="-120"/>
              </a:rPr>
              <a:t>LO QUE SE LE PIDE</a:t>
            </a:r>
            <a:endParaRPr lang="en-US" sz="1250" dirty="0"/>
          </a:p>
        </p:txBody>
      </p:sp>
      <p:sp>
        <p:nvSpPr>
          <p:cNvPr id="6" name="Text 4"/>
          <p:cNvSpPr txBox="1"/>
          <p:nvPr/>
        </p:nvSpPr>
        <p:spPr>
          <a:xfrm>
            <a:off x="822960" y="2542032"/>
            <a:ext cx="4846320" cy="2377440"/>
          </a:xfrm>
          <a:prstGeom prst="rect">
            <a:avLst/>
          </a:prstGeom>
          <a:noFill/>
          <a:ln/>
        </p:spPr>
        <p:txBody>
          <a:bodyPr wrap="square" lIns="0" tIns="0" rIns="0" bIns="0" rtlCol="0" anchor="ctr"/>
          <a:lstStyle/>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Que fije la semilla en todo lo que use azar, y la deje visible.</a:t>
            </a:r>
            <a:endParaRPr lang="en-US" sz="1250" dirty="0"/>
          </a:p>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Que use funciones probadas, no fórmulas de libro para varianza o regresión.</a:t>
            </a:r>
            <a:endParaRPr lang="en-US" sz="1250" dirty="0"/>
          </a:p>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Que documente el insumo y registre versiones (sessionInfo).</a:t>
            </a:r>
            <a:endParaRPr lang="en-US" sz="1250" dirty="0"/>
          </a:p>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El código, no el número; y que corra de cero, de arriba a abajo.</a:t>
            </a:r>
            <a:endParaRPr lang="en-US" sz="1250" dirty="0"/>
          </a:p>
        </p:txBody>
      </p:sp>
      <p:sp>
        <p:nvSpPr>
          <p:cNvPr id="7" name="Shape 5"/>
          <p:cNvSpPr/>
          <p:nvPr/>
        </p:nvSpPr>
        <p:spPr>
          <a:xfrm>
            <a:off x="6245352" y="1920240"/>
            <a:ext cx="5394960" cy="3108960"/>
          </a:xfrm>
          <a:prstGeom prst="roundRect">
            <a:avLst>
              <a:gd name="adj" fmla="val 1765"/>
            </a:avLst>
          </a:prstGeom>
          <a:solidFill>
            <a:srgbClr val="EEF2F5"/>
          </a:solidFill>
          <a:ln w="9525">
            <a:solidFill>
              <a:srgbClr val="D5DCE3"/>
            </a:solidFill>
            <a:prstDash val="solid"/>
          </a:ln>
        </p:spPr>
      </p:sp>
      <p:sp>
        <p:nvSpPr>
          <p:cNvPr id="8" name="Text 6"/>
          <p:cNvSpPr txBox="1"/>
          <p:nvPr/>
        </p:nvSpPr>
        <p:spPr>
          <a:xfrm>
            <a:off x="6519672" y="2121408"/>
            <a:ext cx="4846320" cy="32004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LO QUE NO SE DELEGA</a:t>
            </a:r>
            <a:endParaRPr lang="en-US" sz="1250" dirty="0"/>
          </a:p>
        </p:txBody>
      </p:sp>
      <p:sp>
        <p:nvSpPr>
          <p:cNvPr id="9" name="Text 7"/>
          <p:cNvSpPr txBox="1"/>
          <p:nvPr/>
        </p:nvSpPr>
        <p:spPr>
          <a:xfrm>
            <a:off x="6519672" y="2542032"/>
            <a:ext cx="4846320" cy="2377440"/>
          </a:xfrm>
          <a:prstGeom prst="rect">
            <a:avLst/>
          </a:prstGeom>
          <a:noFill/>
          <a:ln/>
        </p:spPr>
        <p:txBody>
          <a:bodyPr wrap="square" lIns="0" tIns="0" rIns="0" bIns="0" rtlCol="0" anchor="ctr"/>
          <a:lstStyle/>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Verificar que el número se calculó, no se adivinó, y contra un caso conocido.</a:t>
            </a:r>
            <a:endParaRPr lang="en-US" sz="1250" dirty="0"/>
          </a:p>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Reconocer cuándo una fórmula es numéricamente frágil.</a:t>
            </a:r>
            <a:endParaRPr lang="en-US" sz="1250" dirty="0"/>
          </a:p>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Reiniciar y correr todo para comprobar que reproduce.</a:t>
            </a:r>
            <a:endParaRPr lang="en-US" sz="1250" dirty="0"/>
          </a:p>
          <a:p>
            <a:pPr marL="342900" indent="-342900">
              <a:lnSpc>
                <a:spcPct val="102000"/>
              </a:lnSpc>
              <a:spcAft>
                <a:spcPts val="1000"/>
              </a:spcAft>
              <a:buSzPct val="100000"/>
              <a:buChar char="•"/>
            </a:pPr>
            <a:r>
              <a:rPr lang="en-US" sz="1250" dirty="0">
                <a:solidFill>
                  <a:srgbClr val="1E2A35"/>
                </a:solidFill>
                <a:latin typeface="Calibri" pitchFamily="34" charset="0"/>
                <a:ea typeface="Calibri" pitchFamily="34" charset="-122"/>
                <a:cs typeface="Calibri" pitchFamily="34" charset="-120"/>
              </a:rPr>
              <a:t>Archivar el flujo terminado, no la conversación con la IA.</a:t>
            </a:r>
            <a:endParaRPr lang="en-US" sz="1250" dirty="0"/>
          </a:p>
        </p:txBody>
      </p:sp>
      <p:sp>
        <p:nvSpPr>
          <p:cNvPr id="10" name="Shape 8"/>
          <p:cNvSpPr/>
          <p:nvPr/>
        </p:nvSpPr>
        <p:spPr>
          <a:xfrm>
            <a:off x="548640" y="6053328"/>
            <a:ext cx="11091672" cy="603504"/>
          </a:xfrm>
          <a:prstGeom prst="rect">
            <a:avLst/>
          </a:prstGeom>
          <a:solidFill>
            <a:srgbClr val="FBEEE5"/>
          </a:solidFill>
          <a:ln/>
        </p:spPr>
      </p:sp>
      <p:sp>
        <p:nvSpPr>
          <p:cNvPr id="11" name="Shape 9"/>
          <p:cNvSpPr/>
          <p:nvPr/>
        </p:nvSpPr>
        <p:spPr>
          <a:xfrm>
            <a:off x="749808" y="6272784"/>
            <a:ext cx="164592" cy="164592"/>
          </a:xfrm>
          <a:prstGeom prst="roundRect">
            <a:avLst>
              <a:gd name="adj" fmla="val 22222"/>
            </a:avLst>
          </a:prstGeom>
          <a:solidFill>
            <a:srgbClr val="CB5E2E"/>
          </a:solidFill>
          <a:ln/>
        </p:spPr>
      </p:sp>
      <p:sp>
        <p:nvSpPr>
          <p:cNvPr id="12" name="Text 10"/>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IA es rapidísima escribiendo el flujo. Que ese flujo reproduzca el mismo número, otra vez y para otro, es responsabilidad de ustedes.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Trabajar con un agente de código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Más que un chat: un agente lee tu proyecto, escribe y corre código, y edita archivos. Lo vemos en vivo con GitHub Copilot en VS Code.</a:t>
            </a:r>
            <a:endParaRPr lang="en-US" sz="1400" dirty="0"/>
          </a:p>
        </p:txBody>
      </p:sp>
      <p:sp>
        <p:nvSpPr>
          <p:cNvPr id="4" name="Shape 2"/>
          <p:cNvSpPr/>
          <p:nvPr/>
        </p:nvSpPr>
        <p:spPr>
          <a:xfrm>
            <a:off x="548640" y="2057400"/>
            <a:ext cx="2601468" cy="2286000"/>
          </a:xfrm>
          <a:prstGeom prst="roundRect">
            <a:avLst>
              <a:gd name="adj" fmla="val 2400"/>
            </a:avLst>
          </a:prstGeom>
          <a:solidFill>
            <a:srgbClr val="EEF2F5"/>
          </a:solidFill>
          <a:ln w="9525">
            <a:solidFill>
              <a:srgbClr val="D5DCE3"/>
            </a:solidFill>
            <a:prstDash val="solid"/>
          </a:ln>
        </p:spPr>
      </p:sp>
      <p:sp>
        <p:nvSpPr>
          <p:cNvPr id="5" name="Shape 3"/>
          <p:cNvSpPr/>
          <p:nvPr/>
        </p:nvSpPr>
        <p:spPr>
          <a:xfrm>
            <a:off x="1575054" y="2295144"/>
            <a:ext cx="548640" cy="548640"/>
          </a:xfrm>
          <a:prstGeom prst="ellipse">
            <a:avLst/>
          </a:prstGeom>
          <a:solidFill>
            <a:srgbClr val="CB5E2E"/>
          </a:solidFill>
          <a:ln/>
        </p:spPr>
      </p:sp>
      <p:sp>
        <p:nvSpPr>
          <p:cNvPr id="6" name="Text 4"/>
          <p:cNvSpPr txBox="1"/>
          <p:nvPr/>
        </p:nvSpPr>
        <p:spPr>
          <a:xfrm>
            <a:off x="1575054" y="22951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58368" y="2990088"/>
            <a:ext cx="2382012" cy="365760"/>
          </a:xfrm>
          <a:prstGeom prst="rect">
            <a:avLst/>
          </a:prstGeom>
          <a:noFill/>
          <a:ln/>
        </p:spPr>
        <p:txBody>
          <a:bodyPr wrap="square" lIns="0" tIns="0" rIns="0" bIns="0" rtlCol="0" anchor="ctr"/>
          <a:lstStyle/>
          <a:p>
            <a:pPr algn="ctr" indent="0" marL="0">
              <a:buNone/>
            </a:pPr>
            <a:r>
              <a:rPr lang="en-US" sz="1400" b="1" dirty="0">
                <a:solidFill>
                  <a:srgbClr val="1E2A35"/>
                </a:solidFill>
                <a:latin typeface="Calibri" pitchFamily="34" charset="0"/>
                <a:ea typeface="Calibri" pitchFamily="34" charset="-122"/>
                <a:cs typeface="Calibri" pitchFamily="34" charset="-120"/>
              </a:rPr>
              <a:t>Le pides</a:t>
            </a:r>
            <a:endParaRPr lang="en-US" sz="1400" dirty="0"/>
          </a:p>
        </p:txBody>
      </p:sp>
      <p:sp>
        <p:nvSpPr>
          <p:cNvPr id="8" name="Text 6"/>
          <p:cNvSpPr txBox="1"/>
          <p:nvPr/>
        </p:nvSpPr>
        <p:spPr>
          <a:xfrm>
            <a:off x="713232" y="3374136"/>
            <a:ext cx="2272284" cy="914400"/>
          </a:xfrm>
          <a:prstGeom prst="rect">
            <a:avLst/>
          </a:prstGeom>
          <a:noFill/>
          <a:ln/>
        </p:spPr>
        <p:txBody>
          <a:bodyPr wrap="square" lIns="0" tIns="0" rIns="0" bIns="0" rtlCol="0" anchor="ctr"/>
          <a:lstStyle/>
          <a:p>
            <a:pPr algn="ctr" indent="0" marL="0">
              <a:lnSpc>
                <a:spcPct val="102000"/>
              </a:lnSpc>
              <a:buNone/>
            </a:pPr>
            <a:r>
              <a:rPr lang="en-US" sz="1150" dirty="0">
                <a:solidFill>
                  <a:srgbClr val="60707E"/>
                </a:solidFill>
                <a:latin typeface="Calibri" pitchFamily="34" charset="0"/>
                <a:ea typeface="Calibri" pitchFamily="34" charset="-122"/>
                <a:cs typeface="Calibri" pitchFamily="34" charset="-120"/>
              </a:rPr>
              <a:t>En lenguaje natural: «pondera el ingreso con el diseño de la encuesta».</a:t>
            </a:r>
            <a:endParaRPr lang="en-US" sz="1150" dirty="0"/>
          </a:p>
        </p:txBody>
      </p:sp>
      <p:sp>
        <p:nvSpPr>
          <p:cNvPr id="9" name="Shape 7"/>
          <p:cNvSpPr/>
          <p:nvPr/>
        </p:nvSpPr>
        <p:spPr>
          <a:xfrm>
            <a:off x="3378708" y="2057400"/>
            <a:ext cx="2601468" cy="2286000"/>
          </a:xfrm>
          <a:prstGeom prst="roundRect">
            <a:avLst>
              <a:gd name="adj" fmla="val 2400"/>
            </a:avLst>
          </a:prstGeom>
          <a:solidFill>
            <a:srgbClr val="EEF2F5"/>
          </a:solidFill>
          <a:ln w="9525">
            <a:solidFill>
              <a:srgbClr val="D5DCE3"/>
            </a:solidFill>
            <a:prstDash val="solid"/>
          </a:ln>
        </p:spPr>
      </p:sp>
      <p:sp>
        <p:nvSpPr>
          <p:cNvPr id="10" name="Shape 8"/>
          <p:cNvSpPr/>
          <p:nvPr/>
        </p:nvSpPr>
        <p:spPr>
          <a:xfrm>
            <a:off x="4405122" y="2295144"/>
            <a:ext cx="548640" cy="548640"/>
          </a:xfrm>
          <a:prstGeom prst="ellipse">
            <a:avLst/>
          </a:prstGeom>
          <a:solidFill>
            <a:srgbClr val="CB5E2E"/>
          </a:solidFill>
          <a:ln/>
        </p:spPr>
      </p:sp>
      <p:sp>
        <p:nvSpPr>
          <p:cNvPr id="11" name="Text 9"/>
          <p:cNvSpPr txBox="1"/>
          <p:nvPr/>
        </p:nvSpPr>
        <p:spPr>
          <a:xfrm>
            <a:off x="4405122" y="22951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3488436" y="2990088"/>
            <a:ext cx="2382012" cy="365760"/>
          </a:xfrm>
          <a:prstGeom prst="rect">
            <a:avLst/>
          </a:prstGeom>
          <a:noFill/>
          <a:ln/>
        </p:spPr>
        <p:txBody>
          <a:bodyPr wrap="square" lIns="0" tIns="0" rIns="0" bIns="0" rtlCol="0" anchor="ctr"/>
          <a:lstStyle/>
          <a:p>
            <a:pPr algn="ctr" indent="0" marL="0">
              <a:buNone/>
            </a:pPr>
            <a:r>
              <a:rPr lang="en-US" sz="1400" b="1" dirty="0">
                <a:solidFill>
                  <a:srgbClr val="1E2A35"/>
                </a:solidFill>
                <a:latin typeface="Calibri" pitchFamily="34" charset="0"/>
                <a:ea typeface="Calibri" pitchFamily="34" charset="-122"/>
                <a:cs typeface="Calibri" pitchFamily="34" charset="-120"/>
              </a:rPr>
              <a:t>Propone y corre</a:t>
            </a:r>
            <a:endParaRPr lang="en-US" sz="1400" dirty="0"/>
          </a:p>
        </p:txBody>
      </p:sp>
      <p:sp>
        <p:nvSpPr>
          <p:cNvPr id="13" name="Text 11"/>
          <p:cNvSpPr txBox="1"/>
          <p:nvPr/>
        </p:nvSpPr>
        <p:spPr>
          <a:xfrm>
            <a:off x="3543300" y="3374136"/>
            <a:ext cx="2272284" cy="914400"/>
          </a:xfrm>
          <a:prstGeom prst="rect">
            <a:avLst/>
          </a:prstGeom>
          <a:noFill/>
          <a:ln/>
        </p:spPr>
        <p:txBody>
          <a:bodyPr wrap="square" lIns="0" tIns="0" rIns="0" bIns="0" rtlCol="0" anchor="ctr"/>
          <a:lstStyle/>
          <a:p>
            <a:pPr algn="ctr" indent="0" marL="0">
              <a:lnSpc>
                <a:spcPct val="102000"/>
              </a:lnSpc>
              <a:buNone/>
            </a:pPr>
            <a:r>
              <a:rPr lang="en-US" sz="1150" dirty="0">
                <a:solidFill>
                  <a:srgbClr val="60707E"/>
                </a:solidFill>
                <a:latin typeface="Calibri" pitchFamily="34" charset="0"/>
                <a:ea typeface="Calibri" pitchFamily="34" charset="-122"/>
                <a:cs typeface="Calibri" pitchFamily="34" charset="-120"/>
              </a:rPr>
              <a:t>Escribe el código, lo ejecuta y edita los archivos del proyecto.</a:t>
            </a:r>
            <a:endParaRPr lang="en-US" sz="1150" dirty="0"/>
          </a:p>
        </p:txBody>
      </p:sp>
      <p:sp>
        <p:nvSpPr>
          <p:cNvPr id="14" name="Shape 12"/>
          <p:cNvSpPr/>
          <p:nvPr/>
        </p:nvSpPr>
        <p:spPr>
          <a:xfrm>
            <a:off x="6208776" y="2057400"/>
            <a:ext cx="2601468" cy="2286000"/>
          </a:xfrm>
          <a:prstGeom prst="roundRect">
            <a:avLst>
              <a:gd name="adj" fmla="val 2400"/>
            </a:avLst>
          </a:prstGeom>
          <a:solidFill>
            <a:srgbClr val="E7F2EA"/>
          </a:solidFill>
          <a:ln w="9525">
            <a:solidFill>
              <a:srgbClr val="D5DCE3"/>
            </a:solidFill>
            <a:prstDash val="solid"/>
          </a:ln>
        </p:spPr>
      </p:sp>
      <p:sp>
        <p:nvSpPr>
          <p:cNvPr id="15" name="Shape 13"/>
          <p:cNvSpPr/>
          <p:nvPr/>
        </p:nvSpPr>
        <p:spPr>
          <a:xfrm>
            <a:off x="7235190" y="2295144"/>
            <a:ext cx="548640" cy="548640"/>
          </a:xfrm>
          <a:prstGeom prst="ellipse">
            <a:avLst/>
          </a:prstGeom>
          <a:solidFill>
            <a:srgbClr val="CB5E2E"/>
          </a:solidFill>
          <a:ln/>
        </p:spPr>
      </p:sp>
      <p:sp>
        <p:nvSpPr>
          <p:cNvPr id="16" name="Text 14"/>
          <p:cNvSpPr txBox="1"/>
          <p:nvPr/>
        </p:nvSpPr>
        <p:spPr>
          <a:xfrm>
            <a:off x="7235190" y="22951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6318504" y="2990088"/>
            <a:ext cx="2382012" cy="365760"/>
          </a:xfrm>
          <a:prstGeom prst="rect">
            <a:avLst/>
          </a:prstGeom>
          <a:noFill/>
          <a:ln/>
        </p:spPr>
        <p:txBody>
          <a:bodyPr wrap="square" lIns="0" tIns="0" rIns="0" bIns="0" rtlCol="0" anchor="ctr"/>
          <a:lstStyle/>
          <a:p>
            <a:pPr algn="ctr" indent="0" marL="0">
              <a:buNone/>
            </a:pPr>
            <a:r>
              <a:rPr lang="en-US" sz="1400" b="1" dirty="0">
                <a:solidFill>
                  <a:srgbClr val="1E2A35"/>
                </a:solidFill>
                <a:latin typeface="Calibri" pitchFamily="34" charset="0"/>
                <a:ea typeface="Calibri" pitchFamily="34" charset="-122"/>
                <a:cs typeface="Calibri" pitchFamily="34" charset="-120"/>
              </a:rPr>
              <a:t>Lees y verificas</a:t>
            </a:r>
            <a:endParaRPr lang="en-US" sz="1400" dirty="0"/>
          </a:p>
        </p:txBody>
      </p:sp>
      <p:sp>
        <p:nvSpPr>
          <p:cNvPr id="18" name="Text 16"/>
          <p:cNvSpPr txBox="1"/>
          <p:nvPr/>
        </p:nvSpPr>
        <p:spPr>
          <a:xfrm>
            <a:off x="6373368" y="3374136"/>
            <a:ext cx="2272284" cy="914400"/>
          </a:xfrm>
          <a:prstGeom prst="rect">
            <a:avLst/>
          </a:prstGeom>
          <a:noFill/>
          <a:ln/>
        </p:spPr>
        <p:txBody>
          <a:bodyPr wrap="square" lIns="0" tIns="0" rIns="0" bIns="0" rtlCol="0" anchor="ctr"/>
          <a:lstStyle/>
          <a:p>
            <a:pPr algn="ctr" indent="0" marL="0">
              <a:lnSpc>
                <a:spcPct val="102000"/>
              </a:lnSpc>
              <a:buNone/>
            </a:pPr>
            <a:r>
              <a:rPr lang="en-US" sz="1150" dirty="0">
                <a:solidFill>
                  <a:srgbClr val="60707E"/>
                </a:solidFill>
                <a:latin typeface="Calibri" pitchFamily="34" charset="0"/>
                <a:ea typeface="Calibri" pitchFamily="34" charset="-122"/>
                <a:cs typeface="Calibri" pitchFamily="34" charset="-120"/>
              </a:rPr>
              <a:t>Revisas el diff y el número: ¿hizo lo que pediste?, ¿tiene sentido?</a:t>
            </a:r>
            <a:endParaRPr lang="en-US" sz="1150" dirty="0"/>
          </a:p>
        </p:txBody>
      </p:sp>
      <p:sp>
        <p:nvSpPr>
          <p:cNvPr id="19" name="Shape 17"/>
          <p:cNvSpPr/>
          <p:nvPr/>
        </p:nvSpPr>
        <p:spPr>
          <a:xfrm>
            <a:off x="9038844" y="2057400"/>
            <a:ext cx="2601468" cy="2286000"/>
          </a:xfrm>
          <a:prstGeom prst="roundRect">
            <a:avLst>
              <a:gd name="adj" fmla="val 2400"/>
            </a:avLst>
          </a:prstGeom>
          <a:solidFill>
            <a:srgbClr val="EEF2F5"/>
          </a:solidFill>
          <a:ln w="9525">
            <a:solidFill>
              <a:srgbClr val="D5DCE3"/>
            </a:solidFill>
            <a:prstDash val="solid"/>
          </a:ln>
        </p:spPr>
      </p:sp>
      <p:sp>
        <p:nvSpPr>
          <p:cNvPr id="20" name="Shape 18"/>
          <p:cNvSpPr/>
          <p:nvPr/>
        </p:nvSpPr>
        <p:spPr>
          <a:xfrm>
            <a:off x="10065258" y="2295144"/>
            <a:ext cx="548640" cy="548640"/>
          </a:xfrm>
          <a:prstGeom prst="ellipse">
            <a:avLst/>
          </a:prstGeom>
          <a:solidFill>
            <a:srgbClr val="CB5E2E"/>
          </a:solidFill>
          <a:ln/>
        </p:spPr>
      </p:sp>
      <p:sp>
        <p:nvSpPr>
          <p:cNvPr id="21" name="Text 19"/>
          <p:cNvSpPr txBox="1"/>
          <p:nvPr/>
        </p:nvSpPr>
        <p:spPr>
          <a:xfrm>
            <a:off x="10065258" y="229514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9148572" y="2990088"/>
            <a:ext cx="2382012" cy="365760"/>
          </a:xfrm>
          <a:prstGeom prst="rect">
            <a:avLst/>
          </a:prstGeom>
          <a:noFill/>
          <a:ln/>
        </p:spPr>
        <p:txBody>
          <a:bodyPr wrap="square" lIns="0" tIns="0" rIns="0" bIns="0" rtlCol="0" anchor="ctr"/>
          <a:lstStyle/>
          <a:p>
            <a:pPr algn="ctr" indent="0" marL="0">
              <a:buNone/>
            </a:pPr>
            <a:r>
              <a:rPr lang="en-US" sz="1400" b="1" dirty="0">
                <a:solidFill>
                  <a:srgbClr val="1E2A35"/>
                </a:solidFill>
                <a:latin typeface="Calibri" pitchFamily="34" charset="0"/>
                <a:ea typeface="Calibri" pitchFamily="34" charset="-122"/>
                <a:cs typeface="Calibri" pitchFamily="34" charset="-120"/>
              </a:rPr>
              <a:t>Iteras o corriges</a:t>
            </a:r>
            <a:endParaRPr lang="en-US" sz="1400" dirty="0"/>
          </a:p>
        </p:txBody>
      </p:sp>
      <p:sp>
        <p:nvSpPr>
          <p:cNvPr id="23" name="Text 21"/>
          <p:cNvSpPr txBox="1"/>
          <p:nvPr/>
        </p:nvSpPr>
        <p:spPr>
          <a:xfrm>
            <a:off x="9203436" y="3374136"/>
            <a:ext cx="2272284" cy="914400"/>
          </a:xfrm>
          <a:prstGeom prst="rect">
            <a:avLst/>
          </a:prstGeom>
          <a:noFill/>
          <a:ln/>
        </p:spPr>
        <p:txBody>
          <a:bodyPr wrap="square" lIns="0" tIns="0" rIns="0" bIns="0" rtlCol="0" anchor="ctr"/>
          <a:lstStyle/>
          <a:p>
            <a:pPr algn="ctr" indent="0" marL="0">
              <a:lnSpc>
                <a:spcPct val="102000"/>
              </a:lnSpc>
              <a:buNone/>
            </a:pPr>
            <a:r>
              <a:rPr lang="en-US" sz="1150" dirty="0">
                <a:solidFill>
                  <a:srgbClr val="60707E"/>
                </a:solidFill>
                <a:latin typeface="Calibri" pitchFamily="34" charset="0"/>
                <a:ea typeface="Calibri" pitchFamily="34" charset="-122"/>
                <a:cs typeface="Calibri" pitchFamily="34" charset="-120"/>
              </a:rPr>
              <a:t>Ajustas el pedido, o corriges tú. El control del juicio no se suelta.</a:t>
            </a:r>
            <a:endParaRPr lang="en-US" sz="1150" dirty="0"/>
          </a:p>
        </p:txBody>
      </p:sp>
      <p:sp>
        <p:nvSpPr>
          <p:cNvPr id="24" name="Shape 22"/>
          <p:cNvSpPr/>
          <p:nvPr/>
        </p:nvSpPr>
        <p:spPr>
          <a:xfrm>
            <a:off x="548640" y="6053328"/>
            <a:ext cx="11091672" cy="603504"/>
          </a:xfrm>
          <a:prstGeom prst="rect">
            <a:avLst/>
          </a:prstGeom>
          <a:solidFill>
            <a:srgbClr val="FBEEE5"/>
          </a:solidFill>
          <a:ln/>
        </p:spPr>
      </p:sp>
      <p:sp>
        <p:nvSpPr>
          <p:cNvPr id="25" name="Shape 23"/>
          <p:cNvSpPr/>
          <p:nvPr/>
        </p:nvSpPr>
        <p:spPr>
          <a:xfrm>
            <a:off x="749808" y="6272784"/>
            <a:ext cx="164592" cy="164592"/>
          </a:xfrm>
          <a:prstGeom prst="roundRect">
            <a:avLst>
              <a:gd name="adj" fmla="val 22222"/>
            </a:avLst>
          </a:prstGeom>
          <a:solidFill>
            <a:srgbClr val="CB5E2E"/>
          </a:solidFill>
          <a:ln/>
        </p:spPr>
      </p:sp>
      <p:sp>
        <p:nvSpPr>
          <p:cNvPr id="26" name="Text 24"/>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paso 3 es el que no se automatiza: leer el diff y verificar el número. El juicio sigue siendo suyo.</a:t>
            </a:r>
            <a:endParaRPr lang="en-US" sz="1250" dirty="0"/>
          </a:p>
        </p:txBody>
      </p:sp>
      <p:sp>
        <p:nvSpPr>
          <p:cNvPr id="27" name="Text 25"/>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Demostración con GitHub Copilot en VS Code. Lo reconocerán cuando tengan acceso a un agente (Copilot, Claude Code, Cursor).</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Los patrones de falla del agente</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Un agente es rapidísimo, y por eso peligroso: hace muchos pasos y algunos rompen el número o la reproducibilidad. Cuatro que hay que cazar.</a:t>
            </a:r>
            <a:endParaRPr lang="en-US" sz="1400" dirty="0"/>
          </a:p>
        </p:txBody>
      </p:sp>
      <p:sp>
        <p:nvSpPr>
          <p:cNvPr id="4" name="Shape 2"/>
          <p:cNvSpPr/>
          <p:nvPr/>
        </p:nvSpPr>
        <p:spPr>
          <a:xfrm>
            <a:off x="548640" y="1874520"/>
            <a:ext cx="5394960" cy="1783080"/>
          </a:xfrm>
          <a:prstGeom prst="roundRect">
            <a:avLst>
              <a:gd name="adj" fmla="val 3077"/>
            </a:avLst>
          </a:prstGeom>
          <a:solidFill>
            <a:srgbClr val="F9E7E3"/>
          </a:solidFill>
          <a:ln w="9525">
            <a:solidFill>
              <a:srgbClr val="D5DCE3"/>
            </a:solidFill>
            <a:prstDash val="solid"/>
          </a:ln>
        </p:spPr>
      </p:sp>
      <p:sp>
        <p:nvSpPr>
          <p:cNvPr id="5" name="Text 3"/>
          <p:cNvSpPr txBox="1"/>
          <p:nvPr/>
        </p:nvSpPr>
        <p:spPr>
          <a:xfrm>
            <a:off x="822960" y="2039112"/>
            <a:ext cx="4846320" cy="365760"/>
          </a:xfrm>
          <a:prstGeom prst="rect">
            <a:avLst/>
          </a:prstGeom>
          <a:noFill/>
          <a:ln/>
        </p:spPr>
        <p:txBody>
          <a:bodyPr wrap="square" lIns="0" tIns="0" rIns="0" bIns="0" rtlCol="0" anchor="ctr"/>
          <a:lstStyle/>
          <a:p>
            <a:pPr indent="0" marL="0">
              <a:buNone/>
            </a:pPr>
            <a:r>
              <a:rPr lang="en-US" sz="1450" b="1" dirty="0">
                <a:solidFill>
                  <a:srgbClr val="A23B22"/>
                </a:solidFill>
                <a:latin typeface="Calibri" pitchFamily="34" charset="0"/>
                <a:ea typeface="Calibri" pitchFamily="34" charset="-122"/>
                <a:cs typeface="Calibri" pitchFamily="34" charset="-120"/>
              </a:rPr>
              <a:t>Arregla silenciando</a:t>
            </a:r>
            <a:endParaRPr lang="en-US" sz="1450" dirty="0"/>
          </a:p>
        </p:txBody>
      </p:sp>
      <p:sp>
        <p:nvSpPr>
          <p:cNvPr id="6" name="Text 4"/>
          <p:cNvSpPr txBox="1"/>
          <p:nvPr/>
        </p:nvSpPr>
        <p:spPr>
          <a:xfrm>
            <a:off x="822960" y="2423160"/>
            <a:ext cx="4846320" cy="114300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Envuelve el error para que «corra» (un try, o ignora lo inválido), y el número queda mal. Lee qué hizo, no que dejó de fallar.</a:t>
            </a:r>
            <a:endParaRPr lang="en-US" sz="1200" dirty="0"/>
          </a:p>
        </p:txBody>
      </p:sp>
      <p:sp>
        <p:nvSpPr>
          <p:cNvPr id="7" name="Shape 5"/>
          <p:cNvSpPr/>
          <p:nvPr/>
        </p:nvSpPr>
        <p:spPr>
          <a:xfrm>
            <a:off x="6245352" y="1874520"/>
            <a:ext cx="5394960" cy="1783080"/>
          </a:xfrm>
          <a:prstGeom prst="roundRect">
            <a:avLst>
              <a:gd name="adj" fmla="val 3077"/>
            </a:avLst>
          </a:prstGeom>
          <a:solidFill>
            <a:srgbClr val="F9E7E3"/>
          </a:solidFill>
          <a:ln w="9525">
            <a:solidFill>
              <a:srgbClr val="D5DCE3"/>
            </a:solidFill>
            <a:prstDash val="solid"/>
          </a:ln>
        </p:spPr>
      </p:sp>
      <p:sp>
        <p:nvSpPr>
          <p:cNvPr id="8" name="Text 6"/>
          <p:cNvSpPr txBox="1"/>
          <p:nvPr/>
        </p:nvSpPr>
        <p:spPr>
          <a:xfrm>
            <a:off x="6519672" y="2039112"/>
            <a:ext cx="4846320" cy="365760"/>
          </a:xfrm>
          <a:prstGeom prst="rect">
            <a:avLst/>
          </a:prstGeom>
          <a:noFill/>
          <a:ln/>
        </p:spPr>
        <p:txBody>
          <a:bodyPr wrap="square" lIns="0" tIns="0" rIns="0" bIns="0" rtlCol="0" anchor="ctr"/>
          <a:lstStyle/>
          <a:p>
            <a:pPr indent="0" marL="0">
              <a:buNone/>
            </a:pPr>
            <a:r>
              <a:rPr lang="en-US" sz="1450" b="1" dirty="0">
                <a:solidFill>
                  <a:srgbClr val="A23B22"/>
                </a:solidFill>
                <a:latin typeface="Calibri" pitchFamily="34" charset="0"/>
                <a:ea typeface="Calibri" pitchFamily="34" charset="-122"/>
                <a:cs typeface="Calibri" pitchFamily="34" charset="-120"/>
              </a:rPr>
              <a:t>Inventa lo que no existe</a:t>
            </a:r>
            <a:endParaRPr lang="en-US" sz="1450" dirty="0"/>
          </a:p>
        </p:txBody>
      </p:sp>
      <p:sp>
        <p:nvSpPr>
          <p:cNvPr id="9" name="Text 7"/>
          <p:cNvSpPr txBox="1"/>
          <p:nvPr/>
        </p:nvSpPr>
        <p:spPr>
          <a:xfrm>
            <a:off x="6519672" y="2423160"/>
            <a:ext cx="4846320" cy="114300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Usa una columna o función que no está, o alucina un nombre. Verifica contra el diccionario y los datos reales.</a:t>
            </a:r>
            <a:endParaRPr lang="en-US" sz="1200" dirty="0"/>
          </a:p>
        </p:txBody>
      </p:sp>
      <p:sp>
        <p:nvSpPr>
          <p:cNvPr id="10" name="Shape 8"/>
          <p:cNvSpPr/>
          <p:nvPr/>
        </p:nvSpPr>
        <p:spPr>
          <a:xfrm>
            <a:off x="548640" y="3886200"/>
            <a:ext cx="5394960" cy="1783080"/>
          </a:xfrm>
          <a:prstGeom prst="roundRect">
            <a:avLst>
              <a:gd name="adj" fmla="val 3077"/>
            </a:avLst>
          </a:prstGeom>
          <a:solidFill>
            <a:srgbClr val="F9E7E3"/>
          </a:solidFill>
          <a:ln w="9525">
            <a:solidFill>
              <a:srgbClr val="D5DCE3"/>
            </a:solidFill>
            <a:prstDash val="solid"/>
          </a:ln>
        </p:spPr>
      </p:sp>
      <p:sp>
        <p:nvSpPr>
          <p:cNvPr id="11" name="Text 9"/>
          <p:cNvSpPr txBox="1"/>
          <p:nvPr/>
        </p:nvSpPr>
        <p:spPr>
          <a:xfrm>
            <a:off x="822960" y="4050792"/>
            <a:ext cx="4846320" cy="365760"/>
          </a:xfrm>
          <a:prstGeom prst="rect">
            <a:avLst/>
          </a:prstGeom>
          <a:noFill/>
          <a:ln/>
        </p:spPr>
        <p:txBody>
          <a:bodyPr wrap="square" lIns="0" tIns="0" rIns="0" bIns="0" rtlCol="0" anchor="ctr"/>
          <a:lstStyle/>
          <a:p>
            <a:pPr indent="0" marL="0">
              <a:buNone/>
            </a:pPr>
            <a:r>
              <a:rPr lang="en-US" sz="1450" b="1" dirty="0">
                <a:solidFill>
                  <a:srgbClr val="A23B22"/>
                </a:solidFill>
                <a:latin typeface="Calibri" pitchFamily="34" charset="0"/>
                <a:ea typeface="Calibri" pitchFamily="34" charset="-122"/>
                <a:cs typeface="Calibri" pitchFamily="34" charset="-120"/>
              </a:rPr>
              <a:t>Sobre-escribe el crudo</a:t>
            </a:r>
            <a:endParaRPr lang="en-US" sz="1450" dirty="0"/>
          </a:p>
        </p:txBody>
      </p:sp>
      <p:sp>
        <p:nvSpPr>
          <p:cNvPr id="12" name="Text 10"/>
          <p:cNvSpPr txBox="1"/>
          <p:nvPr/>
        </p:nvSpPr>
        <p:spPr>
          <a:xfrm>
            <a:off x="822960" y="4434840"/>
            <a:ext cx="4846320" cy="114300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Edita o pisa datos/crudos. El crudo es de solo lectura: revisa el diff antes de aceptar.</a:t>
            </a:r>
            <a:endParaRPr lang="en-US" sz="1200" dirty="0"/>
          </a:p>
        </p:txBody>
      </p:sp>
      <p:sp>
        <p:nvSpPr>
          <p:cNvPr id="13" name="Shape 11"/>
          <p:cNvSpPr/>
          <p:nvPr/>
        </p:nvSpPr>
        <p:spPr>
          <a:xfrm>
            <a:off x="6245352" y="3886200"/>
            <a:ext cx="5394960" cy="1783080"/>
          </a:xfrm>
          <a:prstGeom prst="roundRect">
            <a:avLst>
              <a:gd name="adj" fmla="val 3077"/>
            </a:avLst>
          </a:prstGeom>
          <a:solidFill>
            <a:srgbClr val="F9E7E3"/>
          </a:solidFill>
          <a:ln w="9525">
            <a:solidFill>
              <a:srgbClr val="D5DCE3"/>
            </a:solidFill>
            <a:prstDash val="solid"/>
          </a:ln>
        </p:spPr>
      </p:sp>
      <p:sp>
        <p:nvSpPr>
          <p:cNvPr id="14" name="Text 12"/>
          <p:cNvSpPr txBox="1"/>
          <p:nvPr/>
        </p:nvSpPr>
        <p:spPr>
          <a:xfrm>
            <a:off x="6519672" y="4050792"/>
            <a:ext cx="4846320" cy="365760"/>
          </a:xfrm>
          <a:prstGeom prst="rect">
            <a:avLst/>
          </a:prstGeom>
          <a:noFill/>
          <a:ln/>
        </p:spPr>
        <p:txBody>
          <a:bodyPr wrap="square" lIns="0" tIns="0" rIns="0" bIns="0" rtlCol="0" anchor="ctr"/>
          <a:lstStyle/>
          <a:p>
            <a:pPr indent="0" marL="0">
              <a:buNone/>
            </a:pPr>
            <a:r>
              <a:rPr lang="en-US" sz="1450" b="1" dirty="0">
                <a:solidFill>
                  <a:srgbClr val="A23B22"/>
                </a:solidFill>
                <a:latin typeface="Calibri" pitchFamily="34" charset="0"/>
                <a:ea typeface="Calibri" pitchFamily="34" charset="-122"/>
                <a:cs typeface="Calibri" pitchFamily="34" charset="-120"/>
              </a:rPr>
              <a:t>Pierdes el hilo</a:t>
            </a:r>
            <a:endParaRPr lang="en-US" sz="1450" dirty="0"/>
          </a:p>
        </p:txBody>
      </p:sp>
      <p:sp>
        <p:nvSpPr>
          <p:cNvPr id="15" name="Text 13"/>
          <p:cNvSpPr txBox="1"/>
          <p:nvPr/>
        </p:nvSpPr>
        <p:spPr>
          <a:xfrm>
            <a:off x="6519672" y="4434840"/>
            <a:ext cx="4846320" cy="114300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Hace veinte pasos y ya no sabes cuál cambió el número. Pídele pasos chicos y verifica en cada uno.</a:t>
            </a:r>
            <a:endParaRPr lang="en-US" sz="1200" dirty="0"/>
          </a:p>
        </p:txBody>
      </p:sp>
      <p:sp>
        <p:nvSpPr>
          <p:cNvPr id="16" name="Shape 14"/>
          <p:cNvSpPr/>
          <p:nvPr/>
        </p:nvSpPr>
        <p:spPr>
          <a:xfrm>
            <a:off x="548640" y="6053328"/>
            <a:ext cx="11091672" cy="603504"/>
          </a:xfrm>
          <a:prstGeom prst="rect">
            <a:avLst/>
          </a:prstGeom>
          <a:solidFill>
            <a:srgbClr val="FBEEE5"/>
          </a:solidFill>
          <a:ln/>
        </p:spPr>
      </p:sp>
      <p:sp>
        <p:nvSpPr>
          <p:cNvPr id="17" name="Shape 15"/>
          <p:cNvSpPr/>
          <p:nvPr/>
        </p:nvSpPr>
        <p:spPr>
          <a:xfrm>
            <a:off x="749808" y="6272784"/>
            <a:ext cx="164592" cy="164592"/>
          </a:xfrm>
          <a:prstGeom prst="roundRect">
            <a:avLst>
              <a:gd name="adj" fmla="val 22222"/>
            </a:avLst>
          </a:prstGeom>
          <a:solidFill>
            <a:srgbClr val="CB5E2E"/>
          </a:solidFill>
          <a:ln/>
        </p:spPr>
      </p:sp>
      <p:sp>
        <p:nvSpPr>
          <p:cNvPr id="18" name="Text 16"/>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agente hace en segundos lo que revisarías en minutos. La velocidad es suya; la verificación, tuya. Es la auditoría de hoy, en vivo.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Chuleta de verificación</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Los tres candados de reproducibilidad, en R y en Python. Una página para tener a la mano en la práctica y en el proyecto.</a:t>
            </a:r>
            <a:endParaRPr lang="en-US" sz="1400" dirty="0"/>
          </a:p>
        </p:txBody>
      </p:sp>
      <p:sp>
        <p:nvSpPr>
          <p:cNvPr id="4" name="Shape 2"/>
          <p:cNvSpPr/>
          <p:nvPr/>
        </p:nvSpPr>
        <p:spPr>
          <a:xfrm>
            <a:off x="548640" y="1965960"/>
            <a:ext cx="2743200" cy="457200"/>
          </a:xfrm>
          <a:prstGeom prst="rect">
            <a:avLst/>
          </a:prstGeom>
          <a:solidFill>
            <a:srgbClr val="15293B"/>
          </a:solidFill>
          <a:ln w="6350">
            <a:solidFill>
              <a:srgbClr val="FFFFFF"/>
            </a:solidFill>
            <a:prstDash val="solid"/>
          </a:ln>
        </p:spPr>
      </p:sp>
      <p:sp>
        <p:nvSpPr>
          <p:cNvPr id="5" name="Text 3"/>
          <p:cNvSpPr txBox="1"/>
          <p:nvPr/>
        </p:nvSpPr>
        <p:spPr>
          <a:xfrm>
            <a:off x="548640" y="1965960"/>
            <a:ext cx="2743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Candado</a:t>
            </a:r>
            <a:endParaRPr lang="en-US" sz="1250" dirty="0"/>
          </a:p>
        </p:txBody>
      </p:sp>
      <p:sp>
        <p:nvSpPr>
          <p:cNvPr id="6" name="Shape 4"/>
          <p:cNvSpPr/>
          <p:nvPr/>
        </p:nvSpPr>
        <p:spPr>
          <a:xfrm>
            <a:off x="3291840" y="1965960"/>
            <a:ext cx="4160520" cy="457200"/>
          </a:xfrm>
          <a:prstGeom prst="rect">
            <a:avLst/>
          </a:prstGeom>
          <a:solidFill>
            <a:srgbClr val="15293B"/>
          </a:solidFill>
          <a:ln w="6350">
            <a:solidFill>
              <a:srgbClr val="FFFFFF"/>
            </a:solidFill>
            <a:prstDash val="solid"/>
          </a:ln>
        </p:spPr>
      </p:sp>
      <p:sp>
        <p:nvSpPr>
          <p:cNvPr id="7" name="Text 5"/>
          <p:cNvSpPr txBox="1"/>
          <p:nvPr/>
        </p:nvSpPr>
        <p:spPr>
          <a:xfrm>
            <a:off x="3291840" y="1965960"/>
            <a:ext cx="416052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8" name="Shape 6"/>
          <p:cNvSpPr/>
          <p:nvPr/>
        </p:nvSpPr>
        <p:spPr>
          <a:xfrm>
            <a:off x="7452360" y="1965960"/>
            <a:ext cx="4187952" cy="457200"/>
          </a:xfrm>
          <a:prstGeom prst="rect">
            <a:avLst/>
          </a:prstGeom>
          <a:solidFill>
            <a:srgbClr val="15293B"/>
          </a:solidFill>
          <a:ln w="6350">
            <a:solidFill>
              <a:srgbClr val="FFFFFF"/>
            </a:solidFill>
            <a:prstDash val="solid"/>
          </a:ln>
        </p:spPr>
      </p:sp>
      <p:sp>
        <p:nvSpPr>
          <p:cNvPr id="9" name="Text 7"/>
          <p:cNvSpPr txBox="1"/>
          <p:nvPr/>
        </p:nvSpPr>
        <p:spPr>
          <a:xfrm>
            <a:off x="7452360" y="1965960"/>
            <a:ext cx="4187952"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Python</a:t>
            </a:r>
            <a:endParaRPr lang="en-US" sz="1250" dirty="0"/>
          </a:p>
        </p:txBody>
      </p:sp>
      <p:sp>
        <p:nvSpPr>
          <p:cNvPr id="10" name="Shape 8"/>
          <p:cNvSpPr/>
          <p:nvPr/>
        </p:nvSpPr>
        <p:spPr>
          <a:xfrm>
            <a:off x="548640" y="2423160"/>
            <a:ext cx="2743200" cy="658368"/>
          </a:xfrm>
          <a:prstGeom prst="rect">
            <a:avLst/>
          </a:prstGeom>
          <a:solidFill>
            <a:srgbClr val="EEF2F5"/>
          </a:solidFill>
          <a:ln w="6350">
            <a:solidFill>
              <a:srgbClr val="D5DCE3"/>
            </a:solidFill>
            <a:prstDash val="solid"/>
          </a:ln>
        </p:spPr>
      </p:sp>
      <p:sp>
        <p:nvSpPr>
          <p:cNvPr id="11" name="Text 9"/>
          <p:cNvSpPr txBox="1"/>
          <p:nvPr/>
        </p:nvSpPr>
        <p:spPr>
          <a:xfrm>
            <a:off x="694944" y="2423160"/>
            <a:ext cx="2468880" cy="658368"/>
          </a:xfrm>
          <a:prstGeom prst="rect">
            <a:avLst/>
          </a:prstGeom>
          <a:noFill/>
          <a:ln/>
        </p:spPr>
        <p:txBody>
          <a:bodyPr wrap="square" lIns="0" tIns="0" rIns="0" bIns="0" rtlCol="0" anchor="ctr"/>
          <a:lstStyle/>
          <a:p>
            <a:pPr indent="0" marL="0">
              <a:buNone/>
            </a:pPr>
            <a:r>
              <a:rPr lang="en-US" sz="1300" b="1" dirty="0">
                <a:solidFill>
                  <a:srgbClr val="1E2A35"/>
                </a:solidFill>
                <a:latin typeface="Calibri" pitchFamily="34" charset="0"/>
                <a:ea typeface="Calibri" pitchFamily="34" charset="-122"/>
                <a:cs typeface="Calibri" pitchFamily="34" charset="-120"/>
              </a:rPr>
              <a:t>Fijar el azar</a:t>
            </a:r>
            <a:endParaRPr lang="en-US" sz="1300" dirty="0"/>
          </a:p>
        </p:txBody>
      </p:sp>
      <p:sp>
        <p:nvSpPr>
          <p:cNvPr id="12" name="Shape 10"/>
          <p:cNvSpPr/>
          <p:nvPr/>
        </p:nvSpPr>
        <p:spPr>
          <a:xfrm>
            <a:off x="3291840" y="2423160"/>
            <a:ext cx="4160520" cy="658368"/>
          </a:xfrm>
          <a:prstGeom prst="rect">
            <a:avLst/>
          </a:prstGeom>
          <a:solidFill>
            <a:srgbClr val="EEF2F5"/>
          </a:solidFill>
          <a:ln w="6350">
            <a:solidFill>
              <a:srgbClr val="D5DCE3"/>
            </a:solidFill>
            <a:prstDash val="solid"/>
          </a:ln>
        </p:spPr>
      </p:sp>
      <p:sp>
        <p:nvSpPr>
          <p:cNvPr id="13" name="Text 11"/>
          <p:cNvSpPr txBox="1"/>
          <p:nvPr/>
        </p:nvSpPr>
        <p:spPr>
          <a:xfrm>
            <a:off x="3438144" y="2423160"/>
            <a:ext cx="3886200"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set.seed(909)</a:t>
            </a:r>
            <a:endParaRPr lang="en-US" sz="1250" dirty="0"/>
          </a:p>
        </p:txBody>
      </p:sp>
      <p:sp>
        <p:nvSpPr>
          <p:cNvPr id="14" name="Shape 12"/>
          <p:cNvSpPr/>
          <p:nvPr/>
        </p:nvSpPr>
        <p:spPr>
          <a:xfrm>
            <a:off x="7452360" y="2423160"/>
            <a:ext cx="4187952" cy="658368"/>
          </a:xfrm>
          <a:prstGeom prst="rect">
            <a:avLst/>
          </a:prstGeom>
          <a:solidFill>
            <a:srgbClr val="EEF2F5"/>
          </a:solidFill>
          <a:ln w="6350">
            <a:solidFill>
              <a:srgbClr val="D5DCE3"/>
            </a:solidFill>
            <a:prstDash val="solid"/>
          </a:ln>
        </p:spPr>
      </p:sp>
      <p:sp>
        <p:nvSpPr>
          <p:cNvPr id="15" name="Text 13"/>
          <p:cNvSpPr txBox="1"/>
          <p:nvPr/>
        </p:nvSpPr>
        <p:spPr>
          <a:xfrm>
            <a:off x="7598664" y="2423160"/>
            <a:ext cx="3913632"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np.random.seed(909)</a:t>
            </a:r>
            <a:endParaRPr lang="en-US" sz="1250" dirty="0"/>
          </a:p>
        </p:txBody>
      </p:sp>
      <p:sp>
        <p:nvSpPr>
          <p:cNvPr id="16" name="Shape 14"/>
          <p:cNvSpPr/>
          <p:nvPr/>
        </p:nvSpPr>
        <p:spPr>
          <a:xfrm>
            <a:off x="548640" y="3081528"/>
            <a:ext cx="2743200" cy="658368"/>
          </a:xfrm>
          <a:prstGeom prst="rect">
            <a:avLst/>
          </a:prstGeom>
          <a:solidFill>
            <a:srgbClr val="FFFFFF"/>
          </a:solidFill>
          <a:ln w="6350">
            <a:solidFill>
              <a:srgbClr val="D5DCE3"/>
            </a:solidFill>
            <a:prstDash val="solid"/>
          </a:ln>
        </p:spPr>
      </p:sp>
      <p:sp>
        <p:nvSpPr>
          <p:cNvPr id="17" name="Text 15"/>
          <p:cNvSpPr txBox="1"/>
          <p:nvPr/>
        </p:nvSpPr>
        <p:spPr>
          <a:xfrm>
            <a:off x="694944" y="3081528"/>
            <a:ext cx="2468880" cy="658368"/>
          </a:xfrm>
          <a:prstGeom prst="rect">
            <a:avLst/>
          </a:prstGeom>
          <a:noFill/>
          <a:ln/>
        </p:spPr>
        <p:txBody>
          <a:bodyPr wrap="square" lIns="0" tIns="0" rIns="0" bIns="0" rtlCol="0" anchor="ctr"/>
          <a:lstStyle/>
          <a:p>
            <a:pPr indent="0" marL="0">
              <a:buNone/>
            </a:pPr>
            <a:r>
              <a:rPr lang="en-US" sz="1300" b="1" dirty="0">
                <a:solidFill>
                  <a:srgbClr val="1E2A35"/>
                </a:solidFill>
                <a:latin typeface="Calibri" pitchFamily="34" charset="0"/>
                <a:ea typeface="Calibri" pitchFamily="34" charset="-122"/>
                <a:cs typeface="Calibri" pitchFamily="34" charset="-120"/>
              </a:rPr>
              <a:t>Aritmética robusta</a:t>
            </a:r>
            <a:endParaRPr lang="en-US" sz="1300" dirty="0"/>
          </a:p>
        </p:txBody>
      </p:sp>
      <p:sp>
        <p:nvSpPr>
          <p:cNvPr id="18" name="Shape 16"/>
          <p:cNvSpPr/>
          <p:nvPr/>
        </p:nvSpPr>
        <p:spPr>
          <a:xfrm>
            <a:off x="3291840" y="3081528"/>
            <a:ext cx="4160520" cy="658368"/>
          </a:xfrm>
          <a:prstGeom prst="rect">
            <a:avLst/>
          </a:prstGeom>
          <a:solidFill>
            <a:srgbClr val="FFFFFF"/>
          </a:solidFill>
          <a:ln w="6350">
            <a:solidFill>
              <a:srgbClr val="D5DCE3"/>
            </a:solidFill>
            <a:prstDash val="solid"/>
          </a:ln>
        </p:spPr>
      </p:sp>
      <p:sp>
        <p:nvSpPr>
          <p:cNvPr id="19" name="Text 17"/>
          <p:cNvSpPr txBox="1"/>
          <p:nvPr/>
        </p:nvSpPr>
        <p:spPr>
          <a:xfrm>
            <a:off x="3438144" y="3081528"/>
            <a:ext cx="3886200"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var(x) · sd(x) · mean(x)</a:t>
            </a:r>
            <a:endParaRPr lang="en-US" sz="1250" dirty="0"/>
          </a:p>
        </p:txBody>
      </p:sp>
      <p:sp>
        <p:nvSpPr>
          <p:cNvPr id="20" name="Shape 18"/>
          <p:cNvSpPr/>
          <p:nvPr/>
        </p:nvSpPr>
        <p:spPr>
          <a:xfrm>
            <a:off x="7452360" y="3081528"/>
            <a:ext cx="4187952" cy="658368"/>
          </a:xfrm>
          <a:prstGeom prst="rect">
            <a:avLst/>
          </a:prstGeom>
          <a:solidFill>
            <a:srgbClr val="FFFFFF"/>
          </a:solidFill>
          <a:ln w="6350">
            <a:solidFill>
              <a:srgbClr val="D5DCE3"/>
            </a:solidFill>
            <a:prstDash val="solid"/>
          </a:ln>
        </p:spPr>
      </p:sp>
      <p:sp>
        <p:nvSpPr>
          <p:cNvPr id="21" name="Text 19"/>
          <p:cNvSpPr txBox="1"/>
          <p:nvPr/>
        </p:nvSpPr>
        <p:spPr>
          <a:xfrm>
            <a:off x="7598664" y="3081528"/>
            <a:ext cx="3913632"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np.var(x) · np.std(x)</a:t>
            </a:r>
            <a:endParaRPr lang="en-US" sz="1250" dirty="0"/>
          </a:p>
        </p:txBody>
      </p:sp>
      <p:sp>
        <p:nvSpPr>
          <p:cNvPr id="22" name="Shape 20"/>
          <p:cNvSpPr/>
          <p:nvPr/>
        </p:nvSpPr>
        <p:spPr>
          <a:xfrm>
            <a:off x="548640" y="3739896"/>
            <a:ext cx="2743200" cy="658368"/>
          </a:xfrm>
          <a:prstGeom prst="rect">
            <a:avLst/>
          </a:prstGeom>
          <a:solidFill>
            <a:srgbClr val="EEF2F5"/>
          </a:solidFill>
          <a:ln w="6350">
            <a:solidFill>
              <a:srgbClr val="D5DCE3"/>
            </a:solidFill>
            <a:prstDash val="solid"/>
          </a:ln>
        </p:spPr>
      </p:sp>
      <p:sp>
        <p:nvSpPr>
          <p:cNvPr id="23" name="Text 21"/>
          <p:cNvSpPr txBox="1"/>
          <p:nvPr/>
        </p:nvSpPr>
        <p:spPr>
          <a:xfrm>
            <a:off x="694944" y="3739896"/>
            <a:ext cx="2468880" cy="658368"/>
          </a:xfrm>
          <a:prstGeom prst="rect">
            <a:avLst/>
          </a:prstGeom>
          <a:noFill/>
          <a:ln/>
        </p:spPr>
        <p:txBody>
          <a:bodyPr wrap="square" lIns="0" tIns="0" rIns="0" bIns="0" rtlCol="0" anchor="ctr"/>
          <a:lstStyle/>
          <a:p>
            <a:pPr indent="0" marL="0">
              <a:buNone/>
            </a:pPr>
            <a:r>
              <a:rPr lang="en-US" sz="1300" b="1" dirty="0">
                <a:solidFill>
                  <a:srgbClr val="1E2A35"/>
                </a:solidFill>
                <a:latin typeface="Calibri" pitchFamily="34" charset="0"/>
                <a:ea typeface="Calibri" pitchFamily="34" charset="-122"/>
                <a:cs typeface="Calibri" pitchFamily="34" charset="-120"/>
              </a:rPr>
              <a:t>Fijar el entorno</a:t>
            </a:r>
            <a:endParaRPr lang="en-US" sz="1300" dirty="0"/>
          </a:p>
        </p:txBody>
      </p:sp>
      <p:sp>
        <p:nvSpPr>
          <p:cNvPr id="24" name="Shape 22"/>
          <p:cNvSpPr/>
          <p:nvPr/>
        </p:nvSpPr>
        <p:spPr>
          <a:xfrm>
            <a:off x="3291840" y="3739896"/>
            <a:ext cx="4160520" cy="658368"/>
          </a:xfrm>
          <a:prstGeom prst="rect">
            <a:avLst/>
          </a:prstGeom>
          <a:solidFill>
            <a:srgbClr val="EEF2F5"/>
          </a:solidFill>
          <a:ln w="6350">
            <a:solidFill>
              <a:srgbClr val="D5DCE3"/>
            </a:solidFill>
            <a:prstDash val="solid"/>
          </a:ln>
        </p:spPr>
      </p:sp>
      <p:sp>
        <p:nvSpPr>
          <p:cNvPr id="25" name="Text 23"/>
          <p:cNvSpPr txBox="1"/>
          <p:nvPr/>
        </p:nvSpPr>
        <p:spPr>
          <a:xfrm>
            <a:off x="3438144" y="3739896"/>
            <a:ext cx="3886200"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sessionInfo() · renv::snapshot()</a:t>
            </a:r>
            <a:endParaRPr lang="en-US" sz="1250" dirty="0"/>
          </a:p>
        </p:txBody>
      </p:sp>
      <p:sp>
        <p:nvSpPr>
          <p:cNvPr id="26" name="Shape 24"/>
          <p:cNvSpPr/>
          <p:nvPr/>
        </p:nvSpPr>
        <p:spPr>
          <a:xfrm>
            <a:off x="7452360" y="3739896"/>
            <a:ext cx="4187952" cy="658368"/>
          </a:xfrm>
          <a:prstGeom prst="rect">
            <a:avLst/>
          </a:prstGeom>
          <a:solidFill>
            <a:srgbClr val="EEF2F5"/>
          </a:solidFill>
          <a:ln w="6350">
            <a:solidFill>
              <a:srgbClr val="D5DCE3"/>
            </a:solidFill>
            <a:prstDash val="solid"/>
          </a:ln>
        </p:spPr>
      </p:sp>
      <p:sp>
        <p:nvSpPr>
          <p:cNvPr id="27" name="Text 25"/>
          <p:cNvSpPr txBox="1"/>
          <p:nvPr/>
        </p:nvSpPr>
        <p:spPr>
          <a:xfrm>
            <a:off x="7598664" y="3739896"/>
            <a:ext cx="3913632"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pip freeze · session_info</a:t>
            </a:r>
            <a:endParaRPr lang="en-US" sz="1250" dirty="0"/>
          </a:p>
        </p:txBody>
      </p:sp>
      <p:sp>
        <p:nvSpPr>
          <p:cNvPr id="28" name="Shape 26"/>
          <p:cNvSpPr/>
          <p:nvPr/>
        </p:nvSpPr>
        <p:spPr>
          <a:xfrm>
            <a:off x="548640" y="4398264"/>
            <a:ext cx="2743200" cy="658368"/>
          </a:xfrm>
          <a:prstGeom prst="rect">
            <a:avLst/>
          </a:prstGeom>
          <a:solidFill>
            <a:srgbClr val="FFFFFF"/>
          </a:solidFill>
          <a:ln w="6350">
            <a:solidFill>
              <a:srgbClr val="D5DCE3"/>
            </a:solidFill>
            <a:prstDash val="solid"/>
          </a:ln>
        </p:spPr>
      </p:sp>
      <p:sp>
        <p:nvSpPr>
          <p:cNvPr id="29" name="Text 27"/>
          <p:cNvSpPr txBox="1"/>
          <p:nvPr/>
        </p:nvSpPr>
        <p:spPr>
          <a:xfrm>
            <a:off x="694944" y="4398264"/>
            <a:ext cx="2468880" cy="658368"/>
          </a:xfrm>
          <a:prstGeom prst="rect">
            <a:avLst/>
          </a:prstGeom>
          <a:noFill/>
          <a:ln/>
        </p:spPr>
        <p:txBody>
          <a:bodyPr wrap="square" lIns="0" tIns="0" rIns="0" bIns="0" rtlCol="0" anchor="ctr"/>
          <a:lstStyle/>
          <a:p>
            <a:pPr indent="0" marL="0">
              <a:buNone/>
            </a:pPr>
            <a:r>
              <a:rPr lang="en-US" sz="1300" b="1" dirty="0">
                <a:solidFill>
                  <a:srgbClr val="1E2A35"/>
                </a:solidFill>
                <a:latin typeface="Calibri" pitchFamily="34" charset="0"/>
                <a:ea typeface="Calibri" pitchFamily="34" charset="-122"/>
                <a:cs typeface="Calibri" pitchFamily="34" charset="-120"/>
              </a:rPr>
              <a:t>Rutas del insumo</a:t>
            </a:r>
            <a:endParaRPr lang="en-US" sz="1300" dirty="0"/>
          </a:p>
        </p:txBody>
      </p:sp>
      <p:sp>
        <p:nvSpPr>
          <p:cNvPr id="30" name="Shape 28"/>
          <p:cNvSpPr/>
          <p:nvPr/>
        </p:nvSpPr>
        <p:spPr>
          <a:xfrm>
            <a:off x="3291840" y="4398264"/>
            <a:ext cx="4160520" cy="658368"/>
          </a:xfrm>
          <a:prstGeom prst="rect">
            <a:avLst/>
          </a:prstGeom>
          <a:solidFill>
            <a:srgbClr val="FFFFFF"/>
          </a:solidFill>
          <a:ln w="6350">
            <a:solidFill>
              <a:srgbClr val="D5DCE3"/>
            </a:solidFill>
            <a:prstDash val="solid"/>
          </a:ln>
        </p:spPr>
      </p:sp>
      <p:sp>
        <p:nvSpPr>
          <p:cNvPr id="31" name="Text 29"/>
          <p:cNvSpPr txBox="1"/>
          <p:nvPr/>
        </p:nvSpPr>
        <p:spPr>
          <a:xfrm>
            <a:off x="3438144" y="4398264"/>
            <a:ext cx="3886200"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here::here('datos/...')</a:t>
            </a:r>
            <a:endParaRPr lang="en-US" sz="1250" dirty="0"/>
          </a:p>
        </p:txBody>
      </p:sp>
      <p:sp>
        <p:nvSpPr>
          <p:cNvPr id="32" name="Shape 30"/>
          <p:cNvSpPr/>
          <p:nvPr/>
        </p:nvSpPr>
        <p:spPr>
          <a:xfrm>
            <a:off x="7452360" y="4398264"/>
            <a:ext cx="4187952" cy="658368"/>
          </a:xfrm>
          <a:prstGeom prst="rect">
            <a:avLst/>
          </a:prstGeom>
          <a:solidFill>
            <a:srgbClr val="FFFFFF"/>
          </a:solidFill>
          <a:ln w="6350">
            <a:solidFill>
              <a:srgbClr val="D5DCE3"/>
            </a:solidFill>
            <a:prstDash val="solid"/>
          </a:ln>
        </p:spPr>
      </p:sp>
      <p:sp>
        <p:nvSpPr>
          <p:cNvPr id="33" name="Text 31"/>
          <p:cNvSpPr txBox="1"/>
          <p:nvPr/>
        </p:nvSpPr>
        <p:spPr>
          <a:xfrm>
            <a:off x="7598664" y="4398264"/>
            <a:ext cx="3913632" cy="658368"/>
          </a:xfrm>
          <a:prstGeom prst="rect">
            <a:avLst/>
          </a:prstGeom>
          <a:noFill/>
          <a:ln/>
        </p:spPr>
        <p:txBody>
          <a:bodyPr wrap="square" lIns="0" tIns="0" rIns="0" bIns="0" rtlCol="0" anchor="ctr"/>
          <a:lstStyle/>
          <a:p>
            <a:pPr indent="0" marL="0">
              <a:buNone/>
            </a:pPr>
            <a:r>
              <a:rPr lang="en-US" sz="1250" dirty="0">
                <a:solidFill>
                  <a:srgbClr val="1E2A35"/>
                </a:solidFill>
                <a:latin typeface="Cambria" pitchFamily="34" charset="0"/>
                <a:ea typeface="Cambria" pitchFamily="34" charset="-122"/>
                <a:cs typeface="Cambria" pitchFamily="34" charset="-120"/>
              </a:rPr>
              <a:t>pathlib.Path('datos') / ...</a:t>
            </a:r>
            <a:endParaRPr lang="en-US" sz="1250" dirty="0"/>
          </a:p>
        </p:txBody>
      </p:sp>
      <p:sp>
        <p:nvSpPr>
          <p:cNvPr id="34" name="Shape 32"/>
          <p:cNvSpPr/>
          <p:nvPr/>
        </p:nvSpPr>
        <p:spPr>
          <a:xfrm>
            <a:off x="548640" y="6053328"/>
            <a:ext cx="11091672" cy="603504"/>
          </a:xfrm>
          <a:prstGeom prst="rect">
            <a:avLst/>
          </a:prstGeom>
          <a:solidFill>
            <a:srgbClr val="FBEEE5"/>
          </a:solidFill>
          <a:ln/>
        </p:spPr>
      </p:sp>
      <p:sp>
        <p:nvSpPr>
          <p:cNvPr id="35" name="Shape 33"/>
          <p:cNvSpPr/>
          <p:nvPr/>
        </p:nvSpPr>
        <p:spPr>
          <a:xfrm>
            <a:off x="749808" y="6272784"/>
            <a:ext cx="164592" cy="164592"/>
          </a:xfrm>
          <a:prstGeom prst="roundRect">
            <a:avLst>
              <a:gd name="adj" fmla="val 22222"/>
            </a:avLst>
          </a:prstGeom>
          <a:solidFill>
            <a:srgbClr val="CB5E2E"/>
          </a:solidFill>
          <a:ln/>
        </p:spPr>
      </p:sp>
      <p:sp>
        <p:nvSpPr>
          <p:cNvPr id="36" name="Text 34"/>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Comprobar es una sola prueba: reinicia (o reinicia el kernel) y corre todo de cero. Si el número no sale igual, algo quedó fuera del flujo.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PRÁCTICA Y TAREA</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Verificar, auditar y estructurar un flujo reproducible</a:t>
            </a:r>
            <a:endParaRPr lang="en-US" sz="2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Su turno, guiado y de tarea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Sobre el mismo microdato de la Sesión 7 (datos_encuesta_sintetica.csv), en R Markdown. La estructura del proyecto se hace guiada en clase.</a:t>
            </a:r>
            <a:endParaRPr lang="en-US" sz="1400" dirty="0"/>
          </a:p>
        </p:txBody>
      </p:sp>
      <p:sp>
        <p:nvSpPr>
          <p:cNvPr id="4" name="Shape 2"/>
          <p:cNvSpPr/>
          <p:nvPr/>
        </p:nvSpPr>
        <p:spPr>
          <a:xfrm>
            <a:off x="548640" y="178308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777240" y="2039112"/>
            <a:ext cx="457200" cy="457200"/>
          </a:xfrm>
          <a:prstGeom prst="ellipse">
            <a:avLst/>
          </a:prstGeom>
          <a:solidFill>
            <a:srgbClr val="CB5E2E"/>
          </a:solidFill>
          <a:ln/>
        </p:spPr>
      </p:sp>
      <p:sp>
        <p:nvSpPr>
          <p:cNvPr id="6" name="Text 4"/>
          <p:cNvSpPr txBox="1"/>
          <p:nvPr/>
        </p:nvSpPr>
        <p:spPr>
          <a:xfrm>
            <a:off x="77724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2075688"/>
            <a:ext cx="2496312" cy="365760"/>
          </a:xfrm>
          <a:prstGeom prst="rect">
            <a:avLst/>
          </a:prstGeom>
          <a:noFill/>
          <a:ln/>
        </p:spPr>
        <p:txBody>
          <a:bodyPr wrap="square" lIns="0" tIns="0" rIns="0" bIns="0" rtlCol="0" anchor="ctr"/>
          <a:lstStyle/>
          <a:p>
            <a:pPr indent="0" marL="0">
              <a:buNone/>
            </a:pPr>
            <a:r>
              <a:rPr lang="en-US" sz="1150" b="1" dirty="0">
                <a:solidFill>
                  <a:srgbClr val="60707E"/>
                </a:solidFill>
                <a:latin typeface="Calibri" pitchFamily="34" charset="0"/>
                <a:ea typeface="Calibri" pitchFamily="34" charset="-122"/>
                <a:cs typeface="Calibri" pitchFamily="34" charset="-120"/>
              </a:rPr>
              <a:t>semilla</a:t>
            </a:r>
            <a:endParaRPr lang="en-US" sz="1150" dirty="0"/>
          </a:p>
        </p:txBody>
      </p:sp>
      <p:sp>
        <p:nvSpPr>
          <p:cNvPr id="8" name="Text 6"/>
          <p:cNvSpPr txBox="1"/>
          <p:nvPr/>
        </p:nvSpPr>
        <p:spPr>
          <a:xfrm>
            <a:off x="777240" y="2624328"/>
            <a:ext cx="3044952" cy="50292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Fijar el azar</a:t>
            </a:r>
            <a:endParaRPr lang="en-US" sz="1450" dirty="0"/>
          </a:p>
        </p:txBody>
      </p:sp>
      <p:sp>
        <p:nvSpPr>
          <p:cNvPr id="9" name="Text 7"/>
          <p:cNvSpPr txBox="1"/>
          <p:nvPr/>
        </p:nvSpPr>
        <p:spPr>
          <a:xfrm>
            <a:off x="77724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Bootstrapea el error estándar del efecto del programa con y sin set.seed. Muestra que solo con la semilla obtienes el mismo número dos veces.</a:t>
            </a:r>
            <a:endParaRPr lang="en-US" sz="1200" dirty="0"/>
          </a:p>
        </p:txBody>
      </p:sp>
      <p:sp>
        <p:nvSpPr>
          <p:cNvPr id="10" name="Shape 8"/>
          <p:cNvSpPr/>
          <p:nvPr/>
        </p:nvSpPr>
        <p:spPr>
          <a:xfrm>
            <a:off x="4343400" y="178308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4572000" y="2039112"/>
            <a:ext cx="457200" cy="457200"/>
          </a:xfrm>
          <a:prstGeom prst="ellipse">
            <a:avLst/>
          </a:prstGeom>
          <a:solidFill>
            <a:srgbClr val="CB5E2E"/>
          </a:solidFill>
          <a:ln/>
        </p:spPr>
      </p:sp>
      <p:sp>
        <p:nvSpPr>
          <p:cNvPr id="12" name="Text 10"/>
          <p:cNvSpPr txBox="1"/>
          <p:nvPr/>
        </p:nvSpPr>
        <p:spPr>
          <a:xfrm>
            <a:off x="457200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166360" y="2075688"/>
            <a:ext cx="2496312" cy="365760"/>
          </a:xfrm>
          <a:prstGeom prst="rect">
            <a:avLst/>
          </a:prstGeom>
          <a:noFill/>
          <a:ln/>
        </p:spPr>
        <p:txBody>
          <a:bodyPr wrap="square" lIns="0" tIns="0" rIns="0" bIns="0" rtlCol="0" anchor="ctr"/>
          <a:lstStyle/>
          <a:p>
            <a:pPr indent="0" marL="0">
              <a:buNone/>
            </a:pPr>
            <a:r>
              <a:rPr lang="en-US" sz="1150" b="1" dirty="0">
                <a:solidFill>
                  <a:srgbClr val="60707E"/>
                </a:solidFill>
                <a:latin typeface="Calibri" pitchFamily="34" charset="0"/>
                <a:ea typeface="Calibri" pitchFamily="34" charset="-122"/>
                <a:cs typeface="Calibri" pitchFamily="34" charset="-120"/>
              </a:rPr>
              <a:t>aritmética</a:t>
            </a:r>
            <a:endParaRPr lang="en-US" sz="1150" dirty="0"/>
          </a:p>
        </p:txBody>
      </p:sp>
      <p:sp>
        <p:nvSpPr>
          <p:cNvPr id="14" name="Text 12"/>
          <p:cNvSpPr txBox="1"/>
          <p:nvPr/>
        </p:nvSpPr>
        <p:spPr>
          <a:xfrm>
            <a:off x="4572000" y="2624328"/>
            <a:ext cx="3044952" cy="50292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Cazar la fórmula frágil</a:t>
            </a:r>
            <a:endParaRPr lang="en-US" sz="1450" dirty="0"/>
          </a:p>
        </p:txBody>
      </p:sp>
      <p:sp>
        <p:nvSpPr>
          <p:cNvPr id="15" name="Text 13"/>
          <p:cNvSpPr txBox="1"/>
          <p:nvPr/>
        </p:nvSpPr>
        <p:spPr>
          <a:xfrm>
            <a:off x="457200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Te damos una función de varianza escrita a mano que devuelve cero. Diagnostica por qué y arréglala con la función probada.</a:t>
            </a:r>
            <a:endParaRPr lang="en-US" sz="1200" dirty="0"/>
          </a:p>
        </p:txBody>
      </p:sp>
      <p:sp>
        <p:nvSpPr>
          <p:cNvPr id="16" name="Shape 14"/>
          <p:cNvSpPr/>
          <p:nvPr/>
        </p:nvSpPr>
        <p:spPr>
          <a:xfrm>
            <a:off x="8138160" y="1783080"/>
            <a:ext cx="3502152" cy="2743200"/>
          </a:xfrm>
          <a:prstGeom prst="roundRect">
            <a:avLst>
              <a:gd name="adj" fmla="val 2000"/>
            </a:avLst>
          </a:prstGeom>
          <a:solidFill>
            <a:srgbClr val="EEF2F5"/>
          </a:solidFill>
          <a:ln w="9525">
            <a:solidFill>
              <a:srgbClr val="D5DCE3"/>
            </a:solidFill>
            <a:prstDash val="solid"/>
          </a:ln>
        </p:spPr>
      </p:sp>
      <p:sp>
        <p:nvSpPr>
          <p:cNvPr id="17" name="Shape 15"/>
          <p:cNvSpPr/>
          <p:nvPr/>
        </p:nvSpPr>
        <p:spPr>
          <a:xfrm>
            <a:off x="8366760" y="2039112"/>
            <a:ext cx="457200" cy="457200"/>
          </a:xfrm>
          <a:prstGeom prst="ellipse">
            <a:avLst/>
          </a:prstGeom>
          <a:solidFill>
            <a:srgbClr val="CB5E2E"/>
          </a:solidFill>
          <a:ln/>
        </p:spPr>
      </p:sp>
      <p:sp>
        <p:nvSpPr>
          <p:cNvPr id="18" name="Text 16"/>
          <p:cNvSpPr txBox="1"/>
          <p:nvPr/>
        </p:nvSpPr>
        <p:spPr>
          <a:xfrm>
            <a:off x="836676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961120" y="2075688"/>
            <a:ext cx="2496312" cy="365760"/>
          </a:xfrm>
          <a:prstGeom prst="rect">
            <a:avLst/>
          </a:prstGeom>
          <a:noFill/>
          <a:ln/>
        </p:spPr>
        <p:txBody>
          <a:bodyPr wrap="square" lIns="0" tIns="0" rIns="0" bIns="0" rtlCol="0" anchor="ctr"/>
          <a:lstStyle/>
          <a:p>
            <a:pPr indent="0" marL="0">
              <a:buNone/>
            </a:pPr>
            <a:r>
              <a:rPr lang="en-US" sz="1150" b="1" dirty="0">
                <a:solidFill>
                  <a:srgbClr val="60707E"/>
                </a:solidFill>
                <a:latin typeface="Calibri" pitchFamily="34" charset="0"/>
                <a:ea typeface="Calibri" pitchFamily="34" charset="-122"/>
                <a:cs typeface="Calibri" pitchFamily="34" charset="-120"/>
              </a:rPr>
              <a:t>entorno</a:t>
            </a:r>
            <a:endParaRPr lang="en-US" sz="1150" dirty="0"/>
          </a:p>
        </p:txBody>
      </p:sp>
      <p:sp>
        <p:nvSpPr>
          <p:cNvPr id="20" name="Text 18"/>
          <p:cNvSpPr txBox="1"/>
          <p:nvPr/>
        </p:nvSpPr>
        <p:spPr>
          <a:xfrm>
            <a:off x="8366760" y="2624328"/>
            <a:ext cx="3044952" cy="50292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Dejar el flujo reproducible</a:t>
            </a:r>
            <a:endParaRPr lang="en-US" sz="1450" dirty="0"/>
          </a:p>
        </p:txBody>
      </p:sp>
      <p:sp>
        <p:nvSpPr>
          <p:cNvPr id="21" name="Text 19"/>
          <p:cNvSpPr txBox="1"/>
          <p:nvPr/>
        </p:nvSpPr>
        <p:spPr>
          <a:xfrm>
            <a:off x="836676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Agrega semilla, insumo fijo y sessionInfo. Reinicia y corre todo de cero, y comprueba que el número no cambia.</a:t>
            </a:r>
            <a:endParaRPr lang="en-US" sz="1200" dirty="0"/>
          </a:p>
        </p:txBody>
      </p:sp>
      <p:sp>
        <p:nvSpPr>
          <p:cNvPr id="22" name="Shape 20"/>
          <p:cNvSpPr/>
          <p:nvPr/>
        </p:nvSpPr>
        <p:spPr>
          <a:xfrm>
            <a:off x="548640" y="4754880"/>
            <a:ext cx="11091672" cy="960120"/>
          </a:xfrm>
          <a:prstGeom prst="roundRect">
            <a:avLst>
              <a:gd name="adj" fmla="val 5714"/>
            </a:avLst>
          </a:prstGeom>
          <a:solidFill>
            <a:srgbClr val="15293B"/>
          </a:solidFill>
          <a:ln w="9525">
            <a:solidFill>
              <a:srgbClr val="D5DCE3"/>
            </a:solidFill>
            <a:prstDash val="solid"/>
          </a:ln>
        </p:spPr>
      </p:sp>
      <p:sp>
        <p:nvSpPr>
          <p:cNvPr id="23" name="Text 21"/>
          <p:cNvSpPr txBox="1"/>
          <p:nvPr/>
        </p:nvSpPr>
        <p:spPr>
          <a:xfrm>
            <a:off x="868680" y="4901184"/>
            <a:ext cx="2743200" cy="320040"/>
          </a:xfrm>
          <a:prstGeom prst="rect">
            <a:avLst/>
          </a:prstGeom>
          <a:noFill/>
          <a:ln/>
        </p:spPr>
        <p:txBody>
          <a:bodyPr wrap="square" lIns="0" tIns="0" rIns="0" bIns="0" rtlCol="0" anchor="ctr"/>
          <a:lstStyle/>
          <a:p>
            <a:pPr indent="0" marL="0">
              <a:buNone/>
            </a:pPr>
            <a:r>
              <a:rPr lang="en-US" sz="1300" b="1" spc="100" kern="0" dirty="0">
                <a:solidFill>
                  <a:srgbClr val="E58A5B"/>
                </a:solidFill>
                <a:latin typeface="Calibri" pitchFamily="34" charset="0"/>
                <a:ea typeface="Calibri" pitchFamily="34" charset="-122"/>
                <a:cs typeface="Calibri" pitchFamily="34" charset="-120"/>
              </a:rPr>
              <a:t>LA REGLA DURA</a:t>
            </a:r>
            <a:endParaRPr lang="en-US" sz="1300" dirty="0"/>
          </a:p>
        </p:txBody>
      </p:sp>
      <p:sp>
        <p:nvSpPr>
          <p:cNvPr id="24" name="Text 22"/>
          <p:cNvSpPr txBox="1"/>
          <p:nvPr/>
        </p:nvSpPr>
        <p:spPr>
          <a:xfrm>
            <a:off x="868680" y="5212080"/>
            <a:ext cx="10451592" cy="457200"/>
          </a:xfrm>
          <a:prstGeom prst="rect">
            <a:avLst/>
          </a:prstGeom>
          <a:noFill/>
          <a:ln/>
        </p:spPr>
        <p:txBody>
          <a:bodyPr wrap="square" lIns="0" tIns="0" rIns="0" bIns="0" rtlCol="0" anchor="ctr"/>
          <a:lstStyle/>
          <a:p>
            <a:pPr indent="0" marL="0">
              <a:lnSpc>
                <a:spcPct val="100000"/>
              </a:lnSpc>
              <a:buNone/>
            </a:pPr>
            <a:r>
              <a:rPr lang="en-US" sz="1300" dirty="0">
                <a:solidFill>
                  <a:srgbClr val="E4EAF0"/>
                </a:solidFill>
                <a:latin typeface="Calibri" pitchFamily="34" charset="0"/>
                <a:ea typeface="Calibri" pitchFamily="34" charset="-122"/>
                <a:cs typeface="Calibri" pitchFamily="34" charset="-120"/>
              </a:rPr>
              <a:t>El entregable tiene que reproducir: si al reiniciar y correr todo el número cambia, no está terminado. Reproducir es el criterio, no que haya corrido una vez.</a:t>
            </a:r>
            <a:endParaRPr lang="en-US" sz="1300" dirty="0"/>
          </a:p>
        </p:txBody>
      </p:sp>
      <p:sp>
        <p:nvSpPr>
          <p:cNvPr id="25" name="Text 23"/>
          <p:cNvSpPr txBox="1"/>
          <p:nvPr/>
        </p:nvSpPr>
        <p:spPr>
          <a:xfrm>
            <a:off x="548640" y="5989320"/>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Entregable: Laboratorio_S08.Rmd tejido a HTML (R). En clase, guiadas: la demo del agente y la estructura del proyecto (Parte 5). Las partes 1 a 4 se terminan de tarea.</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se llevan y qué entregan</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Cierre del bloque de reproducibilidad y puente a la Sesión 9.</a:t>
            </a:r>
            <a:endParaRPr lang="en-US" sz="1400" dirty="0"/>
          </a:p>
        </p:txBody>
      </p:sp>
      <p:sp>
        <p:nvSpPr>
          <p:cNvPr id="4" name="Shape 2"/>
          <p:cNvSpPr/>
          <p:nvPr/>
        </p:nvSpPr>
        <p:spPr>
          <a:xfrm>
            <a:off x="548640" y="1874520"/>
            <a:ext cx="5394960" cy="2286000"/>
          </a:xfrm>
          <a:prstGeom prst="roundRect">
            <a:avLst>
              <a:gd name="adj" fmla="val 2400"/>
            </a:avLst>
          </a:prstGeom>
          <a:solidFill>
            <a:srgbClr val="EEF2F5"/>
          </a:solidFill>
          <a:ln w="9525">
            <a:solidFill>
              <a:srgbClr val="D5DCE3"/>
            </a:solidFill>
            <a:prstDash val="solid"/>
          </a:ln>
        </p:spPr>
      </p:sp>
      <p:sp>
        <p:nvSpPr>
          <p:cNvPr id="5" name="Text 3"/>
          <p:cNvSpPr txBox="1"/>
          <p:nvPr/>
        </p:nvSpPr>
        <p:spPr>
          <a:xfrm>
            <a:off x="822960"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Las tres ideas del día</a:t>
            </a:r>
            <a:endParaRPr lang="en-US" sz="1500" dirty="0"/>
          </a:p>
        </p:txBody>
      </p:sp>
      <p:sp>
        <p:nvSpPr>
          <p:cNvPr id="6" name="Text 4"/>
          <p:cNvSpPr txBox="1"/>
          <p:nvPr/>
        </p:nvSpPr>
        <p:spPr>
          <a:xfrm>
            <a:off x="822960"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Si el código usa azar, la semilla decide si tu número se puede repetir.</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Ejecutable no es correcto: una fórmula frágil corre y miente; usa funciones probadas.</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Se fija el flujo, no el prompt; y la prueba es reiniciar y correr todo.</a:t>
            </a:r>
            <a:endParaRPr lang="en-US" sz="1300" dirty="0"/>
          </a:p>
        </p:txBody>
      </p:sp>
      <p:sp>
        <p:nvSpPr>
          <p:cNvPr id="7" name="Shape 5"/>
          <p:cNvSpPr/>
          <p:nvPr/>
        </p:nvSpPr>
        <p:spPr>
          <a:xfrm>
            <a:off x="6245352" y="1874520"/>
            <a:ext cx="5394960" cy="2286000"/>
          </a:xfrm>
          <a:prstGeom prst="roundRect">
            <a:avLst>
              <a:gd name="adj" fmla="val 2400"/>
            </a:avLst>
          </a:prstGeom>
          <a:solidFill>
            <a:srgbClr val="FFFFFF"/>
          </a:solidFill>
          <a:ln w="9525">
            <a:solidFill>
              <a:srgbClr val="D5DCE3"/>
            </a:solidFill>
            <a:prstDash val="solid"/>
          </a:ln>
        </p:spPr>
      </p:sp>
      <p:sp>
        <p:nvSpPr>
          <p:cNvPr id="8" name="Text 6"/>
          <p:cNvSpPr txBox="1"/>
          <p:nvPr/>
        </p:nvSpPr>
        <p:spPr>
          <a:xfrm>
            <a:off x="6519672"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El entregable</a:t>
            </a:r>
            <a:endParaRPr lang="en-US" sz="1500" dirty="0"/>
          </a:p>
        </p:txBody>
      </p:sp>
      <p:sp>
        <p:nvSpPr>
          <p:cNvPr id="9" name="Text 7"/>
          <p:cNvSpPr txBox="1"/>
          <p:nvPr/>
        </p:nvSpPr>
        <p:spPr>
          <a:xfrm>
            <a:off x="6519672"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Laboratorio_S08.Rmd tejido a HTML, con las tres tareas resueltas.</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Un bootstrap reproducible, una fórmula frágil diagnosticada y corregida.</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El flujo con semilla, insumo fijo y versiones, que corre igual de cero.</a:t>
            </a:r>
            <a:endParaRPr lang="en-US" sz="1300" dirty="0"/>
          </a:p>
        </p:txBody>
      </p:sp>
      <p:sp>
        <p:nvSpPr>
          <p:cNvPr id="10" name="Shape 8"/>
          <p:cNvSpPr/>
          <p:nvPr/>
        </p:nvSpPr>
        <p:spPr>
          <a:xfrm>
            <a:off x="548640" y="4434840"/>
            <a:ext cx="11091672" cy="1371600"/>
          </a:xfrm>
          <a:prstGeom prst="roundRect">
            <a:avLst>
              <a:gd name="adj" fmla="val 4000"/>
            </a:avLst>
          </a:prstGeom>
          <a:solidFill>
            <a:srgbClr val="15293B"/>
          </a:solidFill>
          <a:ln w="9525">
            <a:solidFill>
              <a:srgbClr val="D5DCE3"/>
            </a:solidFill>
            <a:prstDash val="solid"/>
          </a:ln>
        </p:spPr>
      </p:sp>
      <p:sp>
        <p:nvSpPr>
          <p:cNvPr id="11" name="Text 9"/>
          <p:cNvSpPr txBox="1"/>
          <p:nvPr/>
        </p:nvSpPr>
        <p:spPr>
          <a:xfrm>
            <a:off x="868680" y="459943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Lo que abre la Sesión 9</a:t>
            </a:r>
            <a:endParaRPr lang="en-US" sz="1600" dirty="0"/>
          </a:p>
        </p:txBody>
      </p:sp>
      <p:sp>
        <p:nvSpPr>
          <p:cNvPr id="12" name="Text 10"/>
          <p:cNvSpPr txBox="1"/>
          <p:nvPr/>
        </p:nvSpPr>
        <p:spPr>
          <a:xfrm>
            <a:off x="868680" y="4983480"/>
            <a:ext cx="10451592" cy="777240"/>
          </a:xfrm>
          <a:prstGeom prst="rect">
            <a:avLst/>
          </a:prstGeom>
          <a:noFill/>
          <a:ln/>
        </p:spPr>
        <p:txBody>
          <a:bodyPr wrap="square" lIns="0" tIns="0" rIns="0" bIns="0" rtlCol="0" anchor="ctr"/>
          <a:lstStyle/>
          <a:p>
            <a:pPr indent="0" marL="0">
              <a:lnSpc>
                <a:spcPct val="105000"/>
              </a:lnSpc>
              <a:buNone/>
            </a:pPr>
            <a:r>
              <a:rPr lang="en-US" sz="1350" dirty="0">
                <a:solidFill>
                  <a:srgbClr val="E4EAF0"/>
                </a:solidFill>
                <a:latin typeface="Calibri" pitchFamily="34" charset="0"/>
                <a:ea typeface="Calibri" pitchFamily="34" charset="-122"/>
                <a:cs typeface="Calibri" pitchFamily="34" charset="-120"/>
              </a:rPr>
              <a:t>Ya tienen las dos mitades del bloque cuantitativo: hacer bien el estimado (Sesión 7) y hacerlo reproducible (hoy). La Sesión 9 las junta en el Laboratorio Cuantitativo Aplicado, de principio a fin sobre el mismo tipo de microdato, con un error de la IA plantado que tendrán que cazar, y el entregable reproducible que evalúa la rúbrica técnica.</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Fuentes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Para quien quiera ir al origen de cada idea.</a:t>
            </a:r>
            <a:endParaRPr lang="en-US" sz="1400" dirty="0"/>
          </a:p>
        </p:txBody>
      </p:sp>
      <p:sp>
        <p:nvSpPr>
          <p:cNvPr id="4" name="Text 2"/>
          <p:cNvSpPr txBox="1"/>
          <p:nvPr/>
        </p:nvSpPr>
        <p:spPr>
          <a:xfrm>
            <a:off x="54864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REPRODUCIBILIDAD</a:t>
            </a:r>
            <a:endParaRPr lang="en-US" sz="1250" dirty="0"/>
          </a:p>
        </p:txBody>
      </p:sp>
      <p:sp>
        <p:nvSpPr>
          <p:cNvPr id="5" name="Text 3"/>
          <p:cNvSpPr txBox="1"/>
          <p:nvPr/>
        </p:nvSpPr>
        <p:spPr>
          <a:xfrm>
            <a:off x="54864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Peng (2011). «Reproducible Research in Computational Science». Science 334(6060).</a:t>
            </a:r>
            <a:endParaRPr lang="en-US" sz="1150" dirty="0"/>
          </a:p>
        </p:txBody>
      </p:sp>
      <p:sp>
        <p:nvSpPr>
          <p:cNvPr id="6" name="Text 4"/>
          <p:cNvSpPr txBox="1"/>
          <p:nvPr/>
        </p:nvSpPr>
        <p:spPr>
          <a:xfrm>
            <a:off x="548640" y="297180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Documentación de R Markdown y de renv (entornos y versiones fijas). Jupyter y Colab son el equivalente en Python.</a:t>
            </a:r>
            <a:endParaRPr lang="en-US" sz="1150" dirty="0"/>
          </a:p>
        </p:txBody>
      </p:sp>
      <p:sp>
        <p:nvSpPr>
          <p:cNvPr id="7" name="Text 5"/>
          <p:cNvSpPr txBox="1"/>
          <p:nvPr/>
        </p:nvSpPr>
        <p:spPr>
          <a:xfrm>
            <a:off x="548640" y="370332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Sobre semillas y aleatoriedad: documentación de set.seed y del muestreo en R.</a:t>
            </a:r>
            <a:endParaRPr lang="en-US" sz="1150" dirty="0"/>
          </a:p>
        </p:txBody>
      </p:sp>
      <p:sp>
        <p:nvSpPr>
          <p:cNvPr id="8" name="Text 6"/>
          <p:cNvSpPr txBox="1"/>
          <p:nvPr/>
        </p:nvSpPr>
        <p:spPr>
          <a:xfrm>
            <a:off x="630936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CÁLCULO NUMÉRICO</a:t>
            </a:r>
            <a:endParaRPr lang="en-US" sz="1250" dirty="0"/>
          </a:p>
        </p:txBody>
      </p:sp>
      <p:sp>
        <p:nvSpPr>
          <p:cNvPr id="9" name="Text 7"/>
          <p:cNvSpPr txBox="1"/>
          <p:nvPr/>
        </p:nvSpPr>
        <p:spPr>
          <a:xfrm>
            <a:off x="630936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Goldberg (1991). «What Every Computer Scientist Should Know About Floating-Point Arithmetic». ACM.</a:t>
            </a:r>
            <a:endParaRPr lang="en-US" sz="1150" dirty="0"/>
          </a:p>
        </p:txBody>
      </p:sp>
      <p:sp>
        <p:nvSpPr>
          <p:cNvPr id="10" name="Text 8"/>
          <p:cNvSpPr txBox="1"/>
          <p:nvPr/>
        </p:nvSpPr>
        <p:spPr>
          <a:xfrm>
            <a:off x="6309360" y="297180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Higham (2002). «Accuracy and Stability of Numerical Algorithms». La referencia de cancelación y estabilidad.</a:t>
            </a:r>
            <a:endParaRPr lang="en-US" sz="1150" dirty="0"/>
          </a:p>
        </p:txBody>
      </p:sp>
      <p:sp>
        <p:nvSpPr>
          <p:cNvPr id="11" name="Text 9"/>
          <p:cNvSpPr txBox="1"/>
          <p:nvPr/>
        </p:nvSpPr>
        <p:spPr>
          <a:xfrm>
            <a:off x="6309360" y="370332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Welford (1962) y el algoritmo estable de varianza que usa var() en 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2026-09-23T23:34:23Z</dcterms:created>
  <dcterms:modified xsi:type="dcterms:W3CDTF">2026-09-23T23:34:23Z</dcterms:modified>
</cp:coreProperties>
</file>